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Glacial Indifference Bold" charset="1" panose="00000800000000000000"/>
      <p:regular r:id="rId25"/>
    </p:embeddedFont>
    <p:embeddedFont>
      <p:font typeface="Lato" charset="1" panose="020F0502020204030203"/>
      <p:regular r:id="rId26"/>
    </p:embeddedFont>
    <p:embeddedFont>
      <p:font typeface="Quicksand" charset="1" panose="00000000000000000000"/>
      <p:regular r:id="rId27"/>
    </p:embeddedFont>
    <p:embeddedFont>
      <p:font typeface="Nunito Bold" charset="1" panose="00000800000000000000"/>
      <p:regular r:id="rId28"/>
    </p:embeddedFont>
    <p:embeddedFont>
      <p:font typeface="Nunito" charset="1" panose="00000500000000000000"/>
      <p:regular r:id="rId29"/>
    </p:embeddedFont>
    <p:embeddedFont>
      <p:font typeface="Glacial Indifference Bold Italics" charset="1" panose="00000800000000000000"/>
      <p:regular r:id="rId30"/>
    </p:embeddedFont>
    <p:embeddedFont>
      <p:font typeface="Carlsons Script" charset="1" panose="00000500000000000000"/>
      <p:regular r:id="rId31"/>
    </p:embeddedFont>
    <p:embeddedFont>
      <p:font typeface="Uberlin" charset="1" panose="02000506000000020002"/>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3.png" Type="http://schemas.openxmlformats.org/officeDocument/2006/relationships/image"/><Relationship Id="rId9"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9.jpe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1.jpeg" Type="http://schemas.openxmlformats.org/officeDocument/2006/relationships/image"/><Relationship Id="rId4" Target="../media/image22.jpeg" Type="http://schemas.openxmlformats.org/officeDocument/2006/relationships/image"/><Relationship Id="rId5" Target="../media/image23.jpeg" Type="http://schemas.openxmlformats.org/officeDocument/2006/relationships/image"/><Relationship Id="rId6" Target="../media/image2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6.jpeg" Type="http://schemas.openxmlformats.org/officeDocument/2006/relationships/image"/><Relationship Id="rId4" Target="../media/image27.jpeg" Type="http://schemas.openxmlformats.org/officeDocument/2006/relationships/image"/><Relationship Id="rId5" Target="../media/image28.jpeg" Type="http://schemas.openxmlformats.org/officeDocument/2006/relationships/image"/><Relationship Id="rId6" Target="../media/image29.jpeg" Type="http://schemas.openxmlformats.org/officeDocument/2006/relationships/image"/><Relationship Id="rId7" Target="../media/image30.jpeg" Type="http://schemas.openxmlformats.org/officeDocument/2006/relationships/image"/><Relationship Id="rId8" Target="../media/image3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11" Target="../media/image41.svg" Type="http://schemas.openxmlformats.org/officeDocument/2006/relationships/image"/><Relationship Id="rId12" Target="../media/image42.png" Type="http://schemas.openxmlformats.org/officeDocument/2006/relationships/image"/><Relationship Id="rId13" Target="../media/image43.svg" Type="http://schemas.openxmlformats.org/officeDocument/2006/relationships/image"/><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2" Target="../media/image44.png" Type="http://schemas.openxmlformats.org/officeDocument/2006/relationships/image"/><Relationship Id="rId3" Target="../media/image45.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2" Target="../media/image44.png" Type="http://schemas.openxmlformats.org/officeDocument/2006/relationships/image"/><Relationship Id="rId3" Target="../media/image45.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png" Type="http://schemas.openxmlformats.org/officeDocument/2006/relationships/image"/><Relationship Id="rId4" Target="https://open.spotify.com/playlist/37i9dQZF1DX4SBhb3fqCJd?si=ce1a822ae8d145e4" TargetMode="External" Type="http://schemas.openxmlformats.org/officeDocument/2006/relationships/hyperlink"/></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5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6750528" y="8749528"/>
            <a:ext cx="1189071" cy="1189071"/>
            <a:chOff x="0" y="0"/>
            <a:chExt cx="1585428" cy="1585428"/>
          </a:xfrm>
        </p:grpSpPr>
        <p:grpSp>
          <p:nvGrpSpPr>
            <p:cNvPr name="Group 3" id="3"/>
            <p:cNvGrpSpPr/>
            <p:nvPr/>
          </p:nvGrpSpPr>
          <p:grpSpPr>
            <a:xfrm rot="0">
              <a:off x="0" y="0"/>
              <a:ext cx="1585428" cy="158542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5" id="5"/>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6" id="6"/>
            <p:cNvSpPr/>
            <p:nvPr/>
          </p:nvSpPr>
          <p:spPr>
            <a:xfrm flipH="false" flipV="false" rot="0">
              <a:off x="396405" y="396405"/>
              <a:ext cx="792619" cy="792619"/>
            </a:xfrm>
            <a:custGeom>
              <a:avLst/>
              <a:gdLst/>
              <a:ahLst/>
              <a:cxnLst/>
              <a:rect r="r" b="b" t="t" l="l"/>
              <a:pathLst>
                <a:path h="792619" w="792619">
                  <a:moveTo>
                    <a:pt x="0" y="0"/>
                  </a:moveTo>
                  <a:lnTo>
                    <a:pt x="792618" y="0"/>
                  </a:lnTo>
                  <a:lnTo>
                    <a:pt x="792618" y="792618"/>
                  </a:lnTo>
                  <a:lnTo>
                    <a:pt x="0" y="7926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441036" y="441036"/>
              <a:ext cx="703356" cy="703356"/>
            </a:xfrm>
            <a:custGeom>
              <a:avLst/>
              <a:gdLst/>
              <a:ahLst/>
              <a:cxnLst/>
              <a:rect r="r" b="b" t="t" l="l"/>
              <a:pathLst>
                <a:path h="703356" w="703356">
                  <a:moveTo>
                    <a:pt x="0" y="0"/>
                  </a:moveTo>
                  <a:lnTo>
                    <a:pt x="703356" y="0"/>
                  </a:lnTo>
                  <a:lnTo>
                    <a:pt x="703356" y="703356"/>
                  </a:lnTo>
                  <a:lnTo>
                    <a:pt x="0" y="703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316057" y="316057"/>
              <a:ext cx="953315" cy="953315"/>
            </a:xfrm>
            <a:custGeom>
              <a:avLst/>
              <a:gdLst/>
              <a:ahLst/>
              <a:cxnLst/>
              <a:rect r="r" b="b" t="t" l="l"/>
              <a:pathLst>
                <a:path h="953315" w="953315">
                  <a:moveTo>
                    <a:pt x="0" y="0"/>
                  </a:moveTo>
                  <a:lnTo>
                    <a:pt x="953315" y="0"/>
                  </a:lnTo>
                  <a:lnTo>
                    <a:pt x="953315" y="953315"/>
                  </a:lnTo>
                  <a:lnTo>
                    <a:pt x="0" y="9533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25305" y="325305"/>
              <a:ext cx="934819" cy="934819"/>
            </a:xfrm>
            <a:custGeom>
              <a:avLst/>
              <a:gdLst/>
              <a:ahLst/>
              <a:cxnLst/>
              <a:rect r="r" b="b" t="t" l="l"/>
              <a:pathLst>
                <a:path h="934819" w="934819">
                  <a:moveTo>
                    <a:pt x="0" y="0"/>
                  </a:moveTo>
                  <a:lnTo>
                    <a:pt x="934818" y="0"/>
                  </a:lnTo>
                  <a:lnTo>
                    <a:pt x="934818" y="934818"/>
                  </a:lnTo>
                  <a:lnTo>
                    <a:pt x="0" y="9348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3023822">
              <a:off x="1128975" y="898421"/>
              <a:ext cx="182169" cy="470630"/>
              <a:chOff x="0" y="0"/>
              <a:chExt cx="237482" cy="613533"/>
            </a:xfrm>
          </p:grpSpPr>
          <p:sp>
            <p:nvSpPr>
              <p:cNvPr name="Freeform 11" id="11"/>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12" id="12"/>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13" id="13"/>
            <p:cNvSpPr/>
            <p:nvPr/>
          </p:nvSpPr>
          <p:spPr>
            <a:xfrm flipH="false" flipV="false" rot="0">
              <a:off x="640751" y="640751"/>
              <a:ext cx="303926" cy="303926"/>
            </a:xfrm>
            <a:custGeom>
              <a:avLst/>
              <a:gdLst/>
              <a:ahLst/>
              <a:cxnLst/>
              <a:rect r="r" b="b" t="t" l="l"/>
              <a:pathLst>
                <a:path h="303926" w="303926">
                  <a:moveTo>
                    <a:pt x="0" y="0"/>
                  </a:moveTo>
                  <a:lnTo>
                    <a:pt x="303926" y="0"/>
                  </a:lnTo>
                  <a:lnTo>
                    <a:pt x="303926" y="303926"/>
                  </a:lnTo>
                  <a:lnTo>
                    <a:pt x="0" y="303926"/>
                  </a:lnTo>
                  <a:lnTo>
                    <a:pt x="0" y="0"/>
                  </a:lnTo>
                  <a:close/>
                </a:path>
              </a:pathLst>
            </a:custGeom>
            <a:blipFill>
              <a:blip r:embed="rId4"/>
              <a:stretch>
                <a:fillRect l="0" t="0" r="0" b="0"/>
              </a:stretch>
            </a:blipFill>
          </p:spPr>
        </p:sp>
      </p:grpSp>
      <p:grpSp>
        <p:nvGrpSpPr>
          <p:cNvPr name="Group 14" id="14"/>
          <p:cNvGrpSpPr/>
          <p:nvPr/>
        </p:nvGrpSpPr>
        <p:grpSpPr>
          <a:xfrm rot="0">
            <a:off x="9077325" y="3412543"/>
            <a:ext cx="11436176" cy="2237575"/>
            <a:chOff x="0" y="0"/>
            <a:chExt cx="15248234" cy="2983434"/>
          </a:xfrm>
        </p:grpSpPr>
        <p:sp>
          <p:nvSpPr>
            <p:cNvPr name="TextBox 15" id="15"/>
            <p:cNvSpPr txBox="true"/>
            <p:nvPr/>
          </p:nvSpPr>
          <p:spPr>
            <a:xfrm rot="0">
              <a:off x="0" y="0"/>
              <a:ext cx="15248234" cy="2983434"/>
            </a:xfrm>
            <a:prstGeom prst="rect">
              <a:avLst/>
            </a:prstGeom>
          </p:spPr>
          <p:txBody>
            <a:bodyPr anchor="t" rtlCol="false" tIns="0" lIns="0" bIns="0" rIns="0">
              <a:spAutoFit/>
            </a:bodyPr>
            <a:lstStyle/>
            <a:p>
              <a:pPr algn="l">
                <a:lnSpc>
                  <a:spcPts val="8863"/>
                </a:lnSpc>
              </a:pPr>
              <a:r>
                <a:rPr lang="en-US" b="true" sz="7386" spc="1477">
                  <a:solidFill>
                    <a:srgbClr val="FFFFFF"/>
                  </a:solidFill>
                  <a:latin typeface="Glacial Indifference Bold"/>
                  <a:ea typeface="Glacial Indifference Bold"/>
                  <a:cs typeface="Glacial Indifference Bold"/>
                  <a:sym typeface="Glacial Indifference Bold"/>
                </a:rPr>
                <a:t>THE </a:t>
              </a:r>
            </a:p>
            <a:p>
              <a:pPr algn="l">
                <a:lnSpc>
                  <a:spcPts val="8863"/>
                </a:lnSpc>
              </a:pPr>
              <a:r>
                <a:rPr lang="en-US" b="true" sz="7386" spc="1477">
                  <a:solidFill>
                    <a:srgbClr val="FFFFFF"/>
                  </a:solidFill>
                  <a:latin typeface="Glacial Indifference Bold"/>
                  <a:ea typeface="Glacial Indifference Bold"/>
                  <a:cs typeface="Glacial Indifference Bold"/>
                  <a:sym typeface="Glacial Indifference Bold"/>
                </a:rPr>
                <a:t>BLAC  LIST</a:t>
              </a:r>
            </a:p>
          </p:txBody>
        </p:sp>
        <p:sp>
          <p:nvSpPr>
            <p:cNvPr name="Freeform 16" id="16"/>
            <p:cNvSpPr/>
            <p:nvPr/>
          </p:nvSpPr>
          <p:spPr>
            <a:xfrm flipH="false" flipV="false" rot="0">
              <a:off x="4119088" y="1855017"/>
              <a:ext cx="734935" cy="734935"/>
            </a:xfrm>
            <a:custGeom>
              <a:avLst/>
              <a:gdLst/>
              <a:ahLst/>
              <a:cxnLst/>
              <a:rect r="r" b="b" t="t" l="l"/>
              <a:pathLst>
                <a:path h="734935" w="734935">
                  <a:moveTo>
                    <a:pt x="0" y="0"/>
                  </a:moveTo>
                  <a:lnTo>
                    <a:pt x="734935" y="0"/>
                  </a:lnTo>
                  <a:lnTo>
                    <a:pt x="734935" y="734935"/>
                  </a:lnTo>
                  <a:lnTo>
                    <a:pt x="0" y="7349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4053162" y="1789091"/>
              <a:ext cx="866787" cy="866787"/>
            </a:xfrm>
            <a:custGeom>
              <a:avLst/>
              <a:gdLst/>
              <a:ahLst/>
              <a:cxnLst/>
              <a:rect r="r" b="b" t="t" l="l"/>
              <a:pathLst>
                <a:path h="866787" w="866787">
                  <a:moveTo>
                    <a:pt x="0" y="0"/>
                  </a:moveTo>
                  <a:lnTo>
                    <a:pt x="866787" y="0"/>
                  </a:lnTo>
                  <a:lnTo>
                    <a:pt x="866787" y="866787"/>
                  </a:lnTo>
                  <a:lnTo>
                    <a:pt x="0" y="866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4160471" y="1896400"/>
              <a:ext cx="652169" cy="652169"/>
            </a:xfrm>
            <a:custGeom>
              <a:avLst/>
              <a:gdLst/>
              <a:ahLst/>
              <a:cxnLst/>
              <a:rect r="r" b="b" t="t" l="l"/>
              <a:pathLst>
                <a:path h="652169" w="652169">
                  <a:moveTo>
                    <a:pt x="0" y="0"/>
                  </a:moveTo>
                  <a:lnTo>
                    <a:pt x="652169" y="0"/>
                  </a:lnTo>
                  <a:lnTo>
                    <a:pt x="652169" y="652169"/>
                  </a:lnTo>
                  <a:lnTo>
                    <a:pt x="0" y="6521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4044587" y="1780516"/>
              <a:ext cx="883937" cy="883937"/>
            </a:xfrm>
            <a:custGeom>
              <a:avLst/>
              <a:gdLst/>
              <a:ahLst/>
              <a:cxnLst/>
              <a:rect r="r" b="b" t="t" l="l"/>
              <a:pathLst>
                <a:path h="883937" w="883937">
                  <a:moveTo>
                    <a:pt x="0" y="0"/>
                  </a:moveTo>
                  <a:lnTo>
                    <a:pt x="883937" y="0"/>
                  </a:lnTo>
                  <a:lnTo>
                    <a:pt x="883937" y="883937"/>
                  </a:lnTo>
                  <a:lnTo>
                    <a:pt x="0" y="8839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4345820" y="2081749"/>
              <a:ext cx="281471" cy="281471"/>
            </a:xfrm>
            <a:custGeom>
              <a:avLst/>
              <a:gdLst/>
              <a:ahLst/>
              <a:cxnLst/>
              <a:rect r="r" b="b" t="t" l="l"/>
              <a:pathLst>
                <a:path h="281471" w="281471">
                  <a:moveTo>
                    <a:pt x="0" y="0"/>
                  </a:moveTo>
                  <a:lnTo>
                    <a:pt x="281471" y="0"/>
                  </a:lnTo>
                  <a:lnTo>
                    <a:pt x="281471" y="281471"/>
                  </a:lnTo>
                  <a:lnTo>
                    <a:pt x="0" y="281471"/>
                  </a:lnTo>
                  <a:lnTo>
                    <a:pt x="0" y="0"/>
                  </a:lnTo>
                  <a:close/>
                </a:path>
              </a:pathLst>
            </a:custGeom>
            <a:blipFill>
              <a:blip r:embed="rId4"/>
              <a:stretch>
                <a:fillRect l="0" t="0" r="0" b="0"/>
              </a:stretch>
            </a:blipFill>
          </p:spPr>
        </p:sp>
        <p:grpSp>
          <p:nvGrpSpPr>
            <p:cNvPr name="Group 21" id="21"/>
            <p:cNvGrpSpPr/>
            <p:nvPr/>
          </p:nvGrpSpPr>
          <p:grpSpPr>
            <a:xfrm rot="-3023822">
              <a:off x="4798345" y="2320498"/>
              <a:ext cx="168911" cy="436380"/>
              <a:chOff x="0" y="0"/>
              <a:chExt cx="237482" cy="613533"/>
            </a:xfrm>
          </p:grpSpPr>
          <p:sp>
            <p:nvSpPr>
              <p:cNvPr name="Freeform 22" id="22"/>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23" id="23"/>
              <p:cNvSpPr txBox="true"/>
              <p:nvPr/>
            </p:nvSpPr>
            <p:spPr>
              <a:xfrm>
                <a:off x="0" y="-19050"/>
                <a:ext cx="237482" cy="632583"/>
              </a:xfrm>
              <a:prstGeom prst="rect">
                <a:avLst/>
              </a:prstGeom>
            </p:spPr>
            <p:txBody>
              <a:bodyPr anchor="ctr" rtlCol="false" tIns="13276" lIns="13276" bIns="13276" rIns="13276"/>
              <a:lstStyle/>
              <a:p>
                <a:pPr algn="ctr">
                  <a:lnSpc>
                    <a:spcPts val="717"/>
                  </a:lnSpc>
                </a:pPr>
              </a:p>
            </p:txBody>
          </p:sp>
        </p:grpSp>
      </p:grpSp>
      <p:sp>
        <p:nvSpPr>
          <p:cNvPr name="Freeform 24" id="24"/>
          <p:cNvSpPr/>
          <p:nvPr/>
        </p:nvSpPr>
        <p:spPr>
          <a:xfrm flipH="false" flipV="false" rot="0">
            <a:off x="-1179635" y="0"/>
            <a:ext cx="9913327" cy="10287000"/>
          </a:xfrm>
          <a:custGeom>
            <a:avLst/>
            <a:gdLst/>
            <a:ahLst/>
            <a:cxnLst/>
            <a:rect r="r" b="b" t="t" l="l"/>
            <a:pathLst>
              <a:path h="10287000" w="9913327">
                <a:moveTo>
                  <a:pt x="0" y="0"/>
                </a:moveTo>
                <a:lnTo>
                  <a:pt x="9913327" y="0"/>
                </a:lnTo>
                <a:lnTo>
                  <a:pt x="9913327" y="10287000"/>
                </a:lnTo>
                <a:lnTo>
                  <a:pt x="0" y="10287000"/>
                </a:lnTo>
                <a:lnTo>
                  <a:pt x="0" y="0"/>
                </a:lnTo>
                <a:close/>
              </a:path>
            </a:pathLst>
          </a:custGeom>
          <a:blipFill>
            <a:blip r:embed="rId5"/>
            <a:stretch>
              <a:fillRect l="-36551" t="0" r="-19199" b="0"/>
            </a:stretch>
          </a:blipFill>
        </p:spPr>
      </p:sp>
      <p:sp>
        <p:nvSpPr>
          <p:cNvPr name="Freeform 25" id="25"/>
          <p:cNvSpPr/>
          <p:nvPr/>
        </p:nvSpPr>
        <p:spPr>
          <a:xfrm flipH="false" flipV="false" rot="5400000">
            <a:off x="-2358838" y="1545586"/>
            <a:ext cx="12909176" cy="9275885"/>
          </a:xfrm>
          <a:custGeom>
            <a:avLst/>
            <a:gdLst/>
            <a:ahLst/>
            <a:cxnLst/>
            <a:rect r="r" b="b" t="t" l="l"/>
            <a:pathLst>
              <a:path h="9275885" w="12909176">
                <a:moveTo>
                  <a:pt x="0" y="0"/>
                </a:moveTo>
                <a:lnTo>
                  <a:pt x="12909176" y="0"/>
                </a:lnTo>
                <a:lnTo>
                  <a:pt x="12909176" y="9275885"/>
                </a:lnTo>
                <a:lnTo>
                  <a:pt x="0" y="9275885"/>
                </a:lnTo>
                <a:lnTo>
                  <a:pt x="0" y="0"/>
                </a:lnTo>
                <a:close/>
              </a:path>
            </a:pathLst>
          </a:custGeom>
          <a:blipFill>
            <a:blip r:embed="rId6">
              <a:alphaModFix amt="73000"/>
            </a:blip>
            <a:stretch>
              <a:fillRect l="-31926" t="-5435" r="-38492" b="-45761"/>
            </a:stretch>
          </a:blipFill>
        </p:spPr>
      </p:sp>
      <p:sp>
        <p:nvSpPr>
          <p:cNvPr name="TextBox 26" id="26"/>
          <p:cNvSpPr txBox="true"/>
          <p:nvPr/>
        </p:nvSpPr>
        <p:spPr>
          <a:xfrm rot="0">
            <a:off x="9077325" y="6097803"/>
            <a:ext cx="4941391" cy="762000"/>
          </a:xfrm>
          <a:prstGeom prst="rect">
            <a:avLst/>
          </a:prstGeom>
        </p:spPr>
        <p:txBody>
          <a:bodyPr anchor="t" rtlCol="false" tIns="0" lIns="0" bIns="0" rIns="0">
            <a:spAutoFit/>
          </a:bodyPr>
          <a:lstStyle/>
          <a:p>
            <a:pPr algn="ctr">
              <a:lnSpc>
                <a:spcPts val="6299"/>
              </a:lnSpc>
            </a:pPr>
            <a:r>
              <a:rPr lang="en-US" sz="4499" spc="202">
                <a:solidFill>
                  <a:srgbClr val="E9E9F7"/>
                </a:solidFill>
                <a:latin typeface="Lato"/>
                <a:ea typeface="Lato"/>
                <a:cs typeface="Lato"/>
                <a:sym typeface="Lato"/>
              </a:rPr>
              <a:t>Brand Style Guide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989" r="-3979" b="-1989"/>
            </a:stretch>
          </a:blipFill>
        </p:spPr>
      </p:sp>
      <p:sp>
        <p:nvSpPr>
          <p:cNvPr name="TextBox 3" id="3"/>
          <p:cNvSpPr txBox="true"/>
          <p:nvPr/>
        </p:nvSpPr>
        <p:spPr>
          <a:xfrm rot="0">
            <a:off x="1817021" y="5523702"/>
            <a:ext cx="14653958" cy="2261097"/>
          </a:xfrm>
          <a:prstGeom prst="rect">
            <a:avLst/>
          </a:prstGeom>
        </p:spPr>
        <p:txBody>
          <a:bodyPr anchor="t" rtlCol="false" tIns="0" lIns="0" bIns="0" rIns="0">
            <a:spAutoFit/>
          </a:bodyPr>
          <a:lstStyle/>
          <a:p>
            <a:pPr algn="just">
              <a:lnSpc>
                <a:spcPts val="3605"/>
              </a:lnSpc>
            </a:pPr>
            <a:r>
              <a:rPr lang="en-US" sz="2403">
                <a:solidFill>
                  <a:srgbClr val="FFFFFF"/>
                </a:solidFill>
                <a:latin typeface="Quicksand"/>
                <a:ea typeface="Quicksand"/>
                <a:cs typeface="Quicksand"/>
                <a:sym typeface="Quicksand"/>
              </a:rPr>
              <a:t>The BLACQList is a game-changing platform, emphasizing unity and empowerment within the commercial industry. It serves as a beacon for Black-Owned Businesses, Professionals, Creatives, Events, and Job Opportunities. The platform's mission is to uplift, support, and connect the vast potential of Black entrepreneurs and talents. Unlike any other, The BLACQList is a specialized platform designed to foster partnership and economic growth within the Black community.</a:t>
            </a:r>
          </a:p>
        </p:txBody>
      </p:sp>
      <p:sp>
        <p:nvSpPr>
          <p:cNvPr name="TextBox 4" id="4"/>
          <p:cNvSpPr txBox="true"/>
          <p:nvPr/>
        </p:nvSpPr>
        <p:spPr>
          <a:xfrm rot="0">
            <a:off x="5591359" y="3812965"/>
            <a:ext cx="7105282" cy="695325"/>
          </a:xfrm>
          <a:prstGeom prst="rect">
            <a:avLst/>
          </a:prstGeom>
        </p:spPr>
        <p:txBody>
          <a:bodyPr anchor="t" rtlCol="false" tIns="0" lIns="0" bIns="0" rIns="0">
            <a:spAutoFit/>
          </a:bodyPr>
          <a:lstStyle/>
          <a:p>
            <a:pPr algn="ctr">
              <a:lnSpc>
                <a:spcPts val="5428"/>
              </a:lnSpc>
            </a:pPr>
            <a:r>
              <a:rPr lang="en-US" sz="4524" spc="904">
                <a:solidFill>
                  <a:srgbClr val="FFFFFF"/>
                </a:solidFill>
                <a:latin typeface="Lato"/>
                <a:ea typeface="Lato"/>
                <a:cs typeface="Lato"/>
                <a:sym typeface="Lato"/>
              </a:rPr>
              <a:t>Find and Be Found</a:t>
            </a:r>
          </a:p>
        </p:txBody>
      </p:sp>
      <p:grpSp>
        <p:nvGrpSpPr>
          <p:cNvPr name="Group 5" id="5"/>
          <p:cNvGrpSpPr/>
          <p:nvPr/>
        </p:nvGrpSpPr>
        <p:grpSpPr>
          <a:xfrm rot="0">
            <a:off x="2451393" y="2356904"/>
            <a:ext cx="13385214" cy="1315502"/>
            <a:chOff x="0" y="0"/>
            <a:chExt cx="17846952" cy="1754003"/>
          </a:xfrm>
        </p:grpSpPr>
        <p:sp>
          <p:nvSpPr>
            <p:cNvPr name="TextBox 6" id="6"/>
            <p:cNvSpPr txBox="true"/>
            <p:nvPr/>
          </p:nvSpPr>
          <p:spPr>
            <a:xfrm rot="0">
              <a:off x="0" y="0"/>
              <a:ext cx="17846952" cy="1754003"/>
            </a:xfrm>
            <a:prstGeom prst="rect">
              <a:avLst/>
            </a:prstGeom>
          </p:spPr>
          <p:txBody>
            <a:bodyPr anchor="t" rtlCol="false" tIns="0" lIns="0" bIns="0" rIns="0">
              <a:spAutoFit/>
            </a:bodyPr>
            <a:lstStyle/>
            <a:p>
              <a:pPr algn="ctr">
                <a:lnSpc>
                  <a:spcPts val="10373"/>
                </a:lnSpc>
              </a:pPr>
              <a:r>
                <a:rPr lang="en-US" b="true" sz="8644" spc="1728">
                  <a:solidFill>
                    <a:srgbClr val="FFFFFF"/>
                  </a:solidFill>
                  <a:latin typeface="Glacial Indifference Bold"/>
                  <a:ea typeface="Glacial Indifference Bold"/>
                  <a:cs typeface="Glacial Indifference Bold"/>
                  <a:sym typeface="Glacial Indifference Bold"/>
                </a:rPr>
                <a:t>THE BLAC  LIST</a:t>
              </a:r>
            </a:p>
          </p:txBody>
        </p:sp>
        <p:sp>
          <p:nvSpPr>
            <p:cNvPr name="Freeform 7" id="7"/>
            <p:cNvSpPr/>
            <p:nvPr/>
          </p:nvSpPr>
          <p:spPr>
            <a:xfrm flipH="false" flipV="false" rot="0">
              <a:off x="10877899" y="443458"/>
              <a:ext cx="860188" cy="860188"/>
            </a:xfrm>
            <a:custGeom>
              <a:avLst/>
              <a:gdLst/>
              <a:ahLst/>
              <a:cxnLst/>
              <a:rect r="r" b="b" t="t" l="l"/>
              <a:pathLst>
                <a:path h="860188" w="860188">
                  <a:moveTo>
                    <a:pt x="0" y="0"/>
                  </a:moveTo>
                  <a:lnTo>
                    <a:pt x="860188" y="0"/>
                  </a:lnTo>
                  <a:lnTo>
                    <a:pt x="860188" y="860189"/>
                  </a:lnTo>
                  <a:lnTo>
                    <a:pt x="0" y="8601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0800738" y="366297"/>
              <a:ext cx="1014511" cy="1014511"/>
            </a:xfrm>
            <a:custGeom>
              <a:avLst/>
              <a:gdLst/>
              <a:ahLst/>
              <a:cxnLst/>
              <a:rect r="r" b="b" t="t" l="l"/>
              <a:pathLst>
                <a:path h="1014511" w="1014511">
                  <a:moveTo>
                    <a:pt x="0" y="0"/>
                  </a:moveTo>
                  <a:lnTo>
                    <a:pt x="1014510" y="0"/>
                  </a:lnTo>
                  <a:lnTo>
                    <a:pt x="1014510" y="1014511"/>
                  </a:lnTo>
                  <a:lnTo>
                    <a:pt x="0" y="10145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0926335" y="491894"/>
              <a:ext cx="763316" cy="763316"/>
            </a:xfrm>
            <a:custGeom>
              <a:avLst/>
              <a:gdLst/>
              <a:ahLst/>
              <a:cxnLst/>
              <a:rect r="r" b="b" t="t" l="l"/>
              <a:pathLst>
                <a:path h="763316" w="763316">
                  <a:moveTo>
                    <a:pt x="0" y="0"/>
                  </a:moveTo>
                  <a:lnTo>
                    <a:pt x="763316" y="0"/>
                  </a:lnTo>
                  <a:lnTo>
                    <a:pt x="763316" y="763317"/>
                  </a:lnTo>
                  <a:lnTo>
                    <a:pt x="0" y="7633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790701" y="356260"/>
              <a:ext cx="1034584" cy="1034584"/>
            </a:xfrm>
            <a:custGeom>
              <a:avLst/>
              <a:gdLst/>
              <a:ahLst/>
              <a:cxnLst/>
              <a:rect r="r" b="b" t="t" l="l"/>
              <a:pathLst>
                <a:path h="1034584" w="1034584">
                  <a:moveTo>
                    <a:pt x="0" y="0"/>
                  </a:moveTo>
                  <a:lnTo>
                    <a:pt x="1034584" y="0"/>
                  </a:lnTo>
                  <a:lnTo>
                    <a:pt x="1034584" y="1034585"/>
                  </a:lnTo>
                  <a:lnTo>
                    <a:pt x="0" y="10345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1143272" y="708832"/>
              <a:ext cx="329442" cy="329442"/>
            </a:xfrm>
            <a:custGeom>
              <a:avLst/>
              <a:gdLst/>
              <a:ahLst/>
              <a:cxnLst/>
              <a:rect r="r" b="b" t="t" l="l"/>
              <a:pathLst>
                <a:path h="329442" w="329442">
                  <a:moveTo>
                    <a:pt x="0" y="0"/>
                  </a:moveTo>
                  <a:lnTo>
                    <a:pt x="329442" y="0"/>
                  </a:lnTo>
                  <a:lnTo>
                    <a:pt x="329442" y="329441"/>
                  </a:lnTo>
                  <a:lnTo>
                    <a:pt x="0" y="329441"/>
                  </a:lnTo>
                  <a:lnTo>
                    <a:pt x="0" y="0"/>
                  </a:lnTo>
                  <a:close/>
                </a:path>
              </a:pathLst>
            </a:custGeom>
            <a:blipFill>
              <a:blip r:embed="rId5"/>
              <a:stretch>
                <a:fillRect l="0" t="0" r="0" b="0"/>
              </a:stretch>
            </a:blipFill>
          </p:spPr>
        </p:sp>
        <p:grpSp>
          <p:nvGrpSpPr>
            <p:cNvPr name="Group 12" id="12"/>
            <p:cNvGrpSpPr/>
            <p:nvPr/>
          </p:nvGrpSpPr>
          <p:grpSpPr>
            <a:xfrm rot="-3023822">
              <a:off x="11672920" y="988271"/>
              <a:ext cx="197698" cy="510751"/>
              <a:chOff x="0" y="0"/>
              <a:chExt cx="237482" cy="613533"/>
            </a:xfrm>
          </p:grpSpPr>
          <p:sp>
            <p:nvSpPr>
              <p:cNvPr name="Freeform 13" id="13"/>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14" id="14"/>
              <p:cNvSpPr txBox="true"/>
              <p:nvPr/>
            </p:nvSpPr>
            <p:spPr>
              <a:xfrm>
                <a:off x="0" y="-19050"/>
                <a:ext cx="237482" cy="632583"/>
              </a:xfrm>
              <a:prstGeom prst="rect">
                <a:avLst/>
              </a:prstGeom>
            </p:spPr>
            <p:txBody>
              <a:bodyPr anchor="ctr" rtlCol="false" tIns="15538" lIns="15538" bIns="15538" rIns="15538"/>
              <a:lstStyle/>
              <a:p>
                <a:pPr algn="ctr">
                  <a:lnSpc>
                    <a:spcPts val="717"/>
                  </a:lnSpc>
                </a:pPr>
              </a:p>
            </p:txBody>
          </p:sp>
        </p:grpSp>
      </p:grpSp>
      <p:grpSp>
        <p:nvGrpSpPr>
          <p:cNvPr name="Group 15" id="15"/>
          <p:cNvGrpSpPr/>
          <p:nvPr/>
        </p:nvGrpSpPr>
        <p:grpSpPr>
          <a:xfrm rot="0">
            <a:off x="16750528" y="8749528"/>
            <a:ext cx="1189071" cy="1189071"/>
            <a:chOff x="0" y="0"/>
            <a:chExt cx="1585428" cy="1585428"/>
          </a:xfrm>
        </p:grpSpPr>
        <p:grpSp>
          <p:nvGrpSpPr>
            <p:cNvPr name="Group 16" id="16"/>
            <p:cNvGrpSpPr/>
            <p:nvPr/>
          </p:nvGrpSpPr>
          <p:grpSpPr>
            <a:xfrm rot="0">
              <a:off x="0" y="0"/>
              <a:ext cx="1585428" cy="158542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8" id="18"/>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19" id="19"/>
            <p:cNvSpPr/>
            <p:nvPr/>
          </p:nvSpPr>
          <p:spPr>
            <a:xfrm flipH="false" flipV="false" rot="0">
              <a:off x="396405" y="396405"/>
              <a:ext cx="792619" cy="792619"/>
            </a:xfrm>
            <a:custGeom>
              <a:avLst/>
              <a:gdLst/>
              <a:ahLst/>
              <a:cxnLst/>
              <a:rect r="r" b="b" t="t" l="l"/>
              <a:pathLst>
                <a:path h="792619" w="792619">
                  <a:moveTo>
                    <a:pt x="0" y="0"/>
                  </a:moveTo>
                  <a:lnTo>
                    <a:pt x="792618" y="0"/>
                  </a:lnTo>
                  <a:lnTo>
                    <a:pt x="792618" y="792618"/>
                  </a:lnTo>
                  <a:lnTo>
                    <a:pt x="0" y="7926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0" id="20"/>
            <p:cNvSpPr/>
            <p:nvPr/>
          </p:nvSpPr>
          <p:spPr>
            <a:xfrm flipH="false" flipV="false" rot="0">
              <a:off x="441036" y="441036"/>
              <a:ext cx="703356" cy="703356"/>
            </a:xfrm>
            <a:custGeom>
              <a:avLst/>
              <a:gdLst/>
              <a:ahLst/>
              <a:cxnLst/>
              <a:rect r="r" b="b" t="t" l="l"/>
              <a:pathLst>
                <a:path h="703356" w="703356">
                  <a:moveTo>
                    <a:pt x="0" y="0"/>
                  </a:moveTo>
                  <a:lnTo>
                    <a:pt x="703356" y="0"/>
                  </a:lnTo>
                  <a:lnTo>
                    <a:pt x="703356" y="703356"/>
                  </a:lnTo>
                  <a:lnTo>
                    <a:pt x="0" y="7033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1" id="21"/>
            <p:cNvSpPr/>
            <p:nvPr/>
          </p:nvSpPr>
          <p:spPr>
            <a:xfrm flipH="false" flipV="false" rot="0">
              <a:off x="316057" y="316057"/>
              <a:ext cx="953315" cy="953315"/>
            </a:xfrm>
            <a:custGeom>
              <a:avLst/>
              <a:gdLst/>
              <a:ahLst/>
              <a:cxnLst/>
              <a:rect r="r" b="b" t="t" l="l"/>
              <a:pathLst>
                <a:path h="953315" w="953315">
                  <a:moveTo>
                    <a:pt x="0" y="0"/>
                  </a:moveTo>
                  <a:lnTo>
                    <a:pt x="953315" y="0"/>
                  </a:lnTo>
                  <a:lnTo>
                    <a:pt x="953315" y="953315"/>
                  </a:lnTo>
                  <a:lnTo>
                    <a:pt x="0" y="9533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325305" y="325305"/>
              <a:ext cx="934819" cy="934819"/>
            </a:xfrm>
            <a:custGeom>
              <a:avLst/>
              <a:gdLst/>
              <a:ahLst/>
              <a:cxnLst/>
              <a:rect r="r" b="b" t="t" l="l"/>
              <a:pathLst>
                <a:path h="934819" w="934819">
                  <a:moveTo>
                    <a:pt x="0" y="0"/>
                  </a:moveTo>
                  <a:lnTo>
                    <a:pt x="934818" y="0"/>
                  </a:lnTo>
                  <a:lnTo>
                    <a:pt x="934818" y="934818"/>
                  </a:lnTo>
                  <a:lnTo>
                    <a:pt x="0" y="9348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3" id="23"/>
            <p:cNvGrpSpPr/>
            <p:nvPr/>
          </p:nvGrpSpPr>
          <p:grpSpPr>
            <a:xfrm rot="-3023822">
              <a:off x="1128975" y="898421"/>
              <a:ext cx="182169" cy="470630"/>
              <a:chOff x="0" y="0"/>
              <a:chExt cx="237482" cy="613533"/>
            </a:xfrm>
          </p:grpSpPr>
          <p:sp>
            <p:nvSpPr>
              <p:cNvPr name="Freeform 24" id="24"/>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25" id="25"/>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26" id="26"/>
            <p:cNvSpPr/>
            <p:nvPr/>
          </p:nvSpPr>
          <p:spPr>
            <a:xfrm flipH="false" flipV="false" rot="0">
              <a:off x="640751" y="640751"/>
              <a:ext cx="303926" cy="303926"/>
            </a:xfrm>
            <a:custGeom>
              <a:avLst/>
              <a:gdLst/>
              <a:ahLst/>
              <a:cxnLst/>
              <a:rect r="r" b="b" t="t" l="l"/>
              <a:pathLst>
                <a:path h="303926" w="303926">
                  <a:moveTo>
                    <a:pt x="0" y="0"/>
                  </a:moveTo>
                  <a:lnTo>
                    <a:pt x="303926" y="0"/>
                  </a:lnTo>
                  <a:lnTo>
                    <a:pt x="303926" y="303926"/>
                  </a:lnTo>
                  <a:lnTo>
                    <a:pt x="0" y="303926"/>
                  </a:lnTo>
                  <a:lnTo>
                    <a:pt x="0" y="0"/>
                  </a:lnTo>
                  <a:close/>
                </a:path>
              </a:pathLst>
            </a:custGeom>
            <a:blipFill>
              <a:blip r:embed="rId5"/>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989" r="-3979" b="-1989"/>
            </a:stretch>
          </a:blipFill>
        </p:spPr>
      </p:sp>
      <p:sp>
        <p:nvSpPr>
          <p:cNvPr name="AutoShape 3" id="3"/>
          <p:cNvSpPr/>
          <p:nvPr/>
        </p:nvSpPr>
        <p:spPr>
          <a:xfrm rot="0">
            <a:off x="1028700" y="6696839"/>
            <a:ext cx="16230600" cy="0"/>
          </a:xfrm>
          <a:prstGeom prst="line">
            <a:avLst/>
          </a:prstGeom>
          <a:ln cap="flat" w="38100">
            <a:solidFill>
              <a:srgbClr val="FFFFFF"/>
            </a:solidFill>
            <a:prstDash val="solid"/>
            <a:headEnd type="none" len="sm" w="sm"/>
            <a:tailEnd type="none" len="sm" w="sm"/>
          </a:ln>
        </p:spPr>
      </p:sp>
      <p:grpSp>
        <p:nvGrpSpPr>
          <p:cNvPr name="Group 4" id="4"/>
          <p:cNvGrpSpPr/>
          <p:nvPr/>
        </p:nvGrpSpPr>
        <p:grpSpPr>
          <a:xfrm rot="0">
            <a:off x="5803466" y="4555306"/>
            <a:ext cx="1364706" cy="2040583"/>
            <a:chOff x="0" y="0"/>
            <a:chExt cx="1819608" cy="2720777"/>
          </a:xfrm>
        </p:grpSpPr>
        <p:grpSp>
          <p:nvGrpSpPr>
            <p:cNvPr name="Group 5" id="5"/>
            <p:cNvGrpSpPr>
              <a:grpSpLocks noChangeAspect="true"/>
            </p:cNvGrpSpPr>
            <p:nvPr/>
          </p:nvGrpSpPr>
          <p:grpSpPr>
            <a:xfrm rot="0">
              <a:off x="75829" y="106711"/>
              <a:ext cx="1642180" cy="2437516"/>
              <a:chOff x="0" y="0"/>
              <a:chExt cx="3304032" cy="4904232"/>
            </a:xfrm>
          </p:grpSpPr>
          <p:sp>
            <p:nvSpPr>
              <p:cNvPr name="Freeform 6" id="6"/>
              <p:cNvSpPr/>
              <p:nvPr/>
            </p:nvSpPr>
            <p:spPr>
              <a:xfrm flipH="false" flipV="false" rot="0">
                <a:off x="0" y="0"/>
                <a:ext cx="3304032" cy="4904232"/>
              </a:xfrm>
              <a:custGeom>
                <a:avLst/>
                <a:gdLst/>
                <a:ahLst/>
                <a:cxnLst/>
                <a:rect r="r" b="b" t="t" l="l"/>
                <a:pathLst>
                  <a:path h="4904232" w="3304032">
                    <a:moveTo>
                      <a:pt x="3304032" y="4904232"/>
                    </a:moveTo>
                    <a:lnTo>
                      <a:pt x="0" y="4904232"/>
                    </a:lnTo>
                    <a:lnTo>
                      <a:pt x="0" y="0"/>
                    </a:lnTo>
                    <a:lnTo>
                      <a:pt x="3304032" y="0"/>
                    </a:lnTo>
                    <a:lnTo>
                      <a:pt x="3304032" y="4904232"/>
                    </a:lnTo>
                    <a:close/>
                  </a:path>
                </a:pathLst>
              </a:custGeom>
              <a:blipFill>
                <a:blip r:embed="rId3"/>
                <a:stretch>
                  <a:fillRect l="0" t="-654" r="0" b="-654"/>
                </a:stretch>
              </a:blipFill>
            </p:spPr>
          </p:sp>
          <p:sp>
            <p:nvSpPr>
              <p:cNvPr name="Freeform 7" id="7"/>
              <p:cNvSpPr/>
              <p:nvPr/>
            </p:nvSpPr>
            <p:spPr>
              <a:xfrm flipH="false" flipV="false" rot="0">
                <a:off x="77287" y="70236"/>
                <a:ext cx="3150561" cy="3968517"/>
              </a:xfrm>
              <a:custGeom>
                <a:avLst/>
                <a:gdLst/>
                <a:ahLst/>
                <a:cxnLst/>
                <a:rect r="r" b="b" t="t" l="l"/>
                <a:pathLst>
                  <a:path h="3968517" w="3150561">
                    <a:moveTo>
                      <a:pt x="3150562" y="0"/>
                    </a:moveTo>
                    <a:lnTo>
                      <a:pt x="3127307" y="3968517"/>
                    </a:lnTo>
                    <a:lnTo>
                      <a:pt x="0" y="3951752"/>
                    </a:lnTo>
                    <a:lnTo>
                      <a:pt x="34018" y="0"/>
                    </a:lnTo>
                    <a:lnTo>
                      <a:pt x="3150562" y="0"/>
                    </a:lnTo>
                    <a:close/>
                  </a:path>
                </a:pathLst>
              </a:custGeom>
              <a:solidFill>
                <a:srgbClr val="000000"/>
              </a:solidFill>
            </p:spPr>
          </p:sp>
        </p:grpSp>
        <p:grpSp>
          <p:nvGrpSpPr>
            <p:cNvPr name="Group 8" id="8"/>
            <p:cNvGrpSpPr/>
            <p:nvPr/>
          </p:nvGrpSpPr>
          <p:grpSpPr>
            <a:xfrm rot="0">
              <a:off x="75829" y="1938573"/>
              <a:ext cx="1642180" cy="605654"/>
              <a:chOff x="0" y="0"/>
              <a:chExt cx="324381" cy="119635"/>
            </a:xfrm>
          </p:grpSpPr>
          <p:sp>
            <p:nvSpPr>
              <p:cNvPr name="Freeform 9" id="9"/>
              <p:cNvSpPr/>
              <p:nvPr/>
            </p:nvSpPr>
            <p:spPr>
              <a:xfrm flipH="false" flipV="false" rot="0">
                <a:off x="0" y="0"/>
                <a:ext cx="324381" cy="119635"/>
              </a:xfrm>
              <a:custGeom>
                <a:avLst/>
                <a:gdLst/>
                <a:ahLst/>
                <a:cxnLst/>
                <a:rect r="r" b="b" t="t" l="l"/>
                <a:pathLst>
                  <a:path h="119635" w="324381">
                    <a:moveTo>
                      <a:pt x="0" y="0"/>
                    </a:moveTo>
                    <a:lnTo>
                      <a:pt x="324381" y="0"/>
                    </a:lnTo>
                    <a:lnTo>
                      <a:pt x="324381" y="119635"/>
                    </a:lnTo>
                    <a:lnTo>
                      <a:pt x="0" y="119635"/>
                    </a:lnTo>
                    <a:close/>
                  </a:path>
                </a:pathLst>
              </a:custGeom>
              <a:solidFill>
                <a:srgbClr val="FFFFFF"/>
              </a:solidFill>
            </p:spPr>
          </p:sp>
          <p:sp>
            <p:nvSpPr>
              <p:cNvPr name="TextBox 10" id="10"/>
              <p:cNvSpPr txBox="true"/>
              <p:nvPr/>
            </p:nvSpPr>
            <p:spPr>
              <a:xfrm>
                <a:off x="0" y="-19050"/>
                <a:ext cx="324381" cy="138685"/>
              </a:xfrm>
              <a:prstGeom prst="rect">
                <a:avLst/>
              </a:prstGeom>
            </p:spPr>
            <p:txBody>
              <a:bodyPr anchor="ctr" rtlCol="false" tIns="50800" lIns="50800" bIns="50800" rIns="50800"/>
              <a:lstStyle/>
              <a:p>
                <a:pPr algn="ctr">
                  <a:lnSpc>
                    <a:spcPts val="1986"/>
                  </a:lnSpc>
                </a:pPr>
              </a:p>
            </p:txBody>
          </p:sp>
        </p:grpSp>
        <p:sp>
          <p:nvSpPr>
            <p:cNvPr name="TextBox 11" id="11"/>
            <p:cNvSpPr txBox="true"/>
            <p:nvPr/>
          </p:nvSpPr>
          <p:spPr>
            <a:xfrm rot="0">
              <a:off x="177429" y="2013286"/>
              <a:ext cx="1642180" cy="360977"/>
            </a:xfrm>
            <a:prstGeom prst="rect">
              <a:avLst/>
            </a:prstGeom>
          </p:spPr>
          <p:txBody>
            <a:bodyPr anchor="t" rtlCol="false" tIns="0" lIns="0" bIns="0" rIns="0">
              <a:spAutoFit/>
            </a:bodyPr>
            <a:lstStyle/>
            <a:p>
              <a:pPr algn="l">
                <a:lnSpc>
                  <a:spcPts val="1146"/>
                </a:lnSpc>
              </a:pPr>
              <a:r>
                <a:rPr lang="en-US" sz="818" b="true">
                  <a:solidFill>
                    <a:srgbClr val="19191E"/>
                  </a:solidFill>
                  <a:latin typeface="Nunito Bold"/>
                  <a:ea typeface="Nunito Bold"/>
                  <a:cs typeface="Nunito Bold"/>
                  <a:sym typeface="Nunito Bold"/>
                </a:rPr>
                <a:t>PANTONE </a:t>
              </a:r>
            </a:p>
            <a:p>
              <a:pPr algn="l">
                <a:lnSpc>
                  <a:spcPts val="1146"/>
                </a:lnSpc>
              </a:pPr>
              <a:r>
                <a:rPr lang="en-US" sz="818">
                  <a:solidFill>
                    <a:srgbClr val="19191E"/>
                  </a:solidFill>
                  <a:latin typeface="Nunito"/>
                  <a:ea typeface="Nunito"/>
                  <a:cs typeface="Nunito"/>
                  <a:sym typeface="Nunito"/>
                </a:rPr>
                <a:t>NEUTRAL BLACK C</a:t>
              </a:r>
            </a:p>
          </p:txBody>
        </p:sp>
        <p:sp>
          <p:nvSpPr>
            <p:cNvPr name="Freeform 12" id="12"/>
            <p:cNvSpPr/>
            <p:nvPr/>
          </p:nvSpPr>
          <p:spPr>
            <a:xfrm flipH="false" flipV="false" rot="0">
              <a:off x="858818" y="2019636"/>
              <a:ext cx="101070" cy="101070"/>
            </a:xfrm>
            <a:custGeom>
              <a:avLst/>
              <a:gdLst/>
              <a:ahLst/>
              <a:cxnLst/>
              <a:rect r="r" b="b" t="t" l="l"/>
              <a:pathLst>
                <a:path h="101070" w="101070">
                  <a:moveTo>
                    <a:pt x="0" y="0"/>
                  </a:moveTo>
                  <a:lnTo>
                    <a:pt x="101070" y="0"/>
                  </a:lnTo>
                  <a:lnTo>
                    <a:pt x="101070" y="101070"/>
                  </a:lnTo>
                  <a:lnTo>
                    <a:pt x="0" y="1010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0" y="0"/>
              <a:ext cx="139329" cy="2720777"/>
              <a:chOff x="0" y="0"/>
              <a:chExt cx="27522" cy="537437"/>
            </a:xfrm>
          </p:grpSpPr>
          <p:sp>
            <p:nvSpPr>
              <p:cNvPr name="Freeform 14" id="14"/>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15" id="15"/>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nvGrpSpPr>
            <p:cNvPr name="Group 16" id="16"/>
            <p:cNvGrpSpPr/>
            <p:nvPr/>
          </p:nvGrpSpPr>
          <p:grpSpPr>
            <a:xfrm rot="0">
              <a:off x="1638654" y="0"/>
              <a:ext cx="139329" cy="2720777"/>
              <a:chOff x="0" y="0"/>
              <a:chExt cx="27522" cy="537437"/>
            </a:xfrm>
          </p:grpSpPr>
          <p:sp>
            <p:nvSpPr>
              <p:cNvPr name="Freeform 17" id="17"/>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18" id="18"/>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grpSp>
        <p:nvGrpSpPr>
          <p:cNvPr name="Group 19" id="19"/>
          <p:cNvGrpSpPr/>
          <p:nvPr/>
        </p:nvGrpSpPr>
        <p:grpSpPr>
          <a:xfrm rot="0">
            <a:off x="8433072" y="4555306"/>
            <a:ext cx="1364706" cy="2040583"/>
            <a:chOff x="0" y="0"/>
            <a:chExt cx="1819608" cy="2720777"/>
          </a:xfrm>
        </p:grpSpPr>
        <p:grpSp>
          <p:nvGrpSpPr>
            <p:cNvPr name="Group 20" id="20"/>
            <p:cNvGrpSpPr>
              <a:grpSpLocks noChangeAspect="true"/>
            </p:cNvGrpSpPr>
            <p:nvPr/>
          </p:nvGrpSpPr>
          <p:grpSpPr>
            <a:xfrm rot="0">
              <a:off x="75829" y="106711"/>
              <a:ext cx="1642180" cy="2437516"/>
              <a:chOff x="0" y="0"/>
              <a:chExt cx="3304032" cy="4904232"/>
            </a:xfrm>
          </p:grpSpPr>
          <p:sp>
            <p:nvSpPr>
              <p:cNvPr name="Freeform 21" id="21"/>
              <p:cNvSpPr/>
              <p:nvPr/>
            </p:nvSpPr>
            <p:spPr>
              <a:xfrm flipH="false" flipV="false" rot="0">
                <a:off x="0" y="0"/>
                <a:ext cx="3304032" cy="4904232"/>
              </a:xfrm>
              <a:custGeom>
                <a:avLst/>
                <a:gdLst/>
                <a:ahLst/>
                <a:cxnLst/>
                <a:rect r="r" b="b" t="t" l="l"/>
                <a:pathLst>
                  <a:path h="4904232" w="3304032">
                    <a:moveTo>
                      <a:pt x="3304032" y="4904232"/>
                    </a:moveTo>
                    <a:lnTo>
                      <a:pt x="0" y="4904232"/>
                    </a:lnTo>
                    <a:lnTo>
                      <a:pt x="0" y="0"/>
                    </a:lnTo>
                    <a:lnTo>
                      <a:pt x="3304032" y="0"/>
                    </a:lnTo>
                    <a:lnTo>
                      <a:pt x="3304032" y="4904232"/>
                    </a:lnTo>
                    <a:close/>
                  </a:path>
                </a:pathLst>
              </a:custGeom>
              <a:blipFill>
                <a:blip r:embed="rId3"/>
                <a:stretch>
                  <a:fillRect l="0" t="-654" r="0" b="-654"/>
                </a:stretch>
              </a:blipFill>
            </p:spPr>
          </p:sp>
          <p:sp>
            <p:nvSpPr>
              <p:cNvPr name="Freeform 22" id="22"/>
              <p:cNvSpPr/>
              <p:nvPr/>
            </p:nvSpPr>
            <p:spPr>
              <a:xfrm flipH="false" flipV="false" rot="0">
                <a:off x="77287" y="70236"/>
                <a:ext cx="3150561" cy="3968517"/>
              </a:xfrm>
              <a:custGeom>
                <a:avLst/>
                <a:gdLst/>
                <a:ahLst/>
                <a:cxnLst/>
                <a:rect r="r" b="b" t="t" l="l"/>
                <a:pathLst>
                  <a:path h="3968517" w="3150561">
                    <a:moveTo>
                      <a:pt x="3150562" y="0"/>
                    </a:moveTo>
                    <a:lnTo>
                      <a:pt x="3127307" y="3968517"/>
                    </a:lnTo>
                    <a:lnTo>
                      <a:pt x="0" y="3951752"/>
                    </a:lnTo>
                    <a:lnTo>
                      <a:pt x="34018" y="0"/>
                    </a:lnTo>
                    <a:lnTo>
                      <a:pt x="3150562" y="0"/>
                    </a:lnTo>
                    <a:close/>
                  </a:path>
                </a:pathLst>
              </a:custGeom>
              <a:solidFill>
                <a:srgbClr val="E2A428"/>
              </a:solidFill>
            </p:spPr>
          </p:sp>
        </p:grpSp>
        <p:grpSp>
          <p:nvGrpSpPr>
            <p:cNvPr name="Group 23" id="23"/>
            <p:cNvGrpSpPr/>
            <p:nvPr/>
          </p:nvGrpSpPr>
          <p:grpSpPr>
            <a:xfrm rot="0">
              <a:off x="75829" y="1938573"/>
              <a:ext cx="1642180" cy="605654"/>
              <a:chOff x="0" y="0"/>
              <a:chExt cx="324381" cy="119635"/>
            </a:xfrm>
          </p:grpSpPr>
          <p:sp>
            <p:nvSpPr>
              <p:cNvPr name="Freeform 24" id="24"/>
              <p:cNvSpPr/>
              <p:nvPr/>
            </p:nvSpPr>
            <p:spPr>
              <a:xfrm flipH="false" flipV="false" rot="0">
                <a:off x="0" y="0"/>
                <a:ext cx="324381" cy="119635"/>
              </a:xfrm>
              <a:custGeom>
                <a:avLst/>
                <a:gdLst/>
                <a:ahLst/>
                <a:cxnLst/>
                <a:rect r="r" b="b" t="t" l="l"/>
                <a:pathLst>
                  <a:path h="119635" w="324381">
                    <a:moveTo>
                      <a:pt x="0" y="0"/>
                    </a:moveTo>
                    <a:lnTo>
                      <a:pt x="324381" y="0"/>
                    </a:lnTo>
                    <a:lnTo>
                      <a:pt x="324381" y="119635"/>
                    </a:lnTo>
                    <a:lnTo>
                      <a:pt x="0" y="119635"/>
                    </a:lnTo>
                    <a:close/>
                  </a:path>
                </a:pathLst>
              </a:custGeom>
              <a:solidFill>
                <a:srgbClr val="FFFFFF"/>
              </a:solidFill>
            </p:spPr>
          </p:sp>
          <p:sp>
            <p:nvSpPr>
              <p:cNvPr name="TextBox 25" id="25"/>
              <p:cNvSpPr txBox="true"/>
              <p:nvPr/>
            </p:nvSpPr>
            <p:spPr>
              <a:xfrm>
                <a:off x="0" y="-19050"/>
                <a:ext cx="324381" cy="138685"/>
              </a:xfrm>
              <a:prstGeom prst="rect">
                <a:avLst/>
              </a:prstGeom>
            </p:spPr>
            <p:txBody>
              <a:bodyPr anchor="ctr" rtlCol="false" tIns="50800" lIns="50800" bIns="50800" rIns="50800"/>
              <a:lstStyle/>
              <a:p>
                <a:pPr algn="ctr">
                  <a:lnSpc>
                    <a:spcPts val="1986"/>
                  </a:lnSpc>
                </a:pPr>
              </a:p>
            </p:txBody>
          </p:sp>
        </p:grpSp>
        <p:sp>
          <p:nvSpPr>
            <p:cNvPr name="TextBox 26" id="26"/>
            <p:cNvSpPr txBox="true"/>
            <p:nvPr/>
          </p:nvSpPr>
          <p:spPr>
            <a:xfrm rot="0">
              <a:off x="177429" y="2013286"/>
              <a:ext cx="1642180" cy="545803"/>
            </a:xfrm>
            <a:prstGeom prst="rect">
              <a:avLst/>
            </a:prstGeom>
          </p:spPr>
          <p:txBody>
            <a:bodyPr anchor="t" rtlCol="false" tIns="0" lIns="0" bIns="0" rIns="0">
              <a:spAutoFit/>
            </a:bodyPr>
            <a:lstStyle/>
            <a:p>
              <a:pPr algn="l">
                <a:lnSpc>
                  <a:spcPts val="1146"/>
                </a:lnSpc>
              </a:pPr>
              <a:r>
                <a:rPr lang="en-US" sz="818" b="true">
                  <a:solidFill>
                    <a:srgbClr val="19191E"/>
                  </a:solidFill>
                  <a:latin typeface="Nunito Bold"/>
                  <a:ea typeface="Nunito Bold"/>
                  <a:cs typeface="Nunito Bold"/>
                  <a:sym typeface="Nunito Bold"/>
                </a:rPr>
                <a:t>PANTONE </a:t>
              </a:r>
            </a:p>
            <a:p>
              <a:pPr algn="l">
                <a:lnSpc>
                  <a:spcPts val="1146"/>
                </a:lnSpc>
              </a:pPr>
              <a:r>
                <a:rPr lang="en-US" sz="818">
                  <a:solidFill>
                    <a:srgbClr val="19191E"/>
                  </a:solidFill>
                  <a:latin typeface="Nunito"/>
                  <a:ea typeface="Nunito"/>
                  <a:cs typeface="Nunito"/>
                  <a:sym typeface="Nunito"/>
                </a:rPr>
                <a:t>7555 C</a:t>
              </a:r>
            </a:p>
            <a:p>
              <a:pPr algn="l">
                <a:lnSpc>
                  <a:spcPts val="1146"/>
                </a:lnSpc>
              </a:pPr>
            </a:p>
          </p:txBody>
        </p:sp>
        <p:sp>
          <p:nvSpPr>
            <p:cNvPr name="Freeform 27" id="27"/>
            <p:cNvSpPr/>
            <p:nvPr/>
          </p:nvSpPr>
          <p:spPr>
            <a:xfrm flipH="false" flipV="false" rot="0">
              <a:off x="858818" y="2019636"/>
              <a:ext cx="101070" cy="101070"/>
            </a:xfrm>
            <a:custGeom>
              <a:avLst/>
              <a:gdLst/>
              <a:ahLst/>
              <a:cxnLst/>
              <a:rect r="r" b="b" t="t" l="l"/>
              <a:pathLst>
                <a:path h="101070" w="101070">
                  <a:moveTo>
                    <a:pt x="0" y="0"/>
                  </a:moveTo>
                  <a:lnTo>
                    <a:pt x="101070" y="0"/>
                  </a:lnTo>
                  <a:lnTo>
                    <a:pt x="101070" y="101070"/>
                  </a:lnTo>
                  <a:lnTo>
                    <a:pt x="0" y="1010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8" id="28"/>
            <p:cNvGrpSpPr/>
            <p:nvPr/>
          </p:nvGrpSpPr>
          <p:grpSpPr>
            <a:xfrm rot="0">
              <a:off x="0" y="0"/>
              <a:ext cx="139329" cy="2720777"/>
              <a:chOff x="0" y="0"/>
              <a:chExt cx="27522" cy="537437"/>
            </a:xfrm>
          </p:grpSpPr>
          <p:sp>
            <p:nvSpPr>
              <p:cNvPr name="Freeform 29" id="29"/>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30" id="30"/>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nvGrpSpPr>
            <p:cNvPr name="Group 31" id="31"/>
            <p:cNvGrpSpPr/>
            <p:nvPr/>
          </p:nvGrpSpPr>
          <p:grpSpPr>
            <a:xfrm rot="0">
              <a:off x="1638654" y="0"/>
              <a:ext cx="139329" cy="2720777"/>
              <a:chOff x="0" y="0"/>
              <a:chExt cx="27522" cy="537437"/>
            </a:xfrm>
          </p:grpSpPr>
          <p:sp>
            <p:nvSpPr>
              <p:cNvPr name="Freeform 32" id="32"/>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33" id="33"/>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grpSp>
        <p:nvGrpSpPr>
          <p:cNvPr name="Group 34" id="34"/>
          <p:cNvGrpSpPr/>
          <p:nvPr/>
        </p:nvGrpSpPr>
        <p:grpSpPr>
          <a:xfrm rot="0">
            <a:off x="7118269" y="4555306"/>
            <a:ext cx="1364706" cy="2040583"/>
            <a:chOff x="0" y="0"/>
            <a:chExt cx="1819608" cy="2720777"/>
          </a:xfrm>
        </p:grpSpPr>
        <p:grpSp>
          <p:nvGrpSpPr>
            <p:cNvPr name="Group 35" id="35"/>
            <p:cNvGrpSpPr>
              <a:grpSpLocks noChangeAspect="true"/>
            </p:cNvGrpSpPr>
            <p:nvPr/>
          </p:nvGrpSpPr>
          <p:grpSpPr>
            <a:xfrm rot="0">
              <a:off x="75829" y="106711"/>
              <a:ext cx="1642180" cy="2437516"/>
              <a:chOff x="0" y="0"/>
              <a:chExt cx="3304032" cy="4904232"/>
            </a:xfrm>
          </p:grpSpPr>
          <p:sp>
            <p:nvSpPr>
              <p:cNvPr name="Freeform 36" id="36"/>
              <p:cNvSpPr/>
              <p:nvPr/>
            </p:nvSpPr>
            <p:spPr>
              <a:xfrm flipH="false" flipV="false" rot="0">
                <a:off x="0" y="0"/>
                <a:ext cx="3304032" cy="4904232"/>
              </a:xfrm>
              <a:custGeom>
                <a:avLst/>
                <a:gdLst/>
                <a:ahLst/>
                <a:cxnLst/>
                <a:rect r="r" b="b" t="t" l="l"/>
                <a:pathLst>
                  <a:path h="4904232" w="3304032">
                    <a:moveTo>
                      <a:pt x="3304032" y="4904232"/>
                    </a:moveTo>
                    <a:lnTo>
                      <a:pt x="0" y="4904232"/>
                    </a:lnTo>
                    <a:lnTo>
                      <a:pt x="0" y="0"/>
                    </a:lnTo>
                    <a:lnTo>
                      <a:pt x="3304032" y="0"/>
                    </a:lnTo>
                    <a:lnTo>
                      <a:pt x="3304032" y="4904232"/>
                    </a:lnTo>
                    <a:close/>
                  </a:path>
                </a:pathLst>
              </a:custGeom>
              <a:blipFill>
                <a:blip r:embed="rId3"/>
                <a:stretch>
                  <a:fillRect l="0" t="-654" r="0" b="-654"/>
                </a:stretch>
              </a:blipFill>
            </p:spPr>
          </p:sp>
          <p:sp>
            <p:nvSpPr>
              <p:cNvPr name="Freeform 37" id="37"/>
              <p:cNvSpPr/>
              <p:nvPr/>
            </p:nvSpPr>
            <p:spPr>
              <a:xfrm flipH="false" flipV="false" rot="0">
                <a:off x="77287" y="70236"/>
                <a:ext cx="3150561" cy="3968517"/>
              </a:xfrm>
              <a:custGeom>
                <a:avLst/>
                <a:gdLst/>
                <a:ahLst/>
                <a:cxnLst/>
                <a:rect r="r" b="b" t="t" l="l"/>
                <a:pathLst>
                  <a:path h="3968517" w="3150561">
                    <a:moveTo>
                      <a:pt x="3150562" y="0"/>
                    </a:moveTo>
                    <a:lnTo>
                      <a:pt x="3127307" y="3968517"/>
                    </a:lnTo>
                    <a:lnTo>
                      <a:pt x="0" y="3951752"/>
                    </a:lnTo>
                    <a:lnTo>
                      <a:pt x="34018" y="0"/>
                    </a:lnTo>
                    <a:lnTo>
                      <a:pt x="3150562" y="0"/>
                    </a:lnTo>
                    <a:close/>
                  </a:path>
                </a:pathLst>
              </a:custGeom>
              <a:solidFill>
                <a:srgbClr val="595758"/>
              </a:solidFill>
            </p:spPr>
          </p:sp>
        </p:grpSp>
        <p:grpSp>
          <p:nvGrpSpPr>
            <p:cNvPr name="Group 38" id="38"/>
            <p:cNvGrpSpPr/>
            <p:nvPr/>
          </p:nvGrpSpPr>
          <p:grpSpPr>
            <a:xfrm rot="0">
              <a:off x="75829" y="1938573"/>
              <a:ext cx="1642180" cy="605654"/>
              <a:chOff x="0" y="0"/>
              <a:chExt cx="324381" cy="119635"/>
            </a:xfrm>
          </p:grpSpPr>
          <p:sp>
            <p:nvSpPr>
              <p:cNvPr name="Freeform 39" id="39"/>
              <p:cNvSpPr/>
              <p:nvPr/>
            </p:nvSpPr>
            <p:spPr>
              <a:xfrm flipH="false" flipV="false" rot="0">
                <a:off x="0" y="0"/>
                <a:ext cx="324381" cy="119635"/>
              </a:xfrm>
              <a:custGeom>
                <a:avLst/>
                <a:gdLst/>
                <a:ahLst/>
                <a:cxnLst/>
                <a:rect r="r" b="b" t="t" l="l"/>
                <a:pathLst>
                  <a:path h="119635" w="324381">
                    <a:moveTo>
                      <a:pt x="0" y="0"/>
                    </a:moveTo>
                    <a:lnTo>
                      <a:pt x="324381" y="0"/>
                    </a:lnTo>
                    <a:lnTo>
                      <a:pt x="324381" y="119635"/>
                    </a:lnTo>
                    <a:lnTo>
                      <a:pt x="0" y="119635"/>
                    </a:lnTo>
                    <a:close/>
                  </a:path>
                </a:pathLst>
              </a:custGeom>
              <a:solidFill>
                <a:srgbClr val="FFFFFF"/>
              </a:solidFill>
            </p:spPr>
          </p:sp>
          <p:sp>
            <p:nvSpPr>
              <p:cNvPr name="TextBox 40" id="40"/>
              <p:cNvSpPr txBox="true"/>
              <p:nvPr/>
            </p:nvSpPr>
            <p:spPr>
              <a:xfrm>
                <a:off x="0" y="-19050"/>
                <a:ext cx="324381" cy="138685"/>
              </a:xfrm>
              <a:prstGeom prst="rect">
                <a:avLst/>
              </a:prstGeom>
            </p:spPr>
            <p:txBody>
              <a:bodyPr anchor="ctr" rtlCol="false" tIns="50800" lIns="50800" bIns="50800" rIns="50800"/>
              <a:lstStyle/>
              <a:p>
                <a:pPr algn="ctr">
                  <a:lnSpc>
                    <a:spcPts val="1986"/>
                  </a:lnSpc>
                </a:pPr>
              </a:p>
            </p:txBody>
          </p:sp>
        </p:grpSp>
        <p:sp>
          <p:nvSpPr>
            <p:cNvPr name="TextBox 41" id="41"/>
            <p:cNvSpPr txBox="true"/>
            <p:nvPr/>
          </p:nvSpPr>
          <p:spPr>
            <a:xfrm rot="0">
              <a:off x="177429" y="2013286"/>
              <a:ext cx="1642180" cy="360977"/>
            </a:xfrm>
            <a:prstGeom prst="rect">
              <a:avLst/>
            </a:prstGeom>
          </p:spPr>
          <p:txBody>
            <a:bodyPr anchor="t" rtlCol="false" tIns="0" lIns="0" bIns="0" rIns="0">
              <a:spAutoFit/>
            </a:bodyPr>
            <a:lstStyle/>
            <a:p>
              <a:pPr algn="l">
                <a:lnSpc>
                  <a:spcPts val="1146"/>
                </a:lnSpc>
              </a:pPr>
              <a:r>
                <a:rPr lang="en-US" sz="818" b="true">
                  <a:solidFill>
                    <a:srgbClr val="19191E"/>
                  </a:solidFill>
                  <a:latin typeface="Nunito Bold"/>
                  <a:ea typeface="Nunito Bold"/>
                  <a:cs typeface="Nunito Bold"/>
                  <a:sym typeface="Nunito Bold"/>
                </a:rPr>
                <a:t>PANTONE </a:t>
              </a:r>
            </a:p>
            <a:p>
              <a:pPr algn="l">
                <a:lnSpc>
                  <a:spcPts val="1146"/>
                </a:lnSpc>
              </a:pPr>
              <a:r>
                <a:rPr lang="en-US" sz="818">
                  <a:solidFill>
                    <a:srgbClr val="19191E"/>
                  </a:solidFill>
                  <a:latin typeface="Nunito"/>
                  <a:ea typeface="Nunito"/>
                  <a:cs typeface="Nunito"/>
                  <a:sym typeface="Nunito"/>
                </a:rPr>
                <a:t>151 C</a:t>
              </a:r>
            </a:p>
          </p:txBody>
        </p:sp>
        <p:sp>
          <p:nvSpPr>
            <p:cNvPr name="Freeform 42" id="42"/>
            <p:cNvSpPr/>
            <p:nvPr/>
          </p:nvSpPr>
          <p:spPr>
            <a:xfrm flipH="false" flipV="false" rot="0">
              <a:off x="858818" y="2019636"/>
              <a:ext cx="101070" cy="101070"/>
            </a:xfrm>
            <a:custGeom>
              <a:avLst/>
              <a:gdLst/>
              <a:ahLst/>
              <a:cxnLst/>
              <a:rect r="r" b="b" t="t" l="l"/>
              <a:pathLst>
                <a:path h="101070" w="101070">
                  <a:moveTo>
                    <a:pt x="0" y="0"/>
                  </a:moveTo>
                  <a:lnTo>
                    <a:pt x="101070" y="0"/>
                  </a:lnTo>
                  <a:lnTo>
                    <a:pt x="101070" y="101070"/>
                  </a:lnTo>
                  <a:lnTo>
                    <a:pt x="0" y="1010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3" id="43"/>
            <p:cNvGrpSpPr/>
            <p:nvPr/>
          </p:nvGrpSpPr>
          <p:grpSpPr>
            <a:xfrm rot="0">
              <a:off x="0" y="0"/>
              <a:ext cx="139329" cy="2720777"/>
              <a:chOff x="0" y="0"/>
              <a:chExt cx="27522" cy="537437"/>
            </a:xfrm>
          </p:grpSpPr>
          <p:sp>
            <p:nvSpPr>
              <p:cNvPr name="Freeform 44" id="44"/>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45" id="45"/>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nvGrpSpPr>
            <p:cNvPr name="Group 46" id="46"/>
            <p:cNvGrpSpPr/>
            <p:nvPr/>
          </p:nvGrpSpPr>
          <p:grpSpPr>
            <a:xfrm rot="0">
              <a:off x="1638654" y="0"/>
              <a:ext cx="139329" cy="2720777"/>
              <a:chOff x="0" y="0"/>
              <a:chExt cx="27522" cy="537437"/>
            </a:xfrm>
          </p:grpSpPr>
          <p:sp>
            <p:nvSpPr>
              <p:cNvPr name="Freeform 47" id="47"/>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48" id="48"/>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grpSp>
        <p:nvGrpSpPr>
          <p:cNvPr name="Group 49" id="49"/>
          <p:cNvGrpSpPr/>
          <p:nvPr/>
        </p:nvGrpSpPr>
        <p:grpSpPr>
          <a:xfrm rot="0">
            <a:off x="9747875" y="4555306"/>
            <a:ext cx="1364706" cy="2040583"/>
            <a:chOff x="0" y="0"/>
            <a:chExt cx="1819608" cy="2720777"/>
          </a:xfrm>
        </p:grpSpPr>
        <p:grpSp>
          <p:nvGrpSpPr>
            <p:cNvPr name="Group 50" id="50"/>
            <p:cNvGrpSpPr>
              <a:grpSpLocks noChangeAspect="true"/>
            </p:cNvGrpSpPr>
            <p:nvPr/>
          </p:nvGrpSpPr>
          <p:grpSpPr>
            <a:xfrm rot="0">
              <a:off x="75829" y="106711"/>
              <a:ext cx="1642180" cy="2437516"/>
              <a:chOff x="0" y="0"/>
              <a:chExt cx="3304032" cy="4904232"/>
            </a:xfrm>
          </p:grpSpPr>
          <p:sp>
            <p:nvSpPr>
              <p:cNvPr name="Freeform 51" id="51"/>
              <p:cNvSpPr/>
              <p:nvPr/>
            </p:nvSpPr>
            <p:spPr>
              <a:xfrm flipH="false" flipV="false" rot="0">
                <a:off x="0" y="0"/>
                <a:ext cx="3304032" cy="4904232"/>
              </a:xfrm>
              <a:custGeom>
                <a:avLst/>
                <a:gdLst/>
                <a:ahLst/>
                <a:cxnLst/>
                <a:rect r="r" b="b" t="t" l="l"/>
                <a:pathLst>
                  <a:path h="4904232" w="3304032">
                    <a:moveTo>
                      <a:pt x="3304032" y="4904232"/>
                    </a:moveTo>
                    <a:lnTo>
                      <a:pt x="0" y="4904232"/>
                    </a:lnTo>
                    <a:lnTo>
                      <a:pt x="0" y="0"/>
                    </a:lnTo>
                    <a:lnTo>
                      <a:pt x="3304032" y="0"/>
                    </a:lnTo>
                    <a:lnTo>
                      <a:pt x="3304032" y="4904232"/>
                    </a:lnTo>
                    <a:close/>
                  </a:path>
                </a:pathLst>
              </a:custGeom>
              <a:blipFill>
                <a:blip r:embed="rId3"/>
                <a:stretch>
                  <a:fillRect l="0" t="-654" r="0" b="-654"/>
                </a:stretch>
              </a:blipFill>
            </p:spPr>
          </p:sp>
          <p:sp>
            <p:nvSpPr>
              <p:cNvPr name="Freeform 52" id="52"/>
              <p:cNvSpPr/>
              <p:nvPr/>
            </p:nvSpPr>
            <p:spPr>
              <a:xfrm flipH="false" flipV="false" rot="0">
                <a:off x="77287" y="70236"/>
                <a:ext cx="3150561" cy="3968517"/>
              </a:xfrm>
              <a:custGeom>
                <a:avLst/>
                <a:gdLst/>
                <a:ahLst/>
                <a:cxnLst/>
                <a:rect r="r" b="b" t="t" l="l"/>
                <a:pathLst>
                  <a:path h="3968517" w="3150561">
                    <a:moveTo>
                      <a:pt x="3150562" y="0"/>
                    </a:moveTo>
                    <a:lnTo>
                      <a:pt x="3127307" y="3968517"/>
                    </a:lnTo>
                    <a:lnTo>
                      <a:pt x="0" y="3951752"/>
                    </a:lnTo>
                    <a:lnTo>
                      <a:pt x="34018" y="0"/>
                    </a:lnTo>
                    <a:lnTo>
                      <a:pt x="3150562" y="0"/>
                    </a:lnTo>
                    <a:close/>
                  </a:path>
                </a:pathLst>
              </a:custGeom>
              <a:solidFill>
                <a:srgbClr val="FFD867"/>
              </a:solidFill>
            </p:spPr>
          </p:sp>
        </p:grpSp>
        <p:grpSp>
          <p:nvGrpSpPr>
            <p:cNvPr name="Group 53" id="53"/>
            <p:cNvGrpSpPr/>
            <p:nvPr/>
          </p:nvGrpSpPr>
          <p:grpSpPr>
            <a:xfrm rot="0">
              <a:off x="75829" y="1938573"/>
              <a:ext cx="1642180" cy="605654"/>
              <a:chOff x="0" y="0"/>
              <a:chExt cx="324381" cy="119635"/>
            </a:xfrm>
          </p:grpSpPr>
          <p:sp>
            <p:nvSpPr>
              <p:cNvPr name="Freeform 54" id="54"/>
              <p:cNvSpPr/>
              <p:nvPr/>
            </p:nvSpPr>
            <p:spPr>
              <a:xfrm flipH="false" flipV="false" rot="0">
                <a:off x="0" y="0"/>
                <a:ext cx="324381" cy="119635"/>
              </a:xfrm>
              <a:custGeom>
                <a:avLst/>
                <a:gdLst/>
                <a:ahLst/>
                <a:cxnLst/>
                <a:rect r="r" b="b" t="t" l="l"/>
                <a:pathLst>
                  <a:path h="119635" w="324381">
                    <a:moveTo>
                      <a:pt x="0" y="0"/>
                    </a:moveTo>
                    <a:lnTo>
                      <a:pt x="324381" y="0"/>
                    </a:lnTo>
                    <a:lnTo>
                      <a:pt x="324381" y="119635"/>
                    </a:lnTo>
                    <a:lnTo>
                      <a:pt x="0" y="119635"/>
                    </a:lnTo>
                    <a:close/>
                  </a:path>
                </a:pathLst>
              </a:custGeom>
              <a:solidFill>
                <a:srgbClr val="FFFFFF"/>
              </a:solidFill>
            </p:spPr>
          </p:sp>
          <p:sp>
            <p:nvSpPr>
              <p:cNvPr name="TextBox 55" id="55"/>
              <p:cNvSpPr txBox="true"/>
              <p:nvPr/>
            </p:nvSpPr>
            <p:spPr>
              <a:xfrm>
                <a:off x="0" y="-19050"/>
                <a:ext cx="324381" cy="138685"/>
              </a:xfrm>
              <a:prstGeom prst="rect">
                <a:avLst/>
              </a:prstGeom>
            </p:spPr>
            <p:txBody>
              <a:bodyPr anchor="ctr" rtlCol="false" tIns="50800" lIns="50800" bIns="50800" rIns="50800"/>
              <a:lstStyle/>
              <a:p>
                <a:pPr algn="ctr">
                  <a:lnSpc>
                    <a:spcPts val="1986"/>
                  </a:lnSpc>
                </a:pPr>
              </a:p>
            </p:txBody>
          </p:sp>
        </p:grpSp>
        <p:sp>
          <p:nvSpPr>
            <p:cNvPr name="TextBox 56" id="56"/>
            <p:cNvSpPr txBox="true"/>
            <p:nvPr/>
          </p:nvSpPr>
          <p:spPr>
            <a:xfrm rot="0">
              <a:off x="177429" y="2013286"/>
              <a:ext cx="1642180" cy="545803"/>
            </a:xfrm>
            <a:prstGeom prst="rect">
              <a:avLst/>
            </a:prstGeom>
          </p:spPr>
          <p:txBody>
            <a:bodyPr anchor="t" rtlCol="false" tIns="0" lIns="0" bIns="0" rIns="0">
              <a:spAutoFit/>
            </a:bodyPr>
            <a:lstStyle/>
            <a:p>
              <a:pPr algn="l">
                <a:lnSpc>
                  <a:spcPts val="1146"/>
                </a:lnSpc>
              </a:pPr>
              <a:r>
                <a:rPr lang="en-US" sz="818" b="true">
                  <a:solidFill>
                    <a:srgbClr val="19191E"/>
                  </a:solidFill>
                  <a:latin typeface="Nunito Bold"/>
                  <a:ea typeface="Nunito Bold"/>
                  <a:cs typeface="Nunito Bold"/>
                  <a:sym typeface="Nunito Bold"/>
                </a:rPr>
                <a:t>PANTONE </a:t>
              </a:r>
            </a:p>
            <a:p>
              <a:pPr algn="l">
                <a:lnSpc>
                  <a:spcPts val="1146"/>
                </a:lnSpc>
              </a:pPr>
              <a:r>
                <a:rPr lang="en-US" sz="818">
                  <a:solidFill>
                    <a:srgbClr val="19191E"/>
                  </a:solidFill>
                  <a:latin typeface="Nunito"/>
                  <a:ea typeface="Nunito"/>
                  <a:cs typeface="Nunito"/>
                  <a:sym typeface="Nunito"/>
                </a:rPr>
                <a:t>284 C</a:t>
              </a:r>
            </a:p>
            <a:p>
              <a:pPr algn="l">
                <a:lnSpc>
                  <a:spcPts val="1146"/>
                </a:lnSpc>
              </a:pPr>
            </a:p>
          </p:txBody>
        </p:sp>
        <p:sp>
          <p:nvSpPr>
            <p:cNvPr name="Freeform 57" id="57"/>
            <p:cNvSpPr/>
            <p:nvPr/>
          </p:nvSpPr>
          <p:spPr>
            <a:xfrm flipH="false" flipV="false" rot="0">
              <a:off x="858818" y="2019636"/>
              <a:ext cx="101070" cy="101070"/>
            </a:xfrm>
            <a:custGeom>
              <a:avLst/>
              <a:gdLst/>
              <a:ahLst/>
              <a:cxnLst/>
              <a:rect r="r" b="b" t="t" l="l"/>
              <a:pathLst>
                <a:path h="101070" w="101070">
                  <a:moveTo>
                    <a:pt x="0" y="0"/>
                  </a:moveTo>
                  <a:lnTo>
                    <a:pt x="101070" y="0"/>
                  </a:lnTo>
                  <a:lnTo>
                    <a:pt x="101070" y="101070"/>
                  </a:lnTo>
                  <a:lnTo>
                    <a:pt x="0" y="1010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8" id="58"/>
            <p:cNvGrpSpPr/>
            <p:nvPr/>
          </p:nvGrpSpPr>
          <p:grpSpPr>
            <a:xfrm rot="0">
              <a:off x="0" y="0"/>
              <a:ext cx="139329" cy="2720777"/>
              <a:chOff x="0" y="0"/>
              <a:chExt cx="27522" cy="537437"/>
            </a:xfrm>
          </p:grpSpPr>
          <p:sp>
            <p:nvSpPr>
              <p:cNvPr name="Freeform 59" id="59"/>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60" id="60"/>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nvGrpSpPr>
            <p:cNvPr name="Group 61" id="61"/>
            <p:cNvGrpSpPr/>
            <p:nvPr/>
          </p:nvGrpSpPr>
          <p:grpSpPr>
            <a:xfrm rot="0">
              <a:off x="1638654" y="0"/>
              <a:ext cx="139329" cy="2720777"/>
              <a:chOff x="0" y="0"/>
              <a:chExt cx="27522" cy="537437"/>
            </a:xfrm>
          </p:grpSpPr>
          <p:sp>
            <p:nvSpPr>
              <p:cNvPr name="Freeform 62" id="62"/>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63" id="63"/>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grpSp>
        <p:nvGrpSpPr>
          <p:cNvPr name="Group 64" id="64"/>
          <p:cNvGrpSpPr/>
          <p:nvPr/>
        </p:nvGrpSpPr>
        <p:grpSpPr>
          <a:xfrm rot="0">
            <a:off x="11062678" y="4555306"/>
            <a:ext cx="1364706" cy="2040583"/>
            <a:chOff x="0" y="0"/>
            <a:chExt cx="1819608" cy="2720777"/>
          </a:xfrm>
        </p:grpSpPr>
        <p:grpSp>
          <p:nvGrpSpPr>
            <p:cNvPr name="Group 65" id="65"/>
            <p:cNvGrpSpPr>
              <a:grpSpLocks noChangeAspect="true"/>
            </p:cNvGrpSpPr>
            <p:nvPr/>
          </p:nvGrpSpPr>
          <p:grpSpPr>
            <a:xfrm rot="0">
              <a:off x="75829" y="106711"/>
              <a:ext cx="1642180" cy="2437516"/>
              <a:chOff x="0" y="0"/>
              <a:chExt cx="3304032" cy="4904232"/>
            </a:xfrm>
          </p:grpSpPr>
          <p:sp>
            <p:nvSpPr>
              <p:cNvPr name="Freeform 66" id="66"/>
              <p:cNvSpPr/>
              <p:nvPr/>
            </p:nvSpPr>
            <p:spPr>
              <a:xfrm flipH="false" flipV="false" rot="0">
                <a:off x="0" y="0"/>
                <a:ext cx="3304032" cy="4904232"/>
              </a:xfrm>
              <a:custGeom>
                <a:avLst/>
                <a:gdLst/>
                <a:ahLst/>
                <a:cxnLst/>
                <a:rect r="r" b="b" t="t" l="l"/>
                <a:pathLst>
                  <a:path h="4904232" w="3304032">
                    <a:moveTo>
                      <a:pt x="3304032" y="4904232"/>
                    </a:moveTo>
                    <a:lnTo>
                      <a:pt x="0" y="4904232"/>
                    </a:lnTo>
                    <a:lnTo>
                      <a:pt x="0" y="0"/>
                    </a:lnTo>
                    <a:lnTo>
                      <a:pt x="3304032" y="0"/>
                    </a:lnTo>
                    <a:lnTo>
                      <a:pt x="3304032" y="4904232"/>
                    </a:lnTo>
                    <a:close/>
                  </a:path>
                </a:pathLst>
              </a:custGeom>
              <a:blipFill>
                <a:blip r:embed="rId3"/>
                <a:stretch>
                  <a:fillRect l="0" t="-654" r="0" b="-654"/>
                </a:stretch>
              </a:blipFill>
            </p:spPr>
          </p:sp>
          <p:sp>
            <p:nvSpPr>
              <p:cNvPr name="Freeform 67" id="67"/>
              <p:cNvSpPr/>
              <p:nvPr/>
            </p:nvSpPr>
            <p:spPr>
              <a:xfrm flipH="false" flipV="false" rot="0">
                <a:off x="77287" y="70236"/>
                <a:ext cx="3150561" cy="3968517"/>
              </a:xfrm>
              <a:custGeom>
                <a:avLst/>
                <a:gdLst/>
                <a:ahLst/>
                <a:cxnLst/>
                <a:rect r="r" b="b" t="t" l="l"/>
                <a:pathLst>
                  <a:path h="3968517" w="3150561">
                    <a:moveTo>
                      <a:pt x="3150562" y="0"/>
                    </a:moveTo>
                    <a:lnTo>
                      <a:pt x="3127307" y="3968517"/>
                    </a:lnTo>
                    <a:lnTo>
                      <a:pt x="0" y="3951752"/>
                    </a:lnTo>
                    <a:lnTo>
                      <a:pt x="34018" y="0"/>
                    </a:lnTo>
                    <a:lnTo>
                      <a:pt x="3150562" y="0"/>
                    </a:lnTo>
                    <a:close/>
                  </a:path>
                </a:pathLst>
              </a:custGeom>
              <a:solidFill>
                <a:srgbClr val="E9E9F7"/>
              </a:solidFill>
            </p:spPr>
          </p:sp>
        </p:grpSp>
        <p:grpSp>
          <p:nvGrpSpPr>
            <p:cNvPr name="Group 68" id="68"/>
            <p:cNvGrpSpPr/>
            <p:nvPr/>
          </p:nvGrpSpPr>
          <p:grpSpPr>
            <a:xfrm rot="0">
              <a:off x="75829" y="1938573"/>
              <a:ext cx="1642180" cy="605654"/>
              <a:chOff x="0" y="0"/>
              <a:chExt cx="324381" cy="119635"/>
            </a:xfrm>
          </p:grpSpPr>
          <p:sp>
            <p:nvSpPr>
              <p:cNvPr name="Freeform 69" id="69"/>
              <p:cNvSpPr/>
              <p:nvPr/>
            </p:nvSpPr>
            <p:spPr>
              <a:xfrm flipH="false" flipV="false" rot="0">
                <a:off x="0" y="0"/>
                <a:ext cx="324381" cy="119635"/>
              </a:xfrm>
              <a:custGeom>
                <a:avLst/>
                <a:gdLst/>
                <a:ahLst/>
                <a:cxnLst/>
                <a:rect r="r" b="b" t="t" l="l"/>
                <a:pathLst>
                  <a:path h="119635" w="324381">
                    <a:moveTo>
                      <a:pt x="0" y="0"/>
                    </a:moveTo>
                    <a:lnTo>
                      <a:pt x="324381" y="0"/>
                    </a:lnTo>
                    <a:lnTo>
                      <a:pt x="324381" y="119635"/>
                    </a:lnTo>
                    <a:lnTo>
                      <a:pt x="0" y="119635"/>
                    </a:lnTo>
                    <a:close/>
                  </a:path>
                </a:pathLst>
              </a:custGeom>
              <a:solidFill>
                <a:srgbClr val="FFFFFF"/>
              </a:solidFill>
            </p:spPr>
          </p:sp>
          <p:sp>
            <p:nvSpPr>
              <p:cNvPr name="TextBox 70" id="70"/>
              <p:cNvSpPr txBox="true"/>
              <p:nvPr/>
            </p:nvSpPr>
            <p:spPr>
              <a:xfrm>
                <a:off x="0" y="-19050"/>
                <a:ext cx="324381" cy="138685"/>
              </a:xfrm>
              <a:prstGeom prst="rect">
                <a:avLst/>
              </a:prstGeom>
            </p:spPr>
            <p:txBody>
              <a:bodyPr anchor="ctr" rtlCol="false" tIns="50800" lIns="50800" bIns="50800" rIns="50800"/>
              <a:lstStyle/>
              <a:p>
                <a:pPr algn="ctr">
                  <a:lnSpc>
                    <a:spcPts val="1986"/>
                  </a:lnSpc>
                </a:pPr>
              </a:p>
            </p:txBody>
          </p:sp>
        </p:grpSp>
        <p:sp>
          <p:nvSpPr>
            <p:cNvPr name="TextBox 71" id="71"/>
            <p:cNvSpPr txBox="true"/>
            <p:nvPr/>
          </p:nvSpPr>
          <p:spPr>
            <a:xfrm rot="0">
              <a:off x="177429" y="2013286"/>
              <a:ext cx="1642180" cy="545803"/>
            </a:xfrm>
            <a:prstGeom prst="rect">
              <a:avLst/>
            </a:prstGeom>
          </p:spPr>
          <p:txBody>
            <a:bodyPr anchor="t" rtlCol="false" tIns="0" lIns="0" bIns="0" rIns="0">
              <a:spAutoFit/>
            </a:bodyPr>
            <a:lstStyle/>
            <a:p>
              <a:pPr algn="l">
                <a:lnSpc>
                  <a:spcPts val="1146"/>
                </a:lnSpc>
              </a:pPr>
              <a:r>
                <a:rPr lang="en-US" sz="818" b="true">
                  <a:solidFill>
                    <a:srgbClr val="19191E"/>
                  </a:solidFill>
                  <a:latin typeface="Nunito Bold"/>
                  <a:ea typeface="Nunito Bold"/>
                  <a:cs typeface="Nunito Bold"/>
                  <a:sym typeface="Nunito Bold"/>
                </a:rPr>
                <a:t>PANTONE </a:t>
              </a:r>
            </a:p>
            <a:p>
              <a:pPr algn="l">
                <a:lnSpc>
                  <a:spcPts val="1146"/>
                </a:lnSpc>
              </a:pPr>
              <a:r>
                <a:rPr lang="en-US" sz="818">
                  <a:solidFill>
                    <a:srgbClr val="19191E"/>
                  </a:solidFill>
                  <a:latin typeface="Nunito"/>
                  <a:ea typeface="Nunito"/>
                  <a:cs typeface="Nunito"/>
                  <a:sym typeface="Nunito"/>
                </a:rPr>
                <a:t>7443 C</a:t>
              </a:r>
            </a:p>
            <a:p>
              <a:pPr algn="l">
                <a:lnSpc>
                  <a:spcPts val="1146"/>
                </a:lnSpc>
              </a:pPr>
            </a:p>
          </p:txBody>
        </p:sp>
        <p:sp>
          <p:nvSpPr>
            <p:cNvPr name="Freeform 72" id="72"/>
            <p:cNvSpPr/>
            <p:nvPr/>
          </p:nvSpPr>
          <p:spPr>
            <a:xfrm flipH="false" flipV="false" rot="0">
              <a:off x="858818" y="2019636"/>
              <a:ext cx="101070" cy="101070"/>
            </a:xfrm>
            <a:custGeom>
              <a:avLst/>
              <a:gdLst/>
              <a:ahLst/>
              <a:cxnLst/>
              <a:rect r="r" b="b" t="t" l="l"/>
              <a:pathLst>
                <a:path h="101070" w="101070">
                  <a:moveTo>
                    <a:pt x="0" y="0"/>
                  </a:moveTo>
                  <a:lnTo>
                    <a:pt x="101070" y="0"/>
                  </a:lnTo>
                  <a:lnTo>
                    <a:pt x="101070" y="101070"/>
                  </a:lnTo>
                  <a:lnTo>
                    <a:pt x="0" y="1010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3" id="73"/>
            <p:cNvGrpSpPr/>
            <p:nvPr/>
          </p:nvGrpSpPr>
          <p:grpSpPr>
            <a:xfrm rot="0">
              <a:off x="0" y="0"/>
              <a:ext cx="139329" cy="2720777"/>
              <a:chOff x="0" y="0"/>
              <a:chExt cx="27522" cy="537437"/>
            </a:xfrm>
          </p:grpSpPr>
          <p:sp>
            <p:nvSpPr>
              <p:cNvPr name="Freeform 74" id="74"/>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75" id="75"/>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nvGrpSpPr>
            <p:cNvPr name="Group 76" id="76"/>
            <p:cNvGrpSpPr/>
            <p:nvPr/>
          </p:nvGrpSpPr>
          <p:grpSpPr>
            <a:xfrm rot="0">
              <a:off x="1638654" y="0"/>
              <a:ext cx="139329" cy="2720777"/>
              <a:chOff x="0" y="0"/>
              <a:chExt cx="27522" cy="537437"/>
            </a:xfrm>
          </p:grpSpPr>
          <p:sp>
            <p:nvSpPr>
              <p:cNvPr name="Freeform 77" id="77"/>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78" id="78"/>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grpSp>
        <p:nvGrpSpPr>
          <p:cNvPr name="Group 79" id="79"/>
          <p:cNvGrpSpPr/>
          <p:nvPr/>
        </p:nvGrpSpPr>
        <p:grpSpPr>
          <a:xfrm rot="0">
            <a:off x="5803466" y="7652782"/>
            <a:ext cx="1364706" cy="2040583"/>
            <a:chOff x="0" y="0"/>
            <a:chExt cx="1819608" cy="2720777"/>
          </a:xfrm>
        </p:grpSpPr>
        <p:grpSp>
          <p:nvGrpSpPr>
            <p:cNvPr name="Group 80" id="80"/>
            <p:cNvGrpSpPr>
              <a:grpSpLocks noChangeAspect="true"/>
            </p:cNvGrpSpPr>
            <p:nvPr/>
          </p:nvGrpSpPr>
          <p:grpSpPr>
            <a:xfrm rot="0">
              <a:off x="75829" y="106711"/>
              <a:ext cx="1642180" cy="2437516"/>
              <a:chOff x="0" y="0"/>
              <a:chExt cx="3304032" cy="4904232"/>
            </a:xfrm>
          </p:grpSpPr>
          <p:sp>
            <p:nvSpPr>
              <p:cNvPr name="Freeform 81" id="81"/>
              <p:cNvSpPr/>
              <p:nvPr/>
            </p:nvSpPr>
            <p:spPr>
              <a:xfrm flipH="false" flipV="false" rot="0">
                <a:off x="0" y="0"/>
                <a:ext cx="3304032" cy="4904232"/>
              </a:xfrm>
              <a:custGeom>
                <a:avLst/>
                <a:gdLst/>
                <a:ahLst/>
                <a:cxnLst/>
                <a:rect r="r" b="b" t="t" l="l"/>
                <a:pathLst>
                  <a:path h="4904232" w="3304032">
                    <a:moveTo>
                      <a:pt x="3304032" y="4904232"/>
                    </a:moveTo>
                    <a:lnTo>
                      <a:pt x="0" y="4904232"/>
                    </a:lnTo>
                    <a:lnTo>
                      <a:pt x="0" y="0"/>
                    </a:lnTo>
                    <a:lnTo>
                      <a:pt x="3304032" y="0"/>
                    </a:lnTo>
                    <a:lnTo>
                      <a:pt x="3304032" y="4904232"/>
                    </a:lnTo>
                    <a:close/>
                  </a:path>
                </a:pathLst>
              </a:custGeom>
              <a:blipFill>
                <a:blip r:embed="rId3"/>
                <a:stretch>
                  <a:fillRect l="0" t="-654" r="0" b="-654"/>
                </a:stretch>
              </a:blipFill>
            </p:spPr>
          </p:sp>
          <p:sp>
            <p:nvSpPr>
              <p:cNvPr name="Freeform 82" id="82"/>
              <p:cNvSpPr/>
              <p:nvPr/>
            </p:nvSpPr>
            <p:spPr>
              <a:xfrm flipH="false" flipV="false" rot="0">
                <a:off x="77287" y="70236"/>
                <a:ext cx="3150561" cy="3968517"/>
              </a:xfrm>
              <a:custGeom>
                <a:avLst/>
                <a:gdLst/>
                <a:ahLst/>
                <a:cxnLst/>
                <a:rect r="r" b="b" t="t" l="l"/>
                <a:pathLst>
                  <a:path h="3968517" w="3150561">
                    <a:moveTo>
                      <a:pt x="3150562" y="0"/>
                    </a:moveTo>
                    <a:lnTo>
                      <a:pt x="3127307" y="3968517"/>
                    </a:lnTo>
                    <a:lnTo>
                      <a:pt x="0" y="3951752"/>
                    </a:lnTo>
                    <a:lnTo>
                      <a:pt x="34018" y="0"/>
                    </a:lnTo>
                    <a:lnTo>
                      <a:pt x="3150562" y="0"/>
                    </a:lnTo>
                    <a:close/>
                  </a:path>
                </a:pathLst>
              </a:custGeom>
              <a:solidFill>
                <a:srgbClr val="000000"/>
              </a:solidFill>
            </p:spPr>
          </p:sp>
        </p:grpSp>
        <p:grpSp>
          <p:nvGrpSpPr>
            <p:cNvPr name="Group 83" id="83"/>
            <p:cNvGrpSpPr/>
            <p:nvPr/>
          </p:nvGrpSpPr>
          <p:grpSpPr>
            <a:xfrm rot="0">
              <a:off x="75829" y="1938573"/>
              <a:ext cx="1642180" cy="605654"/>
              <a:chOff x="0" y="0"/>
              <a:chExt cx="324381" cy="119635"/>
            </a:xfrm>
          </p:grpSpPr>
          <p:sp>
            <p:nvSpPr>
              <p:cNvPr name="Freeform 84" id="84"/>
              <p:cNvSpPr/>
              <p:nvPr/>
            </p:nvSpPr>
            <p:spPr>
              <a:xfrm flipH="false" flipV="false" rot="0">
                <a:off x="0" y="0"/>
                <a:ext cx="324381" cy="119635"/>
              </a:xfrm>
              <a:custGeom>
                <a:avLst/>
                <a:gdLst/>
                <a:ahLst/>
                <a:cxnLst/>
                <a:rect r="r" b="b" t="t" l="l"/>
                <a:pathLst>
                  <a:path h="119635" w="324381">
                    <a:moveTo>
                      <a:pt x="0" y="0"/>
                    </a:moveTo>
                    <a:lnTo>
                      <a:pt x="324381" y="0"/>
                    </a:lnTo>
                    <a:lnTo>
                      <a:pt x="324381" y="119635"/>
                    </a:lnTo>
                    <a:lnTo>
                      <a:pt x="0" y="119635"/>
                    </a:lnTo>
                    <a:close/>
                  </a:path>
                </a:pathLst>
              </a:custGeom>
              <a:solidFill>
                <a:srgbClr val="FFFFFF"/>
              </a:solidFill>
            </p:spPr>
          </p:sp>
          <p:sp>
            <p:nvSpPr>
              <p:cNvPr name="TextBox 85" id="85"/>
              <p:cNvSpPr txBox="true"/>
              <p:nvPr/>
            </p:nvSpPr>
            <p:spPr>
              <a:xfrm>
                <a:off x="0" y="-19050"/>
                <a:ext cx="324381" cy="138685"/>
              </a:xfrm>
              <a:prstGeom prst="rect">
                <a:avLst/>
              </a:prstGeom>
            </p:spPr>
            <p:txBody>
              <a:bodyPr anchor="ctr" rtlCol="false" tIns="50800" lIns="50800" bIns="50800" rIns="50800"/>
              <a:lstStyle/>
              <a:p>
                <a:pPr algn="ctr">
                  <a:lnSpc>
                    <a:spcPts val="1986"/>
                  </a:lnSpc>
                </a:pPr>
              </a:p>
            </p:txBody>
          </p:sp>
        </p:grpSp>
        <p:sp>
          <p:nvSpPr>
            <p:cNvPr name="TextBox 86" id="86"/>
            <p:cNvSpPr txBox="true"/>
            <p:nvPr/>
          </p:nvSpPr>
          <p:spPr>
            <a:xfrm rot="0">
              <a:off x="177429" y="2013286"/>
              <a:ext cx="1642180" cy="360977"/>
            </a:xfrm>
            <a:prstGeom prst="rect">
              <a:avLst/>
            </a:prstGeom>
          </p:spPr>
          <p:txBody>
            <a:bodyPr anchor="t" rtlCol="false" tIns="0" lIns="0" bIns="0" rIns="0">
              <a:spAutoFit/>
            </a:bodyPr>
            <a:lstStyle/>
            <a:p>
              <a:pPr algn="l">
                <a:lnSpc>
                  <a:spcPts val="1146"/>
                </a:lnSpc>
              </a:pPr>
              <a:r>
                <a:rPr lang="en-US" sz="818" b="true">
                  <a:solidFill>
                    <a:srgbClr val="19191E"/>
                  </a:solidFill>
                  <a:latin typeface="Nunito Bold"/>
                  <a:ea typeface="Nunito Bold"/>
                  <a:cs typeface="Nunito Bold"/>
                  <a:sym typeface="Nunito Bold"/>
                </a:rPr>
                <a:t>#000000 </a:t>
              </a:r>
            </a:p>
            <a:p>
              <a:pPr algn="l">
                <a:lnSpc>
                  <a:spcPts val="1146"/>
                </a:lnSpc>
              </a:pPr>
              <a:r>
                <a:rPr lang="en-US" sz="818">
                  <a:solidFill>
                    <a:srgbClr val="19191E"/>
                  </a:solidFill>
                  <a:latin typeface="Nunito"/>
                  <a:ea typeface="Nunito"/>
                  <a:cs typeface="Nunito"/>
                  <a:sym typeface="Nunito"/>
                </a:rPr>
                <a:t>RGB(0, 0, 0)</a:t>
              </a:r>
            </a:p>
          </p:txBody>
        </p:sp>
        <p:grpSp>
          <p:nvGrpSpPr>
            <p:cNvPr name="Group 87" id="87"/>
            <p:cNvGrpSpPr/>
            <p:nvPr/>
          </p:nvGrpSpPr>
          <p:grpSpPr>
            <a:xfrm rot="0">
              <a:off x="0" y="0"/>
              <a:ext cx="139329" cy="2720777"/>
              <a:chOff x="0" y="0"/>
              <a:chExt cx="27522" cy="537437"/>
            </a:xfrm>
          </p:grpSpPr>
          <p:sp>
            <p:nvSpPr>
              <p:cNvPr name="Freeform 88" id="88"/>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89" id="89"/>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nvGrpSpPr>
            <p:cNvPr name="Group 90" id="90"/>
            <p:cNvGrpSpPr/>
            <p:nvPr/>
          </p:nvGrpSpPr>
          <p:grpSpPr>
            <a:xfrm rot="0">
              <a:off x="1638654" y="0"/>
              <a:ext cx="139329" cy="2720777"/>
              <a:chOff x="0" y="0"/>
              <a:chExt cx="27522" cy="537437"/>
            </a:xfrm>
          </p:grpSpPr>
          <p:sp>
            <p:nvSpPr>
              <p:cNvPr name="Freeform 91" id="91"/>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92" id="92"/>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grpSp>
        <p:nvGrpSpPr>
          <p:cNvPr name="Group 93" id="93"/>
          <p:cNvGrpSpPr/>
          <p:nvPr/>
        </p:nvGrpSpPr>
        <p:grpSpPr>
          <a:xfrm rot="0">
            <a:off x="7118269" y="7652782"/>
            <a:ext cx="1364706" cy="2040583"/>
            <a:chOff x="0" y="0"/>
            <a:chExt cx="1819608" cy="2720777"/>
          </a:xfrm>
        </p:grpSpPr>
        <p:grpSp>
          <p:nvGrpSpPr>
            <p:cNvPr name="Group 94" id="94"/>
            <p:cNvGrpSpPr>
              <a:grpSpLocks noChangeAspect="true"/>
            </p:cNvGrpSpPr>
            <p:nvPr/>
          </p:nvGrpSpPr>
          <p:grpSpPr>
            <a:xfrm rot="0">
              <a:off x="75829" y="106711"/>
              <a:ext cx="1642180" cy="2437516"/>
              <a:chOff x="0" y="0"/>
              <a:chExt cx="3304032" cy="4904232"/>
            </a:xfrm>
          </p:grpSpPr>
          <p:sp>
            <p:nvSpPr>
              <p:cNvPr name="Freeform 95" id="95"/>
              <p:cNvSpPr/>
              <p:nvPr/>
            </p:nvSpPr>
            <p:spPr>
              <a:xfrm flipH="false" flipV="false" rot="0">
                <a:off x="0" y="0"/>
                <a:ext cx="3304032" cy="4904232"/>
              </a:xfrm>
              <a:custGeom>
                <a:avLst/>
                <a:gdLst/>
                <a:ahLst/>
                <a:cxnLst/>
                <a:rect r="r" b="b" t="t" l="l"/>
                <a:pathLst>
                  <a:path h="4904232" w="3304032">
                    <a:moveTo>
                      <a:pt x="3304032" y="4904232"/>
                    </a:moveTo>
                    <a:lnTo>
                      <a:pt x="0" y="4904232"/>
                    </a:lnTo>
                    <a:lnTo>
                      <a:pt x="0" y="0"/>
                    </a:lnTo>
                    <a:lnTo>
                      <a:pt x="3304032" y="0"/>
                    </a:lnTo>
                    <a:lnTo>
                      <a:pt x="3304032" y="4904232"/>
                    </a:lnTo>
                    <a:close/>
                  </a:path>
                </a:pathLst>
              </a:custGeom>
              <a:blipFill>
                <a:blip r:embed="rId3"/>
                <a:stretch>
                  <a:fillRect l="0" t="-654" r="0" b="-654"/>
                </a:stretch>
              </a:blipFill>
            </p:spPr>
          </p:sp>
          <p:sp>
            <p:nvSpPr>
              <p:cNvPr name="Freeform 96" id="96"/>
              <p:cNvSpPr/>
              <p:nvPr/>
            </p:nvSpPr>
            <p:spPr>
              <a:xfrm flipH="false" flipV="false" rot="0">
                <a:off x="77287" y="70236"/>
                <a:ext cx="3150561" cy="3968517"/>
              </a:xfrm>
              <a:custGeom>
                <a:avLst/>
                <a:gdLst/>
                <a:ahLst/>
                <a:cxnLst/>
                <a:rect r="r" b="b" t="t" l="l"/>
                <a:pathLst>
                  <a:path h="3968517" w="3150561">
                    <a:moveTo>
                      <a:pt x="3150562" y="0"/>
                    </a:moveTo>
                    <a:lnTo>
                      <a:pt x="3127307" y="3968517"/>
                    </a:lnTo>
                    <a:lnTo>
                      <a:pt x="0" y="3951752"/>
                    </a:lnTo>
                    <a:lnTo>
                      <a:pt x="34018" y="0"/>
                    </a:lnTo>
                    <a:lnTo>
                      <a:pt x="3150562" y="0"/>
                    </a:lnTo>
                    <a:close/>
                  </a:path>
                </a:pathLst>
              </a:custGeom>
              <a:solidFill>
                <a:srgbClr val="595758"/>
              </a:solidFill>
            </p:spPr>
          </p:sp>
        </p:grpSp>
        <p:grpSp>
          <p:nvGrpSpPr>
            <p:cNvPr name="Group 97" id="97"/>
            <p:cNvGrpSpPr/>
            <p:nvPr/>
          </p:nvGrpSpPr>
          <p:grpSpPr>
            <a:xfrm rot="0">
              <a:off x="75829" y="1938573"/>
              <a:ext cx="1642180" cy="605654"/>
              <a:chOff x="0" y="0"/>
              <a:chExt cx="324381" cy="119635"/>
            </a:xfrm>
          </p:grpSpPr>
          <p:sp>
            <p:nvSpPr>
              <p:cNvPr name="Freeform 98" id="98"/>
              <p:cNvSpPr/>
              <p:nvPr/>
            </p:nvSpPr>
            <p:spPr>
              <a:xfrm flipH="false" flipV="false" rot="0">
                <a:off x="0" y="0"/>
                <a:ext cx="324381" cy="119635"/>
              </a:xfrm>
              <a:custGeom>
                <a:avLst/>
                <a:gdLst/>
                <a:ahLst/>
                <a:cxnLst/>
                <a:rect r="r" b="b" t="t" l="l"/>
                <a:pathLst>
                  <a:path h="119635" w="324381">
                    <a:moveTo>
                      <a:pt x="0" y="0"/>
                    </a:moveTo>
                    <a:lnTo>
                      <a:pt x="324381" y="0"/>
                    </a:lnTo>
                    <a:lnTo>
                      <a:pt x="324381" y="119635"/>
                    </a:lnTo>
                    <a:lnTo>
                      <a:pt x="0" y="119635"/>
                    </a:lnTo>
                    <a:close/>
                  </a:path>
                </a:pathLst>
              </a:custGeom>
              <a:solidFill>
                <a:srgbClr val="FFFFFF"/>
              </a:solidFill>
            </p:spPr>
          </p:sp>
          <p:sp>
            <p:nvSpPr>
              <p:cNvPr name="TextBox 99" id="99"/>
              <p:cNvSpPr txBox="true"/>
              <p:nvPr/>
            </p:nvSpPr>
            <p:spPr>
              <a:xfrm>
                <a:off x="0" y="-19050"/>
                <a:ext cx="324381" cy="138685"/>
              </a:xfrm>
              <a:prstGeom prst="rect">
                <a:avLst/>
              </a:prstGeom>
            </p:spPr>
            <p:txBody>
              <a:bodyPr anchor="ctr" rtlCol="false" tIns="50800" lIns="50800" bIns="50800" rIns="50800"/>
              <a:lstStyle/>
              <a:p>
                <a:pPr algn="ctr">
                  <a:lnSpc>
                    <a:spcPts val="1986"/>
                  </a:lnSpc>
                </a:pPr>
              </a:p>
            </p:txBody>
          </p:sp>
        </p:grpSp>
        <p:sp>
          <p:nvSpPr>
            <p:cNvPr name="TextBox 100" id="100"/>
            <p:cNvSpPr txBox="true"/>
            <p:nvPr/>
          </p:nvSpPr>
          <p:spPr>
            <a:xfrm rot="0">
              <a:off x="177429" y="2013286"/>
              <a:ext cx="1642180" cy="360977"/>
            </a:xfrm>
            <a:prstGeom prst="rect">
              <a:avLst/>
            </a:prstGeom>
          </p:spPr>
          <p:txBody>
            <a:bodyPr anchor="t" rtlCol="false" tIns="0" lIns="0" bIns="0" rIns="0">
              <a:spAutoFit/>
            </a:bodyPr>
            <a:lstStyle/>
            <a:p>
              <a:pPr algn="l">
                <a:lnSpc>
                  <a:spcPts val="1146"/>
                </a:lnSpc>
              </a:pPr>
              <a:r>
                <a:rPr lang="en-US" sz="818" b="true">
                  <a:solidFill>
                    <a:srgbClr val="19191E"/>
                  </a:solidFill>
                  <a:latin typeface="Nunito Bold"/>
                  <a:ea typeface="Nunito Bold"/>
                  <a:cs typeface="Nunito Bold"/>
                  <a:sym typeface="Nunito Bold"/>
                </a:rPr>
                <a:t>#595758 </a:t>
              </a:r>
            </a:p>
            <a:p>
              <a:pPr algn="l">
                <a:lnSpc>
                  <a:spcPts val="1146"/>
                </a:lnSpc>
              </a:pPr>
              <a:r>
                <a:rPr lang="en-US" sz="818">
                  <a:solidFill>
                    <a:srgbClr val="19191E"/>
                  </a:solidFill>
                  <a:latin typeface="Nunito"/>
                  <a:ea typeface="Nunito"/>
                  <a:cs typeface="Nunito"/>
                  <a:sym typeface="Nunito"/>
                </a:rPr>
                <a:t>RGB(30, 34, 170)</a:t>
              </a:r>
            </a:p>
          </p:txBody>
        </p:sp>
        <p:grpSp>
          <p:nvGrpSpPr>
            <p:cNvPr name="Group 101" id="101"/>
            <p:cNvGrpSpPr/>
            <p:nvPr/>
          </p:nvGrpSpPr>
          <p:grpSpPr>
            <a:xfrm rot="0">
              <a:off x="0" y="0"/>
              <a:ext cx="139329" cy="2720777"/>
              <a:chOff x="0" y="0"/>
              <a:chExt cx="27522" cy="537437"/>
            </a:xfrm>
          </p:grpSpPr>
          <p:sp>
            <p:nvSpPr>
              <p:cNvPr name="Freeform 102" id="102"/>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103" id="103"/>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nvGrpSpPr>
            <p:cNvPr name="Group 104" id="104"/>
            <p:cNvGrpSpPr/>
            <p:nvPr/>
          </p:nvGrpSpPr>
          <p:grpSpPr>
            <a:xfrm rot="0">
              <a:off x="1638654" y="0"/>
              <a:ext cx="139329" cy="2720777"/>
              <a:chOff x="0" y="0"/>
              <a:chExt cx="27522" cy="537437"/>
            </a:xfrm>
          </p:grpSpPr>
          <p:sp>
            <p:nvSpPr>
              <p:cNvPr name="Freeform 105" id="105"/>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106" id="106"/>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grpSp>
        <p:nvGrpSpPr>
          <p:cNvPr name="Group 107" id="107"/>
          <p:cNvGrpSpPr/>
          <p:nvPr/>
        </p:nvGrpSpPr>
        <p:grpSpPr>
          <a:xfrm rot="0">
            <a:off x="8433072" y="7652782"/>
            <a:ext cx="1364706" cy="2040583"/>
            <a:chOff x="0" y="0"/>
            <a:chExt cx="1819608" cy="2720777"/>
          </a:xfrm>
        </p:grpSpPr>
        <p:grpSp>
          <p:nvGrpSpPr>
            <p:cNvPr name="Group 108" id="108"/>
            <p:cNvGrpSpPr>
              <a:grpSpLocks noChangeAspect="true"/>
            </p:cNvGrpSpPr>
            <p:nvPr/>
          </p:nvGrpSpPr>
          <p:grpSpPr>
            <a:xfrm rot="0">
              <a:off x="75829" y="106711"/>
              <a:ext cx="1642180" cy="2437516"/>
              <a:chOff x="0" y="0"/>
              <a:chExt cx="3304032" cy="4904232"/>
            </a:xfrm>
          </p:grpSpPr>
          <p:sp>
            <p:nvSpPr>
              <p:cNvPr name="Freeform 109" id="109"/>
              <p:cNvSpPr/>
              <p:nvPr/>
            </p:nvSpPr>
            <p:spPr>
              <a:xfrm flipH="false" flipV="false" rot="0">
                <a:off x="0" y="0"/>
                <a:ext cx="3304032" cy="4904232"/>
              </a:xfrm>
              <a:custGeom>
                <a:avLst/>
                <a:gdLst/>
                <a:ahLst/>
                <a:cxnLst/>
                <a:rect r="r" b="b" t="t" l="l"/>
                <a:pathLst>
                  <a:path h="4904232" w="3304032">
                    <a:moveTo>
                      <a:pt x="3304032" y="4904232"/>
                    </a:moveTo>
                    <a:lnTo>
                      <a:pt x="0" y="4904232"/>
                    </a:lnTo>
                    <a:lnTo>
                      <a:pt x="0" y="0"/>
                    </a:lnTo>
                    <a:lnTo>
                      <a:pt x="3304032" y="0"/>
                    </a:lnTo>
                    <a:lnTo>
                      <a:pt x="3304032" y="4904232"/>
                    </a:lnTo>
                    <a:close/>
                  </a:path>
                </a:pathLst>
              </a:custGeom>
              <a:blipFill>
                <a:blip r:embed="rId3"/>
                <a:stretch>
                  <a:fillRect l="0" t="-654" r="0" b="-654"/>
                </a:stretch>
              </a:blipFill>
            </p:spPr>
          </p:sp>
          <p:sp>
            <p:nvSpPr>
              <p:cNvPr name="Freeform 110" id="110"/>
              <p:cNvSpPr/>
              <p:nvPr/>
            </p:nvSpPr>
            <p:spPr>
              <a:xfrm flipH="false" flipV="false" rot="0">
                <a:off x="77287" y="70236"/>
                <a:ext cx="3150561" cy="3968517"/>
              </a:xfrm>
              <a:custGeom>
                <a:avLst/>
                <a:gdLst/>
                <a:ahLst/>
                <a:cxnLst/>
                <a:rect r="r" b="b" t="t" l="l"/>
                <a:pathLst>
                  <a:path h="3968517" w="3150561">
                    <a:moveTo>
                      <a:pt x="3150562" y="0"/>
                    </a:moveTo>
                    <a:lnTo>
                      <a:pt x="3127307" y="3968517"/>
                    </a:lnTo>
                    <a:lnTo>
                      <a:pt x="0" y="3951752"/>
                    </a:lnTo>
                    <a:lnTo>
                      <a:pt x="34018" y="0"/>
                    </a:lnTo>
                    <a:lnTo>
                      <a:pt x="3150562" y="0"/>
                    </a:lnTo>
                    <a:close/>
                  </a:path>
                </a:pathLst>
              </a:custGeom>
              <a:solidFill>
                <a:srgbClr val="E2A428"/>
              </a:solidFill>
            </p:spPr>
          </p:sp>
        </p:grpSp>
        <p:grpSp>
          <p:nvGrpSpPr>
            <p:cNvPr name="Group 111" id="111"/>
            <p:cNvGrpSpPr/>
            <p:nvPr/>
          </p:nvGrpSpPr>
          <p:grpSpPr>
            <a:xfrm rot="0">
              <a:off x="75829" y="1938573"/>
              <a:ext cx="1642180" cy="605654"/>
              <a:chOff x="0" y="0"/>
              <a:chExt cx="324381" cy="119635"/>
            </a:xfrm>
          </p:grpSpPr>
          <p:sp>
            <p:nvSpPr>
              <p:cNvPr name="Freeform 112" id="112"/>
              <p:cNvSpPr/>
              <p:nvPr/>
            </p:nvSpPr>
            <p:spPr>
              <a:xfrm flipH="false" flipV="false" rot="0">
                <a:off x="0" y="0"/>
                <a:ext cx="324381" cy="119635"/>
              </a:xfrm>
              <a:custGeom>
                <a:avLst/>
                <a:gdLst/>
                <a:ahLst/>
                <a:cxnLst/>
                <a:rect r="r" b="b" t="t" l="l"/>
                <a:pathLst>
                  <a:path h="119635" w="324381">
                    <a:moveTo>
                      <a:pt x="0" y="0"/>
                    </a:moveTo>
                    <a:lnTo>
                      <a:pt x="324381" y="0"/>
                    </a:lnTo>
                    <a:lnTo>
                      <a:pt x="324381" y="119635"/>
                    </a:lnTo>
                    <a:lnTo>
                      <a:pt x="0" y="119635"/>
                    </a:lnTo>
                    <a:close/>
                  </a:path>
                </a:pathLst>
              </a:custGeom>
              <a:solidFill>
                <a:srgbClr val="FFFFFF"/>
              </a:solidFill>
            </p:spPr>
          </p:sp>
          <p:sp>
            <p:nvSpPr>
              <p:cNvPr name="TextBox 113" id="113"/>
              <p:cNvSpPr txBox="true"/>
              <p:nvPr/>
            </p:nvSpPr>
            <p:spPr>
              <a:xfrm>
                <a:off x="0" y="-19050"/>
                <a:ext cx="324381" cy="138685"/>
              </a:xfrm>
              <a:prstGeom prst="rect">
                <a:avLst/>
              </a:prstGeom>
            </p:spPr>
            <p:txBody>
              <a:bodyPr anchor="ctr" rtlCol="false" tIns="50800" lIns="50800" bIns="50800" rIns="50800"/>
              <a:lstStyle/>
              <a:p>
                <a:pPr algn="ctr">
                  <a:lnSpc>
                    <a:spcPts val="1986"/>
                  </a:lnSpc>
                </a:pPr>
              </a:p>
            </p:txBody>
          </p:sp>
        </p:grpSp>
        <p:sp>
          <p:nvSpPr>
            <p:cNvPr name="TextBox 114" id="114"/>
            <p:cNvSpPr txBox="true"/>
            <p:nvPr/>
          </p:nvSpPr>
          <p:spPr>
            <a:xfrm rot="0">
              <a:off x="177429" y="2013286"/>
              <a:ext cx="1642180" cy="360977"/>
            </a:xfrm>
            <a:prstGeom prst="rect">
              <a:avLst/>
            </a:prstGeom>
          </p:spPr>
          <p:txBody>
            <a:bodyPr anchor="t" rtlCol="false" tIns="0" lIns="0" bIns="0" rIns="0">
              <a:spAutoFit/>
            </a:bodyPr>
            <a:lstStyle/>
            <a:p>
              <a:pPr algn="l">
                <a:lnSpc>
                  <a:spcPts val="1146"/>
                </a:lnSpc>
              </a:pPr>
              <a:r>
                <a:rPr lang="en-US" sz="818" b="true">
                  <a:solidFill>
                    <a:srgbClr val="19191E"/>
                  </a:solidFill>
                  <a:latin typeface="Nunito Bold"/>
                  <a:ea typeface="Nunito Bold"/>
                  <a:cs typeface="Nunito Bold"/>
                  <a:sym typeface="Nunito Bold"/>
                </a:rPr>
                <a:t>#E2A428 </a:t>
              </a:r>
            </a:p>
            <a:p>
              <a:pPr algn="l">
                <a:lnSpc>
                  <a:spcPts val="1146"/>
                </a:lnSpc>
              </a:pPr>
              <a:r>
                <a:rPr lang="en-US" sz="818">
                  <a:solidFill>
                    <a:srgbClr val="19191E"/>
                  </a:solidFill>
                  <a:latin typeface="Nunito"/>
                  <a:ea typeface="Nunito"/>
                  <a:cs typeface="Nunito"/>
                  <a:sym typeface="Nunito"/>
                </a:rPr>
                <a:t>RGB(255, 130, 0)</a:t>
              </a:r>
            </a:p>
          </p:txBody>
        </p:sp>
        <p:grpSp>
          <p:nvGrpSpPr>
            <p:cNvPr name="Group 115" id="115"/>
            <p:cNvGrpSpPr/>
            <p:nvPr/>
          </p:nvGrpSpPr>
          <p:grpSpPr>
            <a:xfrm rot="0">
              <a:off x="0" y="0"/>
              <a:ext cx="139329" cy="2720777"/>
              <a:chOff x="0" y="0"/>
              <a:chExt cx="27522" cy="537437"/>
            </a:xfrm>
          </p:grpSpPr>
          <p:sp>
            <p:nvSpPr>
              <p:cNvPr name="Freeform 116" id="116"/>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117" id="117"/>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nvGrpSpPr>
            <p:cNvPr name="Group 118" id="118"/>
            <p:cNvGrpSpPr/>
            <p:nvPr/>
          </p:nvGrpSpPr>
          <p:grpSpPr>
            <a:xfrm rot="0">
              <a:off x="1638654" y="0"/>
              <a:ext cx="139329" cy="2720777"/>
              <a:chOff x="0" y="0"/>
              <a:chExt cx="27522" cy="537437"/>
            </a:xfrm>
          </p:grpSpPr>
          <p:sp>
            <p:nvSpPr>
              <p:cNvPr name="Freeform 119" id="119"/>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120" id="120"/>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grpSp>
        <p:nvGrpSpPr>
          <p:cNvPr name="Group 121" id="121"/>
          <p:cNvGrpSpPr/>
          <p:nvPr/>
        </p:nvGrpSpPr>
        <p:grpSpPr>
          <a:xfrm rot="0">
            <a:off x="9747875" y="7652782"/>
            <a:ext cx="1364706" cy="2040583"/>
            <a:chOff x="0" y="0"/>
            <a:chExt cx="1819608" cy="2720777"/>
          </a:xfrm>
        </p:grpSpPr>
        <p:grpSp>
          <p:nvGrpSpPr>
            <p:cNvPr name="Group 122" id="122"/>
            <p:cNvGrpSpPr>
              <a:grpSpLocks noChangeAspect="true"/>
            </p:cNvGrpSpPr>
            <p:nvPr/>
          </p:nvGrpSpPr>
          <p:grpSpPr>
            <a:xfrm rot="0">
              <a:off x="75829" y="106711"/>
              <a:ext cx="1642180" cy="2437516"/>
              <a:chOff x="0" y="0"/>
              <a:chExt cx="3304032" cy="4904232"/>
            </a:xfrm>
          </p:grpSpPr>
          <p:sp>
            <p:nvSpPr>
              <p:cNvPr name="Freeform 123" id="123"/>
              <p:cNvSpPr/>
              <p:nvPr/>
            </p:nvSpPr>
            <p:spPr>
              <a:xfrm flipH="false" flipV="false" rot="0">
                <a:off x="0" y="0"/>
                <a:ext cx="3304032" cy="4904232"/>
              </a:xfrm>
              <a:custGeom>
                <a:avLst/>
                <a:gdLst/>
                <a:ahLst/>
                <a:cxnLst/>
                <a:rect r="r" b="b" t="t" l="l"/>
                <a:pathLst>
                  <a:path h="4904232" w="3304032">
                    <a:moveTo>
                      <a:pt x="3304032" y="4904232"/>
                    </a:moveTo>
                    <a:lnTo>
                      <a:pt x="0" y="4904232"/>
                    </a:lnTo>
                    <a:lnTo>
                      <a:pt x="0" y="0"/>
                    </a:lnTo>
                    <a:lnTo>
                      <a:pt x="3304032" y="0"/>
                    </a:lnTo>
                    <a:lnTo>
                      <a:pt x="3304032" y="4904232"/>
                    </a:lnTo>
                    <a:close/>
                  </a:path>
                </a:pathLst>
              </a:custGeom>
              <a:blipFill>
                <a:blip r:embed="rId3"/>
                <a:stretch>
                  <a:fillRect l="0" t="-654" r="0" b="-654"/>
                </a:stretch>
              </a:blipFill>
            </p:spPr>
          </p:sp>
          <p:sp>
            <p:nvSpPr>
              <p:cNvPr name="Freeform 124" id="124"/>
              <p:cNvSpPr/>
              <p:nvPr/>
            </p:nvSpPr>
            <p:spPr>
              <a:xfrm flipH="false" flipV="false" rot="0">
                <a:off x="77287" y="70236"/>
                <a:ext cx="3150561" cy="3968517"/>
              </a:xfrm>
              <a:custGeom>
                <a:avLst/>
                <a:gdLst/>
                <a:ahLst/>
                <a:cxnLst/>
                <a:rect r="r" b="b" t="t" l="l"/>
                <a:pathLst>
                  <a:path h="3968517" w="3150561">
                    <a:moveTo>
                      <a:pt x="3150562" y="0"/>
                    </a:moveTo>
                    <a:lnTo>
                      <a:pt x="3127307" y="3968517"/>
                    </a:lnTo>
                    <a:lnTo>
                      <a:pt x="0" y="3951752"/>
                    </a:lnTo>
                    <a:lnTo>
                      <a:pt x="34018" y="0"/>
                    </a:lnTo>
                    <a:lnTo>
                      <a:pt x="3150562" y="0"/>
                    </a:lnTo>
                    <a:close/>
                  </a:path>
                </a:pathLst>
              </a:custGeom>
              <a:solidFill>
                <a:srgbClr val="FFD867"/>
              </a:solidFill>
            </p:spPr>
          </p:sp>
        </p:grpSp>
        <p:grpSp>
          <p:nvGrpSpPr>
            <p:cNvPr name="Group 125" id="125"/>
            <p:cNvGrpSpPr/>
            <p:nvPr/>
          </p:nvGrpSpPr>
          <p:grpSpPr>
            <a:xfrm rot="0">
              <a:off x="75829" y="1938573"/>
              <a:ext cx="1642180" cy="605654"/>
              <a:chOff x="0" y="0"/>
              <a:chExt cx="324381" cy="119635"/>
            </a:xfrm>
          </p:grpSpPr>
          <p:sp>
            <p:nvSpPr>
              <p:cNvPr name="Freeform 126" id="126"/>
              <p:cNvSpPr/>
              <p:nvPr/>
            </p:nvSpPr>
            <p:spPr>
              <a:xfrm flipH="false" flipV="false" rot="0">
                <a:off x="0" y="0"/>
                <a:ext cx="324381" cy="119635"/>
              </a:xfrm>
              <a:custGeom>
                <a:avLst/>
                <a:gdLst/>
                <a:ahLst/>
                <a:cxnLst/>
                <a:rect r="r" b="b" t="t" l="l"/>
                <a:pathLst>
                  <a:path h="119635" w="324381">
                    <a:moveTo>
                      <a:pt x="0" y="0"/>
                    </a:moveTo>
                    <a:lnTo>
                      <a:pt x="324381" y="0"/>
                    </a:lnTo>
                    <a:lnTo>
                      <a:pt x="324381" y="119635"/>
                    </a:lnTo>
                    <a:lnTo>
                      <a:pt x="0" y="119635"/>
                    </a:lnTo>
                    <a:close/>
                  </a:path>
                </a:pathLst>
              </a:custGeom>
              <a:solidFill>
                <a:srgbClr val="FFFFFF"/>
              </a:solidFill>
            </p:spPr>
          </p:sp>
          <p:sp>
            <p:nvSpPr>
              <p:cNvPr name="TextBox 127" id="127"/>
              <p:cNvSpPr txBox="true"/>
              <p:nvPr/>
            </p:nvSpPr>
            <p:spPr>
              <a:xfrm>
                <a:off x="0" y="-19050"/>
                <a:ext cx="324381" cy="138685"/>
              </a:xfrm>
              <a:prstGeom prst="rect">
                <a:avLst/>
              </a:prstGeom>
            </p:spPr>
            <p:txBody>
              <a:bodyPr anchor="ctr" rtlCol="false" tIns="50800" lIns="50800" bIns="50800" rIns="50800"/>
              <a:lstStyle/>
              <a:p>
                <a:pPr algn="ctr">
                  <a:lnSpc>
                    <a:spcPts val="1986"/>
                  </a:lnSpc>
                </a:pPr>
              </a:p>
            </p:txBody>
          </p:sp>
        </p:grpSp>
        <p:sp>
          <p:nvSpPr>
            <p:cNvPr name="TextBox 128" id="128"/>
            <p:cNvSpPr txBox="true"/>
            <p:nvPr/>
          </p:nvSpPr>
          <p:spPr>
            <a:xfrm rot="0">
              <a:off x="177429" y="2013286"/>
              <a:ext cx="1642180" cy="360977"/>
            </a:xfrm>
            <a:prstGeom prst="rect">
              <a:avLst/>
            </a:prstGeom>
          </p:spPr>
          <p:txBody>
            <a:bodyPr anchor="t" rtlCol="false" tIns="0" lIns="0" bIns="0" rIns="0">
              <a:spAutoFit/>
            </a:bodyPr>
            <a:lstStyle/>
            <a:p>
              <a:pPr algn="l">
                <a:lnSpc>
                  <a:spcPts val="1146"/>
                </a:lnSpc>
              </a:pPr>
              <a:r>
                <a:rPr lang="en-US" sz="818" b="true">
                  <a:solidFill>
                    <a:srgbClr val="19191E"/>
                  </a:solidFill>
                  <a:latin typeface="Nunito Bold"/>
                  <a:ea typeface="Nunito Bold"/>
                  <a:cs typeface="Nunito Bold"/>
                  <a:sym typeface="Nunito Bold"/>
                </a:rPr>
                <a:t>#FFD867 </a:t>
              </a:r>
            </a:p>
            <a:p>
              <a:pPr algn="l">
                <a:lnSpc>
                  <a:spcPts val="1146"/>
                </a:lnSpc>
              </a:pPr>
              <a:r>
                <a:rPr lang="en-US" sz="818">
                  <a:solidFill>
                    <a:srgbClr val="19191E"/>
                  </a:solidFill>
                  <a:latin typeface="Nunito"/>
                  <a:ea typeface="Nunito"/>
                  <a:cs typeface="Nunito"/>
                  <a:sym typeface="Nunito"/>
                </a:rPr>
                <a:t>RGB(118, 176, 229)</a:t>
              </a:r>
            </a:p>
          </p:txBody>
        </p:sp>
        <p:grpSp>
          <p:nvGrpSpPr>
            <p:cNvPr name="Group 129" id="129"/>
            <p:cNvGrpSpPr/>
            <p:nvPr/>
          </p:nvGrpSpPr>
          <p:grpSpPr>
            <a:xfrm rot="0">
              <a:off x="0" y="0"/>
              <a:ext cx="139329" cy="2720777"/>
              <a:chOff x="0" y="0"/>
              <a:chExt cx="27522" cy="537437"/>
            </a:xfrm>
          </p:grpSpPr>
          <p:sp>
            <p:nvSpPr>
              <p:cNvPr name="Freeform 130" id="130"/>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131" id="131"/>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nvGrpSpPr>
            <p:cNvPr name="Group 132" id="132"/>
            <p:cNvGrpSpPr/>
            <p:nvPr/>
          </p:nvGrpSpPr>
          <p:grpSpPr>
            <a:xfrm rot="0">
              <a:off x="1638654" y="0"/>
              <a:ext cx="139329" cy="2720777"/>
              <a:chOff x="0" y="0"/>
              <a:chExt cx="27522" cy="537437"/>
            </a:xfrm>
          </p:grpSpPr>
          <p:sp>
            <p:nvSpPr>
              <p:cNvPr name="Freeform 133" id="133"/>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134" id="134"/>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grpSp>
        <p:nvGrpSpPr>
          <p:cNvPr name="Group 135" id="135"/>
          <p:cNvGrpSpPr/>
          <p:nvPr/>
        </p:nvGrpSpPr>
        <p:grpSpPr>
          <a:xfrm rot="0">
            <a:off x="11062678" y="7652782"/>
            <a:ext cx="1364706" cy="2040583"/>
            <a:chOff x="0" y="0"/>
            <a:chExt cx="1819608" cy="2720777"/>
          </a:xfrm>
        </p:grpSpPr>
        <p:grpSp>
          <p:nvGrpSpPr>
            <p:cNvPr name="Group 136" id="136"/>
            <p:cNvGrpSpPr>
              <a:grpSpLocks noChangeAspect="true"/>
            </p:cNvGrpSpPr>
            <p:nvPr/>
          </p:nvGrpSpPr>
          <p:grpSpPr>
            <a:xfrm rot="0">
              <a:off x="75829" y="106711"/>
              <a:ext cx="1642180" cy="2437516"/>
              <a:chOff x="0" y="0"/>
              <a:chExt cx="3304032" cy="4904232"/>
            </a:xfrm>
          </p:grpSpPr>
          <p:sp>
            <p:nvSpPr>
              <p:cNvPr name="Freeform 137" id="137"/>
              <p:cNvSpPr/>
              <p:nvPr/>
            </p:nvSpPr>
            <p:spPr>
              <a:xfrm flipH="false" flipV="false" rot="0">
                <a:off x="0" y="0"/>
                <a:ext cx="3304032" cy="4904232"/>
              </a:xfrm>
              <a:custGeom>
                <a:avLst/>
                <a:gdLst/>
                <a:ahLst/>
                <a:cxnLst/>
                <a:rect r="r" b="b" t="t" l="l"/>
                <a:pathLst>
                  <a:path h="4904232" w="3304032">
                    <a:moveTo>
                      <a:pt x="3304032" y="4904232"/>
                    </a:moveTo>
                    <a:lnTo>
                      <a:pt x="0" y="4904232"/>
                    </a:lnTo>
                    <a:lnTo>
                      <a:pt x="0" y="0"/>
                    </a:lnTo>
                    <a:lnTo>
                      <a:pt x="3304032" y="0"/>
                    </a:lnTo>
                    <a:lnTo>
                      <a:pt x="3304032" y="4904232"/>
                    </a:lnTo>
                    <a:close/>
                  </a:path>
                </a:pathLst>
              </a:custGeom>
              <a:blipFill>
                <a:blip r:embed="rId3"/>
                <a:stretch>
                  <a:fillRect l="0" t="-654" r="0" b="-654"/>
                </a:stretch>
              </a:blipFill>
            </p:spPr>
          </p:sp>
          <p:sp>
            <p:nvSpPr>
              <p:cNvPr name="Freeform 138" id="138"/>
              <p:cNvSpPr/>
              <p:nvPr/>
            </p:nvSpPr>
            <p:spPr>
              <a:xfrm flipH="false" flipV="false" rot="0">
                <a:off x="77287" y="70236"/>
                <a:ext cx="3150561" cy="3968517"/>
              </a:xfrm>
              <a:custGeom>
                <a:avLst/>
                <a:gdLst/>
                <a:ahLst/>
                <a:cxnLst/>
                <a:rect r="r" b="b" t="t" l="l"/>
                <a:pathLst>
                  <a:path h="3968517" w="3150561">
                    <a:moveTo>
                      <a:pt x="3150562" y="0"/>
                    </a:moveTo>
                    <a:lnTo>
                      <a:pt x="3127307" y="3968517"/>
                    </a:lnTo>
                    <a:lnTo>
                      <a:pt x="0" y="3951752"/>
                    </a:lnTo>
                    <a:lnTo>
                      <a:pt x="34018" y="0"/>
                    </a:lnTo>
                    <a:lnTo>
                      <a:pt x="3150562" y="0"/>
                    </a:lnTo>
                    <a:close/>
                  </a:path>
                </a:pathLst>
              </a:custGeom>
              <a:solidFill>
                <a:srgbClr val="E9E9F7"/>
              </a:solidFill>
            </p:spPr>
          </p:sp>
        </p:grpSp>
        <p:grpSp>
          <p:nvGrpSpPr>
            <p:cNvPr name="Group 139" id="139"/>
            <p:cNvGrpSpPr/>
            <p:nvPr/>
          </p:nvGrpSpPr>
          <p:grpSpPr>
            <a:xfrm rot="0">
              <a:off x="75829" y="1938573"/>
              <a:ext cx="1642180" cy="605654"/>
              <a:chOff x="0" y="0"/>
              <a:chExt cx="324381" cy="119635"/>
            </a:xfrm>
          </p:grpSpPr>
          <p:sp>
            <p:nvSpPr>
              <p:cNvPr name="Freeform 140" id="140"/>
              <p:cNvSpPr/>
              <p:nvPr/>
            </p:nvSpPr>
            <p:spPr>
              <a:xfrm flipH="false" flipV="false" rot="0">
                <a:off x="0" y="0"/>
                <a:ext cx="324381" cy="119635"/>
              </a:xfrm>
              <a:custGeom>
                <a:avLst/>
                <a:gdLst/>
                <a:ahLst/>
                <a:cxnLst/>
                <a:rect r="r" b="b" t="t" l="l"/>
                <a:pathLst>
                  <a:path h="119635" w="324381">
                    <a:moveTo>
                      <a:pt x="0" y="0"/>
                    </a:moveTo>
                    <a:lnTo>
                      <a:pt x="324381" y="0"/>
                    </a:lnTo>
                    <a:lnTo>
                      <a:pt x="324381" y="119635"/>
                    </a:lnTo>
                    <a:lnTo>
                      <a:pt x="0" y="119635"/>
                    </a:lnTo>
                    <a:close/>
                  </a:path>
                </a:pathLst>
              </a:custGeom>
              <a:solidFill>
                <a:srgbClr val="FFFFFF"/>
              </a:solidFill>
            </p:spPr>
          </p:sp>
          <p:sp>
            <p:nvSpPr>
              <p:cNvPr name="TextBox 141" id="141"/>
              <p:cNvSpPr txBox="true"/>
              <p:nvPr/>
            </p:nvSpPr>
            <p:spPr>
              <a:xfrm>
                <a:off x="0" y="-19050"/>
                <a:ext cx="324381" cy="138685"/>
              </a:xfrm>
              <a:prstGeom prst="rect">
                <a:avLst/>
              </a:prstGeom>
            </p:spPr>
            <p:txBody>
              <a:bodyPr anchor="ctr" rtlCol="false" tIns="50800" lIns="50800" bIns="50800" rIns="50800"/>
              <a:lstStyle/>
              <a:p>
                <a:pPr algn="ctr">
                  <a:lnSpc>
                    <a:spcPts val="1986"/>
                  </a:lnSpc>
                </a:pPr>
              </a:p>
            </p:txBody>
          </p:sp>
        </p:grpSp>
        <p:sp>
          <p:nvSpPr>
            <p:cNvPr name="TextBox 142" id="142"/>
            <p:cNvSpPr txBox="true"/>
            <p:nvPr/>
          </p:nvSpPr>
          <p:spPr>
            <a:xfrm rot="0">
              <a:off x="177429" y="2013286"/>
              <a:ext cx="1642180" cy="360977"/>
            </a:xfrm>
            <a:prstGeom prst="rect">
              <a:avLst/>
            </a:prstGeom>
          </p:spPr>
          <p:txBody>
            <a:bodyPr anchor="t" rtlCol="false" tIns="0" lIns="0" bIns="0" rIns="0">
              <a:spAutoFit/>
            </a:bodyPr>
            <a:lstStyle/>
            <a:p>
              <a:pPr algn="l">
                <a:lnSpc>
                  <a:spcPts val="1146"/>
                </a:lnSpc>
              </a:pPr>
              <a:r>
                <a:rPr lang="en-US" sz="818" b="true">
                  <a:solidFill>
                    <a:srgbClr val="19191E"/>
                  </a:solidFill>
                  <a:latin typeface="Nunito Bold"/>
                  <a:ea typeface="Nunito Bold"/>
                  <a:cs typeface="Nunito Bold"/>
                  <a:sym typeface="Nunito Bold"/>
                </a:rPr>
                <a:t>#FFFFFF </a:t>
              </a:r>
            </a:p>
            <a:p>
              <a:pPr algn="l">
                <a:lnSpc>
                  <a:spcPts val="1146"/>
                </a:lnSpc>
              </a:pPr>
              <a:r>
                <a:rPr lang="en-US" sz="818">
                  <a:solidFill>
                    <a:srgbClr val="19191E"/>
                  </a:solidFill>
                  <a:latin typeface="Nunito"/>
                  <a:ea typeface="Nunito"/>
                  <a:cs typeface="Nunito"/>
                  <a:sym typeface="Nunito"/>
                </a:rPr>
                <a:t>RGB(233, 233, 247)</a:t>
              </a:r>
            </a:p>
          </p:txBody>
        </p:sp>
        <p:grpSp>
          <p:nvGrpSpPr>
            <p:cNvPr name="Group 143" id="143"/>
            <p:cNvGrpSpPr/>
            <p:nvPr/>
          </p:nvGrpSpPr>
          <p:grpSpPr>
            <a:xfrm rot="0">
              <a:off x="0" y="0"/>
              <a:ext cx="139329" cy="2720777"/>
              <a:chOff x="0" y="0"/>
              <a:chExt cx="27522" cy="537437"/>
            </a:xfrm>
          </p:grpSpPr>
          <p:sp>
            <p:nvSpPr>
              <p:cNvPr name="Freeform 144" id="144"/>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145" id="145"/>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nvGrpSpPr>
            <p:cNvPr name="Group 146" id="146"/>
            <p:cNvGrpSpPr/>
            <p:nvPr/>
          </p:nvGrpSpPr>
          <p:grpSpPr>
            <a:xfrm rot="0">
              <a:off x="1638654" y="0"/>
              <a:ext cx="139329" cy="2720777"/>
              <a:chOff x="0" y="0"/>
              <a:chExt cx="27522" cy="537437"/>
            </a:xfrm>
          </p:grpSpPr>
          <p:sp>
            <p:nvSpPr>
              <p:cNvPr name="Freeform 147" id="147"/>
              <p:cNvSpPr/>
              <p:nvPr/>
            </p:nvSpPr>
            <p:spPr>
              <a:xfrm flipH="false" flipV="false" rot="0">
                <a:off x="0" y="0"/>
                <a:ext cx="27522" cy="537437"/>
              </a:xfrm>
              <a:custGeom>
                <a:avLst/>
                <a:gdLst/>
                <a:ahLst/>
                <a:cxnLst/>
                <a:rect r="r" b="b" t="t" l="l"/>
                <a:pathLst>
                  <a:path h="537437" w="27522">
                    <a:moveTo>
                      <a:pt x="0" y="0"/>
                    </a:moveTo>
                    <a:lnTo>
                      <a:pt x="27522" y="0"/>
                    </a:lnTo>
                    <a:lnTo>
                      <a:pt x="27522" y="537437"/>
                    </a:lnTo>
                    <a:lnTo>
                      <a:pt x="0" y="537437"/>
                    </a:lnTo>
                    <a:close/>
                  </a:path>
                </a:pathLst>
              </a:custGeom>
              <a:solidFill>
                <a:srgbClr val="E9E9F7"/>
              </a:solidFill>
            </p:spPr>
          </p:sp>
          <p:sp>
            <p:nvSpPr>
              <p:cNvPr name="TextBox 148" id="148"/>
              <p:cNvSpPr txBox="true"/>
              <p:nvPr/>
            </p:nvSpPr>
            <p:spPr>
              <a:xfrm>
                <a:off x="0" y="-19050"/>
                <a:ext cx="27522" cy="556487"/>
              </a:xfrm>
              <a:prstGeom prst="rect">
                <a:avLst/>
              </a:prstGeom>
            </p:spPr>
            <p:txBody>
              <a:bodyPr anchor="ctr" rtlCol="false" tIns="50800" lIns="50800" bIns="50800" rIns="50800"/>
              <a:lstStyle/>
              <a:p>
                <a:pPr algn="ctr">
                  <a:lnSpc>
                    <a:spcPts val="1986"/>
                  </a:lnSpc>
                </a:pPr>
              </a:p>
            </p:txBody>
          </p:sp>
        </p:grpSp>
      </p:grpSp>
      <p:grpSp>
        <p:nvGrpSpPr>
          <p:cNvPr name="Group 149" id="149"/>
          <p:cNvGrpSpPr/>
          <p:nvPr/>
        </p:nvGrpSpPr>
        <p:grpSpPr>
          <a:xfrm rot="0">
            <a:off x="11155472" y="4640303"/>
            <a:ext cx="1141019" cy="1375064"/>
            <a:chOff x="0" y="0"/>
            <a:chExt cx="300515" cy="362157"/>
          </a:xfrm>
        </p:grpSpPr>
        <p:sp>
          <p:nvSpPr>
            <p:cNvPr name="Freeform 150" id="150"/>
            <p:cNvSpPr/>
            <p:nvPr/>
          </p:nvSpPr>
          <p:spPr>
            <a:xfrm flipH="false" flipV="false" rot="0">
              <a:off x="0" y="0"/>
              <a:ext cx="300515" cy="362157"/>
            </a:xfrm>
            <a:custGeom>
              <a:avLst/>
              <a:gdLst/>
              <a:ahLst/>
              <a:cxnLst/>
              <a:rect r="r" b="b" t="t" l="l"/>
              <a:pathLst>
                <a:path h="362157" w="300515">
                  <a:moveTo>
                    <a:pt x="0" y="0"/>
                  </a:moveTo>
                  <a:lnTo>
                    <a:pt x="300515" y="0"/>
                  </a:lnTo>
                  <a:lnTo>
                    <a:pt x="300515" y="362157"/>
                  </a:lnTo>
                  <a:lnTo>
                    <a:pt x="0" y="362157"/>
                  </a:lnTo>
                  <a:close/>
                </a:path>
              </a:pathLst>
            </a:custGeom>
            <a:solidFill>
              <a:srgbClr val="FFFFFF"/>
            </a:solidFill>
            <a:ln w="9525" cap="sq">
              <a:solidFill>
                <a:srgbClr val="000000"/>
              </a:solidFill>
              <a:prstDash val="solid"/>
              <a:miter/>
            </a:ln>
          </p:spPr>
        </p:sp>
        <p:sp>
          <p:nvSpPr>
            <p:cNvPr name="TextBox 151" id="151"/>
            <p:cNvSpPr txBox="true"/>
            <p:nvPr/>
          </p:nvSpPr>
          <p:spPr>
            <a:xfrm>
              <a:off x="0" y="-19050"/>
              <a:ext cx="300515" cy="381207"/>
            </a:xfrm>
            <a:prstGeom prst="rect">
              <a:avLst/>
            </a:prstGeom>
          </p:spPr>
          <p:txBody>
            <a:bodyPr anchor="ctr" rtlCol="false" tIns="50800" lIns="50800" bIns="50800" rIns="50800"/>
            <a:lstStyle/>
            <a:p>
              <a:pPr algn="ctr">
                <a:lnSpc>
                  <a:spcPts val="1986"/>
                </a:lnSpc>
              </a:pPr>
            </a:p>
          </p:txBody>
        </p:sp>
      </p:grpSp>
      <p:grpSp>
        <p:nvGrpSpPr>
          <p:cNvPr name="Group 152" id="152"/>
          <p:cNvGrpSpPr/>
          <p:nvPr/>
        </p:nvGrpSpPr>
        <p:grpSpPr>
          <a:xfrm rot="0">
            <a:off x="11155472" y="7725539"/>
            <a:ext cx="1141019" cy="1375064"/>
            <a:chOff x="0" y="0"/>
            <a:chExt cx="300515" cy="362157"/>
          </a:xfrm>
        </p:grpSpPr>
        <p:sp>
          <p:nvSpPr>
            <p:cNvPr name="Freeform 153" id="153"/>
            <p:cNvSpPr/>
            <p:nvPr/>
          </p:nvSpPr>
          <p:spPr>
            <a:xfrm flipH="false" flipV="false" rot="0">
              <a:off x="0" y="0"/>
              <a:ext cx="300515" cy="362157"/>
            </a:xfrm>
            <a:custGeom>
              <a:avLst/>
              <a:gdLst/>
              <a:ahLst/>
              <a:cxnLst/>
              <a:rect r="r" b="b" t="t" l="l"/>
              <a:pathLst>
                <a:path h="362157" w="300515">
                  <a:moveTo>
                    <a:pt x="0" y="0"/>
                  </a:moveTo>
                  <a:lnTo>
                    <a:pt x="300515" y="0"/>
                  </a:lnTo>
                  <a:lnTo>
                    <a:pt x="300515" y="362157"/>
                  </a:lnTo>
                  <a:lnTo>
                    <a:pt x="0" y="362157"/>
                  </a:lnTo>
                  <a:close/>
                </a:path>
              </a:pathLst>
            </a:custGeom>
            <a:solidFill>
              <a:srgbClr val="FFFFFF"/>
            </a:solidFill>
            <a:ln w="9525" cap="sq">
              <a:solidFill>
                <a:srgbClr val="000000"/>
              </a:solidFill>
              <a:prstDash val="solid"/>
              <a:miter/>
            </a:ln>
          </p:spPr>
        </p:sp>
        <p:sp>
          <p:nvSpPr>
            <p:cNvPr name="TextBox 154" id="154"/>
            <p:cNvSpPr txBox="true"/>
            <p:nvPr/>
          </p:nvSpPr>
          <p:spPr>
            <a:xfrm>
              <a:off x="0" y="-19050"/>
              <a:ext cx="300515" cy="381207"/>
            </a:xfrm>
            <a:prstGeom prst="rect">
              <a:avLst/>
            </a:prstGeom>
          </p:spPr>
          <p:txBody>
            <a:bodyPr anchor="ctr" rtlCol="false" tIns="50800" lIns="50800" bIns="50800" rIns="50800"/>
            <a:lstStyle/>
            <a:p>
              <a:pPr algn="ctr">
                <a:lnSpc>
                  <a:spcPts val="1986"/>
                </a:lnSpc>
              </a:pPr>
            </a:p>
          </p:txBody>
        </p:sp>
      </p:grpSp>
      <p:grpSp>
        <p:nvGrpSpPr>
          <p:cNvPr name="Group 155" id="155"/>
          <p:cNvGrpSpPr/>
          <p:nvPr/>
        </p:nvGrpSpPr>
        <p:grpSpPr>
          <a:xfrm rot="0">
            <a:off x="1028700" y="5040138"/>
            <a:ext cx="6771922" cy="1070920"/>
            <a:chOff x="0" y="0"/>
            <a:chExt cx="9029229" cy="1427894"/>
          </a:xfrm>
        </p:grpSpPr>
        <p:sp>
          <p:nvSpPr>
            <p:cNvPr name="Freeform 156" id="156"/>
            <p:cNvSpPr/>
            <p:nvPr/>
          </p:nvSpPr>
          <p:spPr>
            <a:xfrm flipH="false" flipV="false" rot="0">
              <a:off x="92422" y="209461"/>
              <a:ext cx="911719" cy="911719"/>
            </a:xfrm>
            <a:custGeom>
              <a:avLst/>
              <a:gdLst/>
              <a:ahLst/>
              <a:cxnLst/>
              <a:rect r="r" b="b" t="t" l="l"/>
              <a:pathLst>
                <a:path h="911719" w="911719">
                  <a:moveTo>
                    <a:pt x="0" y="0"/>
                  </a:moveTo>
                  <a:lnTo>
                    <a:pt x="911719" y="0"/>
                  </a:lnTo>
                  <a:lnTo>
                    <a:pt x="911719" y="911719"/>
                  </a:lnTo>
                  <a:lnTo>
                    <a:pt x="0" y="9117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7" id="157"/>
            <p:cNvSpPr/>
            <p:nvPr/>
          </p:nvSpPr>
          <p:spPr>
            <a:xfrm flipH="false" flipV="false" rot="0">
              <a:off x="143759" y="260799"/>
              <a:ext cx="809044" cy="809044"/>
            </a:xfrm>
            <a:custGeom>
              <a:avLst/>
              <a:gdLst/>
              <a:ahLst/>
              <a:cxnLst/>
              <a:rect r="r" b="b" t="t" l="l"/>
              <a:pathLst>
                <a:path h="809044" w="809044">
                  <a:moveTo>
                    <a:pt x="0" y="0"/>
                  </a:moveTo>
                  <a:lnTo>
                    <a:pt x="809044" y="0"/>
                  </a:lnTo>
                  <a:lnTo>
                    <a:pt x="809044" y="809044"/>
                  </a:lnTo>
                  <a:lnTo>
                    <a:pt x="0" y="8090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8" id="158"/>
            <p:cNvSpPr/>
            <p:nvPr/>
          </p:nvSpPr>
          <p:spPr>
            <a:xfrm flipH="false" flipV="false" rot="0">
              <a:off x="0" y="117039"/>
              <a:ext cx="1096563" cy="1096563"/>
            </a:xfrm>
            <a:custGeom>
              <a:avLst/>
              <a:gdLst/>
              <a:ahLst/>
              <a:cxnLst/>
              <a:rect r="r" b="b" t="t" l="l"/>
              <a:pathLst>
                <a:path h="1096563" w="1096563">
                  <a:moveTo>
                    <a:pt x="0" y="0"/>
                  </a:moveTo>
                  <a:lnTo>
                    <a:pt x="1096563" y="0"/>
                  </a:lnTo>
                  <a:lnTo>
                    <a:pt x="1096563" y="1096563"/>
                  </a:lnTo>
                  <a:lnTo>
                    <a:pt x="0" y="10965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9" id="159"/>
            <p:cNvSpPr/>
            <p:nvPr/>
          </p:nvSpPr>
          <p:spPr>
            <a:xfrm flipH="false" flipV="false" rot="0">
              <a:off x="10638" y="127677"/>
              <a:ext cx="1075287" cy="1075287"/>
            </a:xfrm>
            <a:custGeom>
              <a:avLst/>
              <a:gdLst/>
              <a:ahLst/>
              <a:cxnLst/>
              <a:rect r="r" b="b" t="t" l="l"/>
              <a:pathLst>
                <a:path h="1075287" w="1075287">
                  <a:moveTo>
                    <a:pt x="0" y="0"/>
                  </a:moveTo>
                  <a:lnTo>
                    <a:pt x="1075287" y="0"/>
                  </a:lnTo>
                  <a:lnTo>
                    <a:pt x="1075287" y="1075287"/>
                  </a:lnTo>
                  <a:lnTo>
                    <a:pt x="0" y="10752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0" id="160"/>
            <p:cNvGrpSpPr/>
            <p:nvPr/>
          </p:nvGrpSpPr>
          <p:grpSpPr>
            <a:xfrm rot="-3023822">
              <a:off x="935069" y="786911"/>
              <a:ext cx="209542" cy="541348"/>
              <a:chOff x="0" y="0"/>
              <a:chExt cx="237482" cy="613533"/>
            </a:xfrm>
          </p:grpSpPr>
          <p:sp>
            <p:nvSpPr>
              <p:cNvPr name="Freeform 161" id="161"/>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162" id="162"/>
              <p:cNvSpPr txBox="true"/>
              <p:nvPr/>
            </p:nvSpPr>
            <p:spPr>
              <a:xfrm>
                <a:off x="0" y="-19050"/>
                <a:ext cx="237482" cy="632583"/>
              </a:xfrm>
              <a:prstGeom prst="rect">
                <a:avLst/>
              </a:prstGeom>
            </p:spPr>
            <p:txBody>
              <a:bodyPr anchor="ctr" rtlCol="false" tIns="16469" lIns="16469" bIns="16469" rIns="16469"/>
              <a:lstStyle/>
              <a:p>
                <a:pPr algn="ctr">
                  <a:lnSpc>
                    <a:spcPts val="717"/>
                  </a:lnSpc>
                </a:pPr>
              </a:p>
            </p:txBody>
          </p:sp>
        </p:grpSp>
        <p:sp>
          <p:nvSpPr>
            <p:cNvPr name="Freeform 163" id="163"/>
            <p:cNvSpPr/>
            <p:nvPr/>
          </p:nvSpPr>
          <p:spPr>
            <a:xfrm flipH="false" flipV="false" rot="0">
              <a:off x="373484" y="490523"/>
              <a:ext cx="349595" cy="349595"/>
            </a:xfrm>
            <a:custGeom>
              <a:avLst/>
              <a:gdLst/>
              <a:ahLst/>
              <a:cxnLst/>
              <a:rect r="r" b="b" t="t" l="l"/>
              <a:pathLst>
                <a:path h="349595" w="349595">
                  <a:moveTo>
                    <a:pt x="0" y="0"/>
                  </a:moveTo>
                  <a:lnTo>
                    <a:pt x="349595" y="0"/>
                  </a:lnTo>
                  <a:lnTo>
                    <a:pt x="349595" y="349595"/>
                  </a:lnTo>
                  <a:lnTo>
                    <a:pt x="0" y="349595"/>
                  </a:lnTo>
                  <a:lnTo>
                    <a:pt x="0" y="0"/>
                  </a:lnTo>
                  <a:close/>
                </a:path>
              </a:pathLst>
            </a:custGeom>
            <a:blipFill>
              <a:blip r:embed="rId8"/>
              <a:stretch>
                <a:fillRect l="0" t="0" r="0" b="0"/>
              </a:stretch>
            </a:blipFill>
          </p:spPr>
        </p:sp>
        <p:sp>
          <p:nvSpPr>
            <p:cNvPr name="AutoShape 164" id="164"/>
            <p:cNvSpPr/>
            <p:nvPr/>
          </p:nvSpPr>
          <p:spPr>
            <a:xfrm>
              <a:off x="1497786" y="117039"/>
              <a:ext cx="0" cy="1193815"/>
            </a:xfrm>
            <a:prstGeom prst="line">
              <a:avLst/>
            </a:prstGeom>
            <a:ln cap="flat" w="38100">
              <a:solidFill>
                <a:srgbClr val="FFFFFF"/>
              </a:solidFill>
              <a:prstDash val="solid"/>
              <a:headEnd type="none" len="sm" w="sm"/>
              <a:tailEnd type="none" len="sm" w="sm"/>
            </a:ln>
          </p:spPr>
        </p:sp>
        <p:sp>
          <p:nvSpPr>
            <p:cNvPr name="TextBox 165" id="165"/>
            <p:cNvSpPr txBox="true"/>
            <p:nvPr/>
          </p:nvSpPr>
          <p:spPr>
            <a:xfrm rot="0">
              <a:off x="1731311" y="-9525"/>
              <a:ext cx="7297918" cy="1437419"/>
            </a:xfrm>
            <a:prstGeom prst="rect">
              <a:avLst/>
            </a:prstGeom>
          </p:spPr>
          <p:txBody>
            <a:bodyPr anchor="t" rtlCol="false" tIns="0" lIns="0" bIns="0" rIns="0">
              <a:spAutoFit/>
            </a:bodyPr>
            <a:lstStyle/>
            <a:p>
              <a:pPr algn="l">
                <a:lnSpc>
                  <a:spcPts val="4242"/>
                </a:lnSpc>
              </a:pPr>
              <a:r>
                <a:rPr lang="en-US" b="true" sz="3535" spc="707">
                  <a:solidFill>
                    <a:srgbClr val="FFFFFF"/>
                  </a:solidFill>
                  <a:latin typeface="Glacial Indifference Bold"/>
                  <a:ea typeface="Glacial Indifference Bold"/>
                  <a:cs typeface="Glacial Indifference Bold"/>
                  <a:sym typeface="Glacial Indifference Bold"/>
                </a:rPr>
                <a:t>THE </a:t>
              </a:r>
            </a:p>
            <a:p>
              <a:pPr algn="l">
                <a:lnSpc>
                  <a:spcPts val="4242"/>
                </a:lnSpc>
              </a:pPr>
              <a:r>
                <a:rPr lang="en-US" b="true" sz="3535" spc="707">
                  <a:solidFill>
                    <a:srgbClr val="FFFFFF"/>
                  </a:solidFill>
                  <a:latin typeface="Glacial Indifference Bold"/>
                  <a:ea typeface="Glacial Indifference Bold"/>
                  <a:cs typeface="Glacial Indifference Bold"/>
                  <a:sym typeface="Glacial Indifference Bold"/>
                </a:rPr>
                <a:t>BLAC  LIST</a:t>
              </a:r>
            </a:p>
          </p:txBody>
        </p:sp>
        <p:sp>
          <p:nvSpPr>
            <p:cNvPr name="Freeform 166" id="166"/>
            <p:cNvSpPr/>
            <p:nvPr/>
          </p:nvSpPr>
          <p:spPr>
            <a:xfrm flipH="false" flipV="false" rot="0">
              <a:off x="3702737" y="887825"/>
              <a:ext cx="351745" cy="351745"/>
            </a:xfrm>
            <a:custGeom>
              <a:avLst/>
              <a:gdLst/>
              <a:ahLst/>
              <a:cxnLst/>
              <a:rect r="r" b="b" t="t" l="l"/>
              <a:pathLst>
                <a:path h="351745" w="351745">
                  <a:moveTo>
                    <a:pt x="0" y="0"/>
                  </a:moveTo>
                  <a:lnTo>
                    <a:pt x="351746" y="0"/>
                  </a:lnTo>
                  <a:lnTo>
                    <a:pt x="351746" y="351745"/>
                  </a:lnTo>
                  <a:lnTo>
                    <a:pt x="0" y="3517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7" id="167"/>
            <p:cNvSpPr/>
            <p:nvPr/>
          </p:nvSpPr>
          <p:spPr>
            <a:xfrm flipH="false" flipV="false" rot="0">
              <a:off x="3671185" y="856272"/>
              <a:ext cx="414851" cy="414851"/>
            </a:xfrm>
            <a:custGeom>
              <a:avLst/>
              <a:gdLst/>
              <a:ahLst/>
              <a:cxnLst/>
              <a:rect r="r" b="b" t="t" l="l"/>
              <a:pathLst>
                <a:path h="414851" w="414851">
                  <a:moveTo>
                    <a:pt x="0" y="0"/>
                  </a:moveTo>
                  <a:lnTo>
                    <a:pt x="414850" y="0"/>
                  </a:lnTo>
                  <a:lnTo>
                    <a:pt x="414850" y="414851"/>
                  </a:lnTo>
                  <a:lnTo>
                    <a:pt x="0" y="4148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8" id="168"/>
            <p:cNvSpPr/>
            <p:nvPr/>
          </p:nvSpPr>
          <p:spPr>
            <a:xfrm flipH="false" flipV="false" rot="0">
              <a:off x="3722543" y="907631"/>
              <a:ext cx="312133" cy="312133"/>
            </a:xfrm>
            <a:custGeom>
              <a:avLst/>
              <a:gdLst/>
              <a:ahLst/>
              <a:cxnLst/>
              <a:rect r="r" b="b" t="t" l="l"/>
              <a:pathLst>
                <a:path h="312133" w="312133">
                  <a:moveTo>
                    <a:pt x="0" y="0"/>
                  </a:moveTo>
                  <a:lnTo>
                    <a:pt x="312133" y="0"/>
                  </a:lnTo>
                  <a:lnTo>
                    <a:pt x="312133" y="312133"/>
                  </a:lnTo>
                  <a:lnTo>
                    <a:pt x="0" y="3121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9" id="169"/>
            <p:cNvSpPr/>
            <p:nvPr/>
          </p:nvSpPr>
          <p:spPr>
            <a:xfrm flipH="false" flipV="false" rot="0">
              <a:off x="3667080" y="852168"/>
              <a:ext cx="423059" cy="423059"/>
            </a:xfrm>
            <a:custGeom>
              <a:avLst/>
              <a:gdLst/>
              <a:ahLst/>
              <a:cxnLst/>
              <a:rect r="r" b="b" t="t" l="l"/>
              <a:pathLst>
                <a:path h="423059" w="423059">
                  <a:moveTo>
                    <a:pt x="0" y="0"/>
                  </a:moveTo>
                  <a:lnTo>
                    <a:pt x="423059" y="0"/>
                  </a:lnTo>
                  <a:lnTo>
                    <a:pt x="423059" y="423059"/>
                  </a:lnTo>
                  <a:lnTo>
                    <a:pt x="0" y="4230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0" id="170"/>
            <p:cNvSpPr/>
            <p:nvPr/>
          </p:nvSpPr>
          <p:spPr>
            <a:xfrm flipH="false" flipV="false" rot="0">
              <a:off x="3811253" y="996340"/>
              <a:ext cx="134714" cy="134714"/>
            </a:xfrm>
            <a:custGeom>
              <a:avLst/>
              <a:gdLst/>
              <a:ahLst/>
              <a:cxnLst/>
              <a:rect r="r" b="b" t="t" l="l"/>
              <a:pathLst>
                <a:path h="134714" w="134714">
                  <a:moveTo>
                    <a:pt x="0" y="0"/>
                  </a:moveTo>
                  <a:lnTo>
                    <a:pt x="134714" y="0"/>
                  </a:lnTo>
                  <a:lnTo>
                    <a:pt x="134714" y="134715"/>
                  </a:lnTo>
                  <a:lnTo>
                    <a:pt x="0" y="134715"/>
                  </a:lnTo>
                  <a:lnTo>
                    <a:pt x="0" y="0"/>
                  </a:lnTo>
                  <a:close/>
                </a:path>
              </a:pathLst>
            </a:custGeom>
            <a:blipFill>
              <a:blip r:embed="rId8"/>
              <a:stretch>
                <a:fillRect l="0" t="0" r="0" b="0"/>
              </a:stretch>
            </a:blipFill>
          </p:spPr>
        </p:sp>
        <p:grpSp>
          <p:nvGrpSpPr>
            <p:cNvPr name="Group 171" id="171"/>
            <p:cNvGrpSpPr/>
            <p:nvPr/>
          </p:nvGrpSpPr>
          <p:grpSpPr>
            <a:xfrm rot="-3023822">
              <a:off x="4027834" y="1110608"/>
              <a:ext cx="80842" cy="208855"/>
              <a:chOff x="0" y="0"/>
              <a:chExt cx="237482" cy="613533"/>
            </a:xfrm>
          </p:grpSpPr>
          <p:sp>
            <p:nvSpPr>
              <p:cNvPr name="Freeform 172" id="172"/>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173" id="173"/>
              <p:cNvSpPr txBox="true"/>
              <p:nvPr/>
            </p:nvSpPr>
            <p:spPr>
              <a:xfrm>
                <a:off x="0" y="-19050"/>
                <a:ext cx="237482" cy="632583"/>
              </a:xfrm>
              <a:prstGeom prst="rect">
                <a:avLst/>
              </a:prstGeom>
            </p:spPr>
            <p:txBody>
              <a:bodyPr anchor="ctr" rtlCol="false" tIns="6354" lIns="6354" bIns="6354" rIns="6354"/>
              <a:lstStyle/>
              <a:p>
                <a:pPr algn="ctr">
                  <a:lnSpc>
                    <a:spcPts val="717"/>
                  </a:lnSpc>
                </a:pPr>
              </a:p>
            </p:txBody>
          </p:sp>
        </p:grpSp>
      </p:grpSp>
      <p:grpSp>
        <p:nvGrpSpPr>
          <p:cNvPr name="Group 174" id="174"/>
          <p:cNvGrpSpPr/>
          <p:nvPr/>
        </p:nvGrpSpPr>
        <p:grpSpPr>
          <a:xfrm rot="0">
            <a:off x="2222562" y="7069584"/>
            <a:ext cx="1702309" cy="1702309"/>
            <a:chOff x="0" y="0"/>
            <a:chExt cx="2269746" cy="2269746"/>
          </a:xfrm>
        </p:grpSpPr>
        <p:grpSp>
          <p:nvGrpSpPr>
            <p:cNvPr name="Group 175" id="175"/>
            <p:cNvGrpSpPr/>
            <p:nvPr/>
          </p:nvGrpSpPr>
          <p:grpSpPr>
            <a:xfrm rot="0">
              <a:off x="0" y="0"/>
              <a:ext cx="2269746" cy="2269746"/>
              <a:chOff x="0" y="0"/>
              <a:chExt cx="812800" cy="812800"/>
            </a:xfrm>
          </p:grpSpPr>
          <p:sp>
            <p:nvSpPr>
              <p:cNvPr name="Freeform 176" id="17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77" id="177"/>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178" id="178"/>
            <p:cNvSpPr/>
            <p:nvPr/>
          </p:nvSpPr>
          <p:spPr>
            <a:xfrm flipH="false" flipV="false" rot="0">
              <a:off x="567505" y="567505"/>
              <a:ext cx="1134736" cy="1134736"/>
            </a:xfrm>
            <a:custGeom>
              <a:avLst/>
              <a:gdLst/>
              <a:ahLst/>
              <a:cxnLst/>
              <a:rect r="r" b="b" t="t" l="l"/>
              <a:pathLst>
                <a:path h="1134736" w="1134736">
                  <a:moveTo>
                    <a:pt x="0" y="0"/>
                  </a:moveTo>
                  <a:lnTo>
                    <a:pt x="1134736" y="0"/>
                  </a:lnTo>
                  <a:lnTo>
                    <a:pt x="1134736" y="1134736"/>
                  </a:lnTo>
                  <a:lnTo>
                    <a:pt x="0" y="11347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9" id="179"/>
            <p:cNvSpPr/>
            <p:nvPr/>
          </p:nvSpPr>
          <p:spPr>
            <a:xfrm flipH="false" flipV="false" rot="0">
              <a:off x="631400" y="631400"/>
              <a:ext cx="1006945" cy="1006945"/>
            </a:xfrm>
            <a:custGeom>
              <a:avLst/>
              <a:gdLst/>
              <a:ahLst/>
              <a:cxnLst/>
              <a:rect r="r" b="b" t="t" l="l"/>
              <a:pathLst>
                <a:path h="1006945" w="1006945">
                  <a:moveTo>
                    <a:pt x="0" y="0"/>
                  </a:moveTo>
                  <a:lnTo>
                    <a:pt x="1006945" y="0"/>
                  </a:lnTo>
                  <a:lnTo>
                    <a:pt x="1006945" y="1006945"/>
                  </a:lnTo>
                  <a:lnTo>
                    <a:pt x="0" y="10069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0" id="180"/>
            <p:cNvSpPr/>
            <p:nvPr/>
          </p:nvSpPr>
          <p:spPr>
            <a:xfrm flipH="false" flipV="false" rot="0">
              <a:off x="452476" y="452476"/>
              <a:ext cx="1364794" cy="1364794"/>
            </a:xfrm>
            <a:custGeom>
              <a:avLst/>
              <a:gdLst/>
              <a:ahLst/>
              <a:cxnLst/>
              <a:rect r="r" b="b" t="t" l="l"/>
              <a:pathLst>
                <a:path h="1364794" w="1364794">
                  <a:moveTo>
                    <a:pt x="0" y="0"/>
                  </a:moveTo>
                  <a:lnTo>
                    <a:pt x="1364794" y="0"/>
                  </a:lnTo>
                  <a:lnTo>
                    <a:pt x="1364794" y="1364794"/>
                  </a:lnTo>
                  <a:lnTo>
                    <a:pt x="0" y="13647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1" id="181"/>
            <p:cNvSpPr/>
            <p:nvPr/>
          </p:nvSpPr>
          <p:spPr>
            <a:xfrm flipH="false" flipV="false" rot="0">
              <a:off x="465716" y="465716"/>
              <a:ext cx="1338314" cy="1338314"/>
            </a:xfrm>
            <a:custGeom>
              <a:avLst/>
              <a:gdLst/>
              <a:ahLst/>
              <a:cxnLst/>
              <a:rect r="r" b="b" t="t" l="l"/>
              <a:pathLst>
                <a:path h="1338314" w="1338314">
                  <a:moveTo>
                    <a:pt x="0" y="0"/>
                  </a:moveTo>
                  <a:lnTo>
                    <a:pt x="1338314" y="0"/>
                  </a:lnTo>
                  <a:lnTo>
                    <a:pt x="1338314" y="1338314"/>
                  </a:lnTo>
                  <a:lnTo>
                    <a:pt x="0" y="13383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82" id="182"/>
            <p:cNvGrpSpPr/>
            <p:nvPr/>
          </p:nvGrpSpPr>
          <p:grpSpPr>
            <a:xfrm rot="-3023822">
              <a:off x="1616274" y="1286206"/>
              <a:ext cx="260798" cy="673768"/>
              <a:chOff x="0" y="0"/>
              <a:chExt cx="237482" cy="613533"/>
            </a:xfrm>
          </p:grpSpPr>
          <p:sp>
            <p:nvSpPr>
              <p:cNvPr name="Freeform 183" id="183"/>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184" id="184"/>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185" id="185"/>
            <p:cNvSpPr/>
            <p:nvPr/>
          </p:nvSpPr>
          <p:spPr>
            <a:xfrm flipH="false" flipV="false" rot="0">
              <a:off x="917318" y="917318"/>
              <a:ext cx="435110" cy="435110"/>
            </a:xfrm>
            <a:custGeom>
              <a:avLst/>
              <a:gdLst/>
              <a:ahLst/>
              <a:cxnLst/>
              <a:rect r="r" b="b" t="t" l="l"/>
              <a:pathLst>
                <a:path h="435110" w="435110">
                  <a:moveTo>
                    <a:pt x="0" y="0"/>
                  </a:moveTo>
                  <a:lnTo>
                    <a:pt x="435110" y="0"/>
                  </a:lnTo>
                  <a:lnTo>
                    <a:pt x="435110" y="435110"/>
                  </a:lnTo>
                  <a:lnTo>
                    <a:pt x="0" y="435110"/>
                  </a:lnTo>
                  <a:lnTo>
                    <a:pt x="0" y="0"/>
                  </a:lnTo>
                  <a:close/>
                </a:path>
              </a:pathLst>
            </a:custGeom>
            <a:blipFill>
              <a:blip r:embed="rId8"/>
              <a:stretch>
                <a:fillRect l="0" t="0" r="0" b="0"/>
              </a:stretch>
            </a:blipFill>
          </p:spPr>
        </p:sp>
      </p:grpSp>
      <p:grpSp>
        <p:nvGrpSpPr>
          <p:cNvPr name="Group 186" id="186"/>
          <p:cNvGrpSpPr/>
          <p:nvPr/>
        </p:nvGrpSpPr>
        <p:grpSpPr>
          <a:xfrm rot="0">
            <a:off x="391593" y="8789558"/>
            <a:ext cx="5364247" cy="527199"/>
            <a:chOff x="0" y="0"/>
            <a:chExt cx="7152330" cy="702933"/>
          </a:xfrm>
        </p:grpSpPr>
        <p:sp>
          <p:nvSpPr>
            <p:cNvPr name="TextBox 187" id="187"/>
            <p:cNvSpPr txBox="true"/>
            <p:nvPr/>
          </p:nvSpPr>
          <p:spPr>
            <a:xfrm rot="0">
              <a:off x="0" y="-9525"/>
              <a:ext cx="7152330" cy="712458"/>
            </a:xfrm>
            <a:prstGeom prst="rect">
              <a:avLst/>
            </a:prstGeom>
          </p:spPr>
          <p:txBody>
            <a:bodyPr anchor="t" rtlCol="false" tIns="0" lIns="0" bIns="0" rIns="0">
              <a:spAutoFit/>
            </a:bodyPr>
            <a:lstStyle/>
            <a:p>
              <a:pPr algn="ctr">
                <a:lnSpc>
                  <a:spcPts val="4157"/>
                </a:lnSpc>
              </a:pPr>
              <a:r>
                <a:rPr lang="en-US" b="true" sz="3464" spc="692">
                  <a:solidFill>
                    <a:srgbClr val="FFFFFF"/>
                  </a:solidFill>
                  <a:latin typeface="Glacial Indifference Bold"/>
                  <a:ea typeface="Glacial Indifference Bold"/>
                  <a:cs typeface="Glacial Indifference Bold"/>
                  <a:sym typeface="Glacial Indifference Bold"/>
                </a:rPr>
                <a:t>THE BLAC  LIST</a:t>
              </a:r>
            </a:p>
          </p:txBody>
        </p:sp>
        <p:sp>
          <p:nvSpPr>
            <p:cNvPr name="Freeform 188" id="188"/>
            <p:cNvSpPr/>
            <p:nvPr/>
          </p:nvSpPr>
          <p:spPr>
            <a:xfrm flipH="false" flipV="false" rot="0">
              <a:off x="4359418" y="177720"/>
              <a:ext cx="344728" cy="344728"/>
            </a:xfrm>
            <a:custGeom>
              <a:avLst/>
              <a:gdLst/>
              <a:ahLst/>
              <a:cxnLst/>
              <a:rect r="r" b="b" t="t" l="l"/>
              <a:pathLst>
                <a:path h="344728" w="344728">
                  <a:moveTo>
                    <a:pt x="0" y="0"/>
                  </a:moveTo>
                  <a:lnTo>
                    <a:pt x="344728" y="0"/>
                  </a:lnTo>
                  <a:lnTo>
                    <a:pt x="344728" y="344728"/>
                  </a:lnTo>
                  <a:lnTo>
                    <a:pt x="0" y="3447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9" id="189"/>
            <p:cNvSpPr/>
            <p:nvPr/>
          </p:nvSpPr>
          <p:spPr>
            <a:xfrm flipH="false" flipV="false" rot="0">
              <a:off x="4328495" y="146797"/>
              <a:ext cx="406575" cy="406575"/>
            </a:xfrm>
            <a:custGeom>
              <a:avLst/>
              <a:gdLst/>
              <a:ahLst/>
              <a:cxnLst/>
              <a:rect r="r" b="b" t="t" l="l"/>
              <a:pathLst>
                <a:path h="406575" w="406575">
                  <a:moveTo>
                    <a:pt x="0" y="0"/>
                  </a:moveTo>
                  <a:lnTo>
                    <a:pt x="406574" y="0"/>
                  </a:lnTo>
                  <a:lnTo>
                    <a:pt x="406574" y="406574"/>
                  </a:lnTo>
                  <a:lnTo>
                    <a:pt x="0" y="4065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0" id="190"/>
            <p:cNvSpPr/>
            <p:nvPr/>
          </p:nvSpPr>
          <p:spPr>
            <a:xfrm flipH="false" flipV="false" rot="0">
              <a:off x="4378829" y="197131"/>
              <a:ext cx="305906" cy="305906"/>
            </a:xfrm>
            <a:custGeom>
              <a:avLst/>
              <a:gdLst/>
              <a:ahLst/>
              <a:cxnLst/>
              <a:rect r="r" b="b" t="t" l="l"/>
              <a:pathLst>
                <a:path h="305906" w="305906">
                  <a:moveTo>
                    <a:pt x="0" y="0"/>
                  </a:moveTo>
                  <a:lnTo>
                    <a:pt x="305906" y="0"/>
                  </a:lnTo>
                  <a:lnTo>
                    <a:pt x="305906" y="305906"/>
                  </a:lnTo>
                  <a:lnTo>
                    <a:pt x="0" y="3059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1" id="191"/>
            <p:cNvSpPr/>
            <p:nvPr/>
          </p:nvSpPr>
          <p:spPr>
            <a:xfrm flipH="false" flipV="false" rot="0">
              <a:off x="4324472" y="142775"/>
              <a:ext cx="414619" cy="414619"/>
            </a:xfrm>
            <a:custGeom>
              <a:avLst/>
              <a:gdLst/>
              <a:ahLst/>
              <a:cxnLst/>
              <a:rect r="r" b="b" t="t" l="l"/>
              <a:pathLst>
                <a:path h="414619" w="414619">
                  <a:moveTo>
                    <a:pt x="0" y="0"/>
                  </a:moveTo>
                  <a:lnTo>
                    <a:pt x="414619" y="0"/>
                  </a:lnTo>
                  <a:lnTo>
                    <a:pt x="414619" y="414619"/>
                  </a:lnTo>
                  <a:lnTo>
                    <a:pt x="0" y="4146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2" id="192"/>
            <p:cNvSpPr/>
            <p:nvPr/>
          </p:nvSpPr>
          <p:spPr>
            <a:xfrm flipH="false" flipV="false" rot="0">
              <a:off x="4465769" y="284071"/>
              <a:ext cx="132027" cy="132027"/>
            </a:xfrm>
            <a:custGeom>
              <a:avLst/>
              <a:gdLst/>
              <a:ahLst/>
              <a:cxnLst/>
              <a:rect r="r" b="b" t="t" l="l"/>
              <a:pathLst>
                <a:path h="132027" w="132027">
                  <a:moveTo>
                    <a:pt x="0" y="0"/>
                  </a:moveTo>
                  <a:lnTo>
                    <a:pt x="132026" y="0"/>
                  </a:lnTo>
                  <a:lnTo>
                    <a:pt x="132026" y="132027"/>
                  </a:lnTo>
                  <a:lnTo>
                    <a:pt x="0" y="132027"/>
                  </a:lnTo>
                  <a:lnTo>
                    <a:pt x="0" y="0"/>
                  </a:lnTo>
                  <a:close/>
                </a:path>
              </a:pathLst>
            </a:custGeom>
            <a:blipFill>
              <a:blip r:embed="rId8"/>
              <a:stretch>
                <a:fillRect l="0" t="0" r="0" b="0"/>
              </a:stretch>
            </a:blipFill>
          </p:spPr>
        </p:sp>
        <p:grpSp>
          <p:nvGrpSpPr>
            <p:cNvPr name="Group 193" id="193"/>
            <p:cNvGrpSpPr/>
            <p:nvPr/>
          </p:nvGrpSpPr>
          <p:grpSpPr>
            <a:xfrm rot="-3023822">
              <a:off x="4678030" y="396059"/>
              <a:ext cx="79229" cy="204688"/>
              <a:chOff x="0" y="0"/>
              <a:chExt cx="237482" cy="613533"/>
            </a:xfrm>
          </p:grpSpPr>
          <p:sp>
            <p:nvSpPr>
              <p:cNvPr name="Freeform 194" id="194"/>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195" id="195"/>
              <p:cNvSpPr txBox="true"/>
              <p:nvPr/>
            </p:nvSpPr>
            <p:spPr>
              <a:xfrm>
                <a:off x="0" y="-19050"/>
                <a:ext cx="237482" cy="632583"/>
              </a:xfrm>
              <a:prstGeom prst="rect">
                <a:avLst/>
              </a:prstGeom>
            </p:spPr>
            <p:txBody>
              <a:bodyPr anchor="ctr" rtlCol="false" tIns="15538" lIns="15538" bIns="15538" rIns="15538"/>
              <a:lstStyle/>
              <a:p>
                <a:pPr algn="ctr">
                  <a:lnSpc>
                    <a:spcPts val="717"/>
                  </a:lnSpc>
                </a:pPr>
              </a:p>
            </p:txBody>
          </p:sp>
        </p:grpSp>
      </p:grpSp>
      <p:grpSp>
        <p:nvGrpSpPr>
          <p:cNvPr name="Group 196" id="196"/>
          <p:cNvGrpSpPr/>
          <p:nvPr/>
        </p:nvGrpSpPr>
        <p:grpSpPr>
          <a:xfrm rot="0">
            <a:off x="14406321" y="614831"/>
            <a:ext cx="1702309" cy="1702309"/>
            <a:chOff x="0" y="0"/>
            <a:chExt cx="2269746" cy="2269746"/>
          </a:xfrm>
        </p:grpSpPr>
        <p:grpSp>
          <p:nvGrpSpPr>
            <p:cNvPr name="Group 197" id="197"/>
            <p:cNvGrpSpPr/>
            <p:nvPr/>
          </p:nvGrpSpPr>
          <p:grpSpPr>
            <a:xfrm rot="0">
              <a:off x="0" y="0"/>
              <a:ext cx="2269746" cy="2269746"/>
              <a:chOff x="0" y="0"/>
              <a:chExt cx="812800" cy="812800"/>
            </a:xfrm>
          </p:grpSpPr>
          <p:sp>
            <p:nvSpPr>
              <p:cNvPr name="Freeform 198" id="19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99" id="199"/>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200" id="200"/>
            <p:cNvSpPr/>
            <p:nvPr/>
          </p:nvSpPr>
          <p:spPr>
            <a:xfrm flipH="false" flipV="false" rot="0">
              <a:off x="567505" y="567505"/>
              <a:ext cx="1134736" cy="1134736"/>
            </a:xfrm>
            <a:custGeom>
              <a:avLst/>
              <a:gdLst/>
              <a:ahLst/>
              <a:cxnLst/>
              <a:rect r="r" b="b" t="t" l="l"/>
              <a:pathLst>
                <a:path h="1134736" w="1134736">
                  <a:moveTo>
                    <a:pt x="0" y="0"/>
                  </a:moveTo>
                  <a:lnTo>
                    <a:pt x="1134736" y="0"/>
                  </a:lnTo>
                  <a:lnTo>
                    <a:pt x="1134736" y="1134736"/>
                  </a:lnTo>
                  <a:lnTo>
                    <a:pt x="0" y="11347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1" id="201"/>
            <p:cNvSpPr/>
            <p:nvPr/>
          </p:nvSpPr>
          <p:spPr>
            <a:xfrm flipH="false" flipV="false" rot="0">
              <a:off x="631400" y="631400"/>
              <a:ext cx="1006945" cy="1006945"/>
            </a:xfrm>
            <a:custGeom>
              <a:avLst/>
              <a:gdLst/>
              <a:ahLst/>
              <a:cxnLst/>
              <a:rect r="r" b="b" t="t" l="l"/>
              <a:pathLst>
                <a:path h="1006945" w="1006945">
                  <a:moveTo>
                    <a:pt x="0" y="0"/>
                  </a:moveTo>
                  <a:lnTo>
                    <a:pt x="1006945" y="0"/>
                  </a:lnTo>
                  <a:lnTo>
                    <a:pt x="1006945" y="1006945"/>
                  </a:lnTo>
                  <a:lnTo>
                    <a:pt x="0" y="10069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2" id="202"/>
            <p:cNvSpPr/>
            <p:nvPr/>
          </p:nvSpPr>
          <p:spPr>
            <a:xfrm flipH="false" flipV="false" rot="0">
              <a:off x="452476" y="452476"/>
              <a:ext cx="1364794" cy="1364794"/>
            </a:xfrm>
            <a:custGeom>
              <a:avLst/>
              <a:gdLst/>
              <a:ahLst/>
              <a:cxnLst/>
              <a:rect r="r" b="b" t="t" l="l"/>
              <a:pathLst>
                <a:path h="1364794" w="1364794">
                  <a:moveTo>
                    <a:pt x="0" y="0"/>
                  </a:moveTo>
                  <a:lnTo>
                    <a:pt x="1364794" y="0"/>
                  </a:lnTo>
                  <a:lnTo>
                    <a:pt x="1364794" y="1364794"/>
                  </a:lnTo>
                  <a:lnTo>
                    <a:pt x="0" y="13647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3" id="203"/>
            <p:cNvSpPr/>
            <p:nvPr/>
          </p:nvSpPr>
          <p:spPr>
            <a:xfrm flipH="false" flipV="false" rot="0">
              <a:off x="465716" y="465716"/>
              <a:ext cx="1338314" cy="1338314"/>
            </a:xfrm>
            <a:custGeom>
              <a:avLst/>
              <a:gdLst/>
              <a:ahLst/>
              <a:cxnLst/>
              <a:rect r="r" b="b" t="t" l="l"/>
              <a:pathLst>
                <a:path h="1338314" w="1338314">
                  <a:moveTo>
                    <a:pt x="0" y="0"/>
                  </a:moveTo>
                  <a:lnTo>
                    <a:pt x="1338314" y="0"/>
                  </a:lnTo>
                  <a:lnTo>
                    <a:pt x="1338314" y="1338314"/>
                  </a:lnTo>
                  <a:lnTo>
                    <a:pt x="0" y="13383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04" id="204"/>
            <p:cNvGrpSpPr/>
            <p:nvPr/>
          </p:nvGrpSpPr>
          <p:grpSpPr>
            <a:xfrm rot="-3023822">
              <a:off x="1616274" y="1286206"/>
              <a:ext cx="260798" cy="673768"/>
              <a:chOff x="0" y="0"/>
              <a:chExt cx="237482" cy="613533"/>
            </a:xfrm>
          </p:grpSpPr>
          <p:sp>
            <p:nvSpPr>
              <p:cNvPr name="Freeform 205" id="205"/>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206" id="206"/>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207" id="207"/>
            <p:cNvSpPr/>
            <p:nvPr/>
          </p:nvSpPr>
          <p:spPr>
            <a:xfrm flipH="false" flipV="false" rot="0">
              <a:off x="917318" y="917318"/>
              <a:ext cx="435110" cy="435110"/>
            </a:xfrm>
            <a:custGeom>
              <a:avLst/>
              <a:gdLst/>
              <a:ahLst/>
              <a:cxnLst/>
              <a:rect r="r" b="b" t="t" l="l"/>
              <a:pathLst>
                <a:path h="435110" w="435110">
                  <a:moveTo>
                    <a:pt x="0" y="0"/>
                  </a:moveTo>
                  <a:lnTo>
                    <a:pt x="435110" y="0"/>
                  </a:lnTo>
                  <a:lnTo>
                    <a:pt x="435110" y="435110"/>
                  </a:lnTo>
                  <a:lnTo>
                    <a:pt x="0" y="435110"/>
                  </a:lnTo>
                  <a:lnTo>
                    <a:pt x="0" y="0"/>
                  </a:lnTo>
                  <a:close/>
                </a:path>
              </a:pathLst>
            </a:custGeom>
            <a:blipFill>
              <a:blip r:embed="rId8"/>
              <a:stretch>
                <a:fillRect l="0" t="0" r="0" b="0"/>
              </a:stretch>
            </a:blipFill>
          </p:spPr>
        </p:sp>
      </p:grpSp>
      <p:grpSp>
        <p:nvGrpSpPr>
          <p:cNvPr name="Group 208" id="208"/>
          <p:cNvGrpSpPr/>
          <p:nvPr/>
        </p:nvGrpSpPr>
        <p:grpSpPr>
          <a:xfrm rot="0">
            <a:off x="12575352" y="2334806"/>
            <a:ext cx="5364247" cy="527199"/>
            <a:chOff x="0" y="0"/>
            <a:chExt cx="7152330" cy="702933"/>
          </a:xfrm>
        </p:grpSpPr>
        <p:sp>
          <p:nvSpPr>
            <p:cNvPr name="TextBox 209" id="209"/>
            <p:cNvSpPr txBox="true"/>
            <p:nvPr/>
          </p:nvSpPr>
          <p:spPr>
            <a:xfrm rot="0">
              <a:off x="0" y="-9525"/>
              <a:ext cx="7152330" cy="712458"/>
            </a:xfrm>
            <a:prstGeom prst="rect">
              <a:avLst/>
            </a:prstGeom>
          </p:spPr>
          <p:txBody>
            <a:bodyPr anchor="t" rtlCol="false" tIns="0" lIns="0" bIns="0" rIns="0">
              <a:spAutoFit/>
            </a:bodyPr>
            <a:lstStyle/>
            <a:p>
              <a:pPr algn="ctr">
                <a:lnSpc>
                  <a:spcPts val="4157"/>
                </a:lnSpc>
              </a:pPr>
              <a:r>
                <a:rPr lang="en-US" b="true" sz="3464" spc="692">
                  <a:solidFill>
                    <a:srgbClr val="FFFFFF"/>
                  </a:solidFill>
                  <a:latin typeface="Glacial Indifference Bold"/>
                  <a:ea typeface="Glacial Indifference Bold"/>
                  <a:cs typeface="Glacial Indifference Bold"/>
                  <a:sym typeface="Glacial Indifference Bold"/>
                </a:rPr>
                <a:t>THE BLAC  LIST</a:t>
              </a:r>
            </a:p>
          </p:txBody>
        </p:sp>
        <p:sp>
          <p:nvSpPr>
            <p:cNvPr name="Freeform 210" id="210"/>
            <p:cNvSpPr/>
            <p:nvPr/>
          </p:nvSpPr>
          <p:spPr>
            <a:xfrm flipH="false" flipV="false" rot="0">
              <a:off x="4359418" y="177720"/>
              <a:ext cx="344728" cy="344728"/>
            </a:xfrm>
            <a:custGeom>
              <a:avLst/>
              <a:gdLst/>
              <a:ahLst/>
              <a:cxnLst/>
              <a:rect r="r" b="b" t="t" l="l"/>
              <a:pathLst>
                <a:path h="344728" w="344728">
                  <a:moveTo>
                    <a:pt x="0" y="0"/>
                  </a:moveTo>
                  <a:lnTo>
                    <a:pt x="344728" y="0"/>
                  </a:lnTo>
                  <a:lnTo>
                    <a:pt x="344728" y="344728"/>
                  </a:lnTo>
                  <a:lnTo>
                    <a:pt x="0" y="3447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1" id="211"/>
            <p:cNvSpPr/>
            <p:nvPr/>
          </p:nvSpPr>
          <p:spPr>
            <a:xfrm flipH="false" flipV="false" rot="0">
              <a:off x="4328495" y="146797"/>
              <a:ext cx="406575" cy="406575"/>
            </a:xfrm>
            <a:custGeom>
              <a:avLst/>
              <a:gdLst/>
              <a:ahLst/>
              <a:cxnLst/>
              <a:rect r="r" b="b" t="t" l="l"/>
              <a:pathLst>
                <a:path h="406575" w="406575">
                  <a:moveTo>
                    <a:pt x="0" y="0"/>
                  </a:moveTo>
                  <a:lnTo>
                    <a:pt x="406574" y="0"/>
                  </a:lnTo>
                  <a:lnTo>
                    <a:pt x="406574" y="406574"/>
                  </a:lnTo>
                  <a:lnTo>
                    <a:pt x="0" y="4065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2" id="212"/>
            <p:cNvSpPr/>
            <p:nvPr/>
          </p:nvSpPr>
          <p:spPr>
            <a:xfrm flipH="false" flipV="false" rot="0">
              <a:off x="4378829" y="197131"/>
              <a:ext cx="305906" cy="305906"/>
            </a:xfrm>
            <a:custGeom>
              <a:avLst/>
              <a:gdLst/>
              <a:ahLst/>
              <a:cxnLst/>
              <a:rect r="r" b="b" t="t" l="l"/>
              <a:pathLst>
                <a:path h="305906" w="305906">
                  <a:moveTo>
                    <a:pt x="0" y="0"/>
                  </a:moveTo>
                  <a:lnTo>
                    <a:pt x="305906" y="0"/>
                  </a:lnTo>
                  <a:lnTo>
                    <a:pt x="305906" y="305906"/>
                  </a:lnTo>
                  <a:lnTo>
                    <a:pt x="0" y="3059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3" id="213"/>
            <p:cNvSpPr/>
            <p:nvPr/>
          </p:nvSpPr>
          <p:spPr>
            <a:xfrm flipH="false" flipV="false" rot="0">
              <a:off x="4324472" y="142775"/>
              <a:ext cx="414619" cy="414619"/>
            </a:xfrm>
            <a:custGeom>
              <a:avLst/>
              <a:gdLst/>
              <a:ahLst/>
              <a:cxnLst/>
              <a:rect r="r" b="b" t="t" l="l"/>
              <a:pathLst>
                <a:path h="414619" w="414619">
                  <a:moveTo>
                    <a:pt x="0" y="0"/>
                  </a:moveTo>
                  <a:lnTo>
                    <a:pt x="414619" y="0"/>
                  </a:lnTo>
                  <a:lnTo>
                    <a:pt x="414619" y="414619"/>
                  </a:lnTo>
                  <a:lnTo>
                    <a:pt x="0" y="4146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4" id="214"/>
            <p:cNvSpPr/>
            <p:nvPr/>
          </p:nvSpPr>
          <p:spPr>
            <a:xfrm flipH="false" flipV="false" rot="0">
              <a:off x="4465769" y="284071"/>
              <a:ext cx="132027" cy="132027"/>
            </a:xfrm>
            <a:custGeom>
              <a:avLst/>
              <a:gdLst/>
              <a:ahLst/>
              <a:cxnLst/>
              <a:rect r="r" b="b" t="t" l="l"/>
              <a:pathLst>
                <a:path h="132027" w="132027">
                  <a:moveTo>
                    <a:pt x="0" y="0"/>
                  </a:moveTo>
                  <a:lnTo>
                    <a:pt x="132026" y="0"/>
                  </a:lnTo>
                  <a:lnTo>
                    <a:pt x="132026" y="132027"/>
                  </a:lnTo>
                  <a:lnTo>
                    <a:pt x="0" y="132027"/>
                  </a:lnTo>
                  <a:lnTo>
                    <a:pt x="0" y="0"/>
                  </a:lnTo>
                  <a:close/>
                </a:path>
              </a:pathLst>
            </a:custGeom>
            <a:blipFill>
              <a:blip r:embed="rId8"/>
              <a:stretch>
                <a:fillRect l="0" t="0" r="0" b="0"/>
              </a:stretch>
            </a:blipFill>
          </p:spPr>
        </p:sp>
        <p:grpSp>
          <p:nvGrpSpPr>
            <p:cNvPr name="Group 215" id="215"/>
            <p:cNvGrpSpPr/>
            <p:nvPr/>
          </p:nvGrpSpPr>
          <p:grpSpPr>
            <a:xfrm rot="-3023822">
              <a:off x="4678030" y="396059"/>
              <a:ext cx="79229" cy="204688"/>
              <a:chOff x="0" y="0"/>
              <a:chExt cx="237482" cy="613533"/>
            </a:xfrm>
          </p:grpSpPr>
          <p:sp>
            <p:nvSpPr>
              <p:cNvPr name="Freeform 216" id="216"/>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217" id="217"/>
              <p:cNvSpPr txBox="true"/>
              <p:nvPr/>
            </p:nvSpPr>
            <p:spPr>
              <a:xfrm>
                <a:off x="0" y="-19050"/>
                <a:ext cx="237482" cy="632583"/>
              </a:xfrm>
              <a:prstGeom prst="rect">
                <a:avLst/>
              </a:prstGeom>
            </p:spPr>
            <p:txBody>
              <a:bodyPr anchor="ctr" rtlCol="false" tIns="15538" lIns="15538" bIns="15538" rIns="15538"/>
              <a:lstStyle/>
              <a:p>
                <a:pPr algn="ctr">
                  <a:lnSpc>
                    <a:spcPts val="717"/>
                  </a:lnSpc>
                </a:pPr>
              </a:p>
            </p:txBody>
          </p:sp>
        </p:grpSp>
      </p:grpSp>
      <p:sp>
        <p:nvSpPr>
          <p:cNvPr name="TextBox 218" id="218"/>
          <p:cNvSpPr txBox="true"/>
          <p:nvPr/>
        </p:nvSpPr>
        <p:spPr>
          <a:xfrm rot="0">
            <a:off x="732191" y="1360252"/>
            <a:ext cx="7313080" cy="314325"/>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Process (CMYK) &amp; Spot Colors</a:t>
            </a:r>
          </a:p>
        </p:txBody>
      </p:sp>
      <p:sp>
        <p:nvSpPr>
          <p:cNvPr name="TextBox 219" id="219"/>
          <p:cNvSpPr txBox="true"/>
          <p:nvPr/>
        </p:nvSpPr>
        <p:spPr>
          <a:xfrm rot="0">
            <a:off x="732191" y="1901168"/>
            <a:ext cx="11153338" cy="1577202"/>
          </a:xfrm>
          <a:prstGeom prst="rect">
            <a:avLst/>
          </a:prstGeom>
        </p:spPr>
        <p:txBody>
          <a:bodyPr anchor="t" rtlCol="false" tIns="0" lIns="0" bIns="0" rIns="0">
            <a:spAutoFit/>
          </a:bodyPr>
          <a:lstStyle/>
          <a:p>
            <a:pPr algn="just" marL="0" indent="0" lvl="0">
              <a:lnSpc>
                <a:spcPts val="3155"/>
              </a:lnSpc>
              <a:spcBef>
                <a:spcPct val="0"/>
              </a:spcBef>
            </a:pPr>
            <a:r>
              <a:rPr lang="en-US" sz="2103" strike="noStrike" u="none">
                <a:solidFill>
                  <a:srgbClr val="FFFFFF"/>
                </a:solidFill>
                <a:latin typeface="Quicksand"/>
                <a:ea typeface="Quicksand"/>
                <a:cs typeface="Quicksand"/>
                <a:sym typeface="Quicksand"/>
              </a:rPr>
              <a:t>We established official brand colors for The BLACQList to retain brand continuity across all usages. Colors references from Pantone Color System for globally accurate color communication. Each brand asset in this document is set up for production-ready printing using either process or spot Pantone colors. </a:t>
            </a:r>
          </a:p>
        </p:txBody>
      </p:sp>
      <p:sp>
        <p:nvSpPr>
          <p:cNvPr name="TextBox 220" id="220"/>
          <p:cNvSpPr txBox="true"/>
          <p:nvPr/>
        </p:nvSpPr>
        <p:spPr>
          <a:xfrm rot="0">
            <a:off x="5929162" y="3945095"/>
            <a:ext cx="4924648" cy="390525"/>
          </a:xfrm>
          <a:prstGeom prst="rect">
            <a:avLst/>
          </a:prstGeom>
        </p:spPr>
        <p:txBody>
          <a:bodyPr anchor="t" rtlCol="false" tIns="0" lIns="0" bIns="0" rIns="0">
            <a:spAutoFit/>
          </a:bodyPr>
          <a:lstStyle/>
          <a:p>
            <a:pPr algn="l" marL="0" indent="0" lvl="0">
              <a:lnSpc>
                <a:spcPts val="3000"/>
              </a:lnSpc>
              <a:spcBef>
                <a:spcPct val="0"/>
              </a:spcBef>
            </a:pPr>
            <a:r>
              <a:rPr lang="en-US" b="true" sz="2500" spc="500" strike="noStrike" u="none">
                <a:solidFill>
                  <a:srgbClr val="FFFFFF"/>
                </a:solidFill>
                <a:latin typeface="Glacial Indifference Bold"/>
                <a:ea typeface="Glacial Indifference Bold"/>
                <a:cs typeface="Glacial Indifference Bold"/>
                <a:sym typeface="Glacial Indifference Bold"/>
              </a:rPr>
              <a:t>PANTONE CMYK COATED</a:t>
            </a:r>
          </a:p>
        </p:txBody>
      </p:sp>
      <p:sp>
        <p:nvSpPr>
          <p:cNvPr name="TextBox 221" id="221"/>
          <p:cNvSpPr txBox="true"/>
          <p:nvPr/>
        </p:nvSpPr>
        <p:spPr>
          <a:xfrm rot="0">
            <a:off x="5929162" y="6958459"/>
            <a:ext cx="3811042" cy="371475"/>
          </a:xfrm>
          <a:prstGeom prst="rect">
            <a:avLst/>
          </a:prstGeom>
        </p:spPr>
        <p:txBody>
          <a:bodyPr anchor="t" rtlCol="false" tIns="0" lIns="0" bIns="0" rIns="0">
            <a:spAutoFit/>
          </a:bodyPr>
          <a:lstStyle/>
          <a:p>
            <a:pPr algn="l" marL="0" indent="0" lvl="0">
              <a:lnSpc>
                <a:spcPts val="2999"/>
              </a:lnSpc>
              <a:spcBef>
                <a:spcPct val="0"/>
              </a:spcBef>
            </a:pPr>
            <a:r>
              <a:rPr lang="en-US" b="true" sz="2499" spc="499" strike="noStrike" u="none">
                <a:solidFill>
                  <a:srgbClr val="FFFFFF"/>
                </a:solidFill>
                <a:latin typeface="Glacial Indifference Bold"/>
                <a:ea typeface="Glacial Indifference Bold"/>
                <a:cs typeface="Glacial Indifference Bold"/>
                <a:sym typeface="Glacial Indifference Bold"/>
              </a:rPr>
              <a:t>HEX &amp; RGB VALUES</a:t>
            </a:r>
          </a:p>
        </p:txBody>
      </p:sp>
      <p:sp>
        <p:nvSpPr>
          <p:cNvPr name="TextBox 222" id="222"/>
          <p:cNvSpPr txBox="true"/>
          <p:nvPr/>
        </p:nvSpPr>
        <p:spPr>
          <a:xfrm rot="0">
            <a:off x="732191" y="687613"/>
            <a:ext cx="6194533" cy="627363"/>
          </a:xfrm>
          <a:prstGeom prst="rect">
            <a:avLst/>
          </a:prstGeom>
        </p:spPr>
        <p:txBody>
          <a:bodyPr anchor="t" rtlCol="false" tIns="0" lIns="0" bIns="0" rIns="0">
            <a:spAutoFit/>
          </a:bodyPr>
          <a:lstStyle/>
          <a:p>
            <a:pPr algn="l">
              <a:lnSpc>
                <a:spcPts val="4800"/>
              </a:lnSpc>
            </a:pPr>
            <a:r>
              <a:rPr lang="en-US" b="true" sz="4000" spc="800">
                <a:solidFill>
                  <a:srgbClr val="FFFFFF"/>
                </a:solidFill>
                <a:latin typeface="Glacial Indifference Bold"/>
                <a:ea typeface="Glacial Indifference Bold"/>
                <a:cs typeface="Glacial Indifference Bold"/>
                <a:sym typeface="Glacial Indifference Bold"/>
              </a:rPr>
              <a:t>BRAND COLORS</a:t>
            </a:r>
          </a:p>
        </p:txBody>
      </p:sp>
      <p:sp>
        <p:nvSpPr>
          <p:cNvPr name="TextBox 223" id="223"/>
          <p:cNvSpPr txBox="true"/>
          <p:nvPr/>
        </p:nvSpPr>
        <p:spPr>
          <a:xfrm rot="0">
            <a:off x="1649964" y="9472192"/>
            <a:ext cx="2847507" cy="284366"/>
          </a:xfrm>
          <a:prstGeom prst="rect">
            <a:avLst/>
          </a:prstGeom>
        </p:spPr>
        <p:txBody>
          <a:bodyPr anchor="t" rtlCol="false" tIns="0" lIns="0" bIns="0" rIns="0">
            <a:spAutoFit/>
          </a:bodyPr>
          <a:lstStyle/>
          <a:p>
            <a:pPr algn="ctr">
              <a:lnSpc>
                <a:spcPts val="2175"/>
              </a:lnSpc>
            </a:pPr>
            <a:r>
              <a:rPr lang="en-US" sz="1813" spc="362">
                <a:solidFill>
                  <a:srgbClr val="FFFFFF"/>
                </a:solidFill>
                <a:latin typeface="Lato"/>
                <a:ea typeface="Lato"/>
                <a:cs typeface="Lato"/>
                <a:sym typeface="Lato"/>
              </a:rPr>
              <a:t>Find and Be Found</a:t>
            </a:r>
          </a:p>
        </p:txBody>
      </p:sp>
      <p:sp>
        <p:nvSpPr>
          <p:cNvPr name="TextBox 224" id="224"/>
          <p:cNvSpPr txBox="true"/>
          <p:nvPr/>
        </p:nvSpPr>
        <p:spPr>
          <a:xfrm rot="0">
            <a:off x="13833723" y="3017440"/>
            <a:ext cx="2847507" cy="284366"/>
          </a:xfrm>
          <a:prstGeom prst="rect">
            <a:avLst/>
          </a:prstGeom>
        </p:spPr>
        <p:txBody>
          <a:bodyPr anchor="t" rtlCol="false" tIns="0" lIns="0" bIns="0" rIns="0">
            <a:spAutoFit/>
          </a:bodyPr>
          <a:lstStyle/>
          <a:p>
            <a:pPr algn="ctr">
              <a:lnSpc>
                <a:spcPts val="2175"/>
              </a:lnSpc>
            </a:pPr>
            <a:r>
              <a:rPr lang="en-US" sz="1813" spc="362">
                <a:solidFill>
                  <a:srgbClr val="FFFFFF"/>
                </a:solidFill>
                <a:latin typeface="Lato"/>
                <a:ea typeface="Lato"/>
                <a:cs typeface="Lato"/>
                <a:sym typeface="Lato"/>
              </a:rPr>
              <a:t>Find and Be Found</a:t>
            </a:r>
          </a:p>
        </p:txBody>
      </p:sp>
      <p:grpSp>
        <p:nvGrpSpPr>
          <p:cNvPr name="Group 225" id="225"/>
          <p:cNvGrpSpPr/>
          <p:nvPr/>
        </p:nvGrpSpPr>
        <p:grpSpPr>
          <a:xfrm rot="0">
            <a:off x="16750528" y="8749528"/>
            <a:ext cx="1189071" cy="1189071"/>
            <a:chOff x="0" y="0"/>
            <a:chExt cx="1585428" cy="1585428"/>
          </a:xfrm>
        </p:grpSpPr>
        <p:grpSp>
          <p:nvGrpSpPr>
            <p:cNvPr name="Group 226" id="226"/>
            <p:cNvGrpSpPr/>
            <p:nvPr/>
          </p:nvGrpSpPr>
          <p:grpSpPr>
            <a:xfrm rot="0">
              <a:off x="0" y="0"/>
              <a:ext cx="1585428" cy="1585428"/>
              <a:chOff x="0" y="0"/>
              <a:chExt cx="812800" cy="812800"/>
            </a:xfrm>
          </p:grpSpPr>
          <p:sp>
            <p:nvSpPr>
              <p:cNvPr name="Freeform 227" id="2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28" id="228"/>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229" id="229"/>
            <p:cNvSpPr/>
            <p:nvPr/>
          </p:nvSpPr>
          <p:spPr>
            <a:xfrm flipH="false" flipV="false" rot="0">
              <a:off x="396405" y="396405"/>
              <a:ext cx="792619" cy="792619"/>
            </a:xfrm>
            <a:custGeom>
              <a:avLst/>
              <a:gdLst/>
              <a:ahLst/>
              <a:cxnLst/>
              <a:rect r="r" b="b" t="t" l="l"/>
              <a:pathLst>
                <a:path h="792619" w="792619">
                  <a:moveTo>
                    <a:pt x="0" y="0"/>
                  </a:moveTo>
                  <a:lnTo>
                    <a:pt x="792618" y="0"/>
                  </a:lnTo>
                  <a:lnTo>
                    <a:pt x="792618" y="792618"/>
                  </a:lnTo>
                  <a:lnTo>
                    <a:pt x="0" y="7926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0" id="230"/>
            <p:cNvSpPr/>
            <p:nvPr/>
          </p:nvSpPr>
          <p:spPr>
            <a:xfrm flipH="false" flipV="false" rot="0">
              <a:off x="441036" y="441036"/>
              <a:ext cx="703356" cy="703356"/>
            </a:xfrm>
            <a:custGeom>
              <a:avLst/>
              <a:gdLst/>
              <a:ahLst/>
              <a:cxnLst/>
              <a:rect r="r" b="b" t="t" l="l"/>
              <a:pathLst>
                <a:path h="703356" w="703356">
                  <a:moveTo>
                    <a:pt x="0" y="0"/>
                  </a:moveTo>
                  <a:lnTo>
                    <a:pt x="703356" y="0"/>
                  </a:lnTo>
                  <a:lnTo>
                    <a:pt x="703356" y="703356"/>
                  </a:lnTo>
                  <a:lnTo>
                    <a:pt x="0" y="7033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1" id="231"/>
            <p:cNvSpPr/>
            <p:nvPr/>
          </p:nvSpPr>
          <p:spPr>
            <a:xfrm flipH="false" flipV="false" rot="0">
              <a:off x="316057" y="316057"/>
              <a:ext cx="953315" cy="953315"/>
            </a:xfrm>
            <a:custGeom>
              <a:avLst/>
              <a:gdLst/>
              <a:ahLst/>
              <a:cxnLst/>
              <a:rect r="r" b="b" t="t" l="l"/>
              <a:pathLst>
                <a:path h="953315" w="953315">
                  <a:moveTo>
                    <a:pt x="0" y="0"/>
                  </a:moveTo>
                  <a:lnTo>
                    <a:pt x="953315" y="0"/>
                  </a:lnTo>
                  <a:lnTo>
                    <a:pt x="953315" y="953315"/>
                  </a:lnTo>
                  <a:lnTo>
                    <a:pt x="0" y="9533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2" id="232"/>
            <p:cNvSpPr/>
            <p:nvPr/>
          </p:nvSpPr>
          <p:spPr>
            <a:xfrm flipH="false" flipV="false" rot="0">
              <a:off x="325305" y="325305"/>
              <a:ext cx="934819" cy="934819"/>
            </a:xfrm>
            <a:custGeom>
              <a:avLst/>
              <a:gdLst/>
              <a:ahLst/>
              <a:cxnLst/>
              <a:rect r="r" b="b" t="t" l="l"/>
              <a:pathLst>
                <a:path h="934819" w="934819">
                  <a:moveTo>
                    <a:pt x="0" y="0"/>
                  </a:moveTo>
                  <a:lnTo>
                    <a:pt x="934818" y="0"/>
                  </a:lnTo>
                  <a:lnTo>
                    <a:pt x="934818" y="934818"/>
                  </a:lnTo>
                  <a:lnTo>
                    <a:pt x="0" y="9348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33" id="233"/>
            <p:cNvGrpSpPr/>
            <p:nvPr/>
          </p:nvGrpSpPr>
          <p:grpSpPr>
            <a:xfrm rot="-3023822">
              <a:off x="1128975" y="898421"/>
              <a:ext cx="182169" cy="470630"/>
              <a:chOff x="0" y="0"/>
              <a:chExt cx="237482" cy="613533"/>
            </a:xfrm>
          </p:grpSpPr>
          <p:sp>
            <p:nvSpPr>
              <p:cNvPr name="Freeform 234" id="234"/>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235" id="235"/>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236" id="236"/>
            <p:cNvSpPr/>
            <p:nvPr/>
          </p:nvSpPr>
          <p:spPr>
            <a:xfrm flipH="false" flipV="false" rot="0">
              <a:off x="640751" y="640751"/>
              <a:ext cx="303926" cy="303926"/>
            </a:xfrm>
            <a:custGeom>
              <a:avLst/>
              <a:gdLst/>
              <a:ahLst/>
              <a:cxnLst/>
              <a:rect r="r" b="b" t="t" l="l"/>
              <a:pathLst>
                <a:path h="303926" w="303926">
                  <a:moveTo>
                    <a:pt x="0" y="0"/>
                  </a:moveTo>
                  <a:lnTo>
                    <a:pt x="303926" y="0"/>
                  </a:lnTo>
                  <a:lnTo>
                    <a:pt x="303926" y="303926"/>
                  </a:lnTo>
                  <a:lnTo>
                    <a:pt x="0" y="303926"/>
                  </a:lnTo>
                  <a:lnTo>
                    <a:pt x="0" y="0"/>
                  </a:lnTo>
                  <a:close/>
                </a:path>
              </a:pathLst>
            </a:custGeom>
            <a:blipFill>
              <a:blip r:embed="rId8"/>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354045" y="6861189"/>
            <a:ext cx="434982" cy="434982"/>
          </a:xfrm>
          <a:custGeom>
            <a:avLst/>
            <a:gdLst/>
            <a:ahLst/>
            <a:cxnLst/>
            <a:rect r="r" b="b" t="t" l="l"/>
            <a:pathLst>
              <a:path h="434982" w="434982">
                <a:moveTo>
                  <a:pt x="0" y="0"/>
                </a:moveTo>
                <a:lnTo>
                  <a:pt x="434983" y="0"/>
                </a:lnTo>
                <a:lnTo>
                  <a:pt x="434983" y="434982"/>
                </a:lnTo>
                <a:lnTo>
                  <a:pt x="0" y="4349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03062" y="704850"/>
            <a:ext cx="8240938" cy="628650"/>
          </a:xfrm>
          <a:prstGeom prst="rect">
            <a:avLst/>
          </a:prstGeom>
        </p:spPr>
        <p:txBody>
          <a:bodyPr anchor="t" rtlCol="false" tIns="0" lIns="0" bIns="0" rIns="0">
            <a:spAutoFit/>
          </a:bodyPr>
          <a:lstStyle/>
          <a:p>
            <a:pPr algn="l" marL="0" indent="0" lvl="0">
              <a:lnSpc>
                <a:spcPts val="4800"/>
              </a:lnSpc>
              <a:spcBef>
                <a:spcPct val="0"/>
              </a:spcBef>
            </a:pPr>
            <a:r>
              <a:rPr lang="en-US" b="true" sz="4000" spc="800" strike="noStrike" u="none">
                <a:solidFill>
                  <a:srgbClr val="000000"/>
                </a:solidFill>
                <a:latin typeface="Glacial Indifference Bold"/>
                <a:ea typeface="Glacial Indifference Bold"/>
                <a:cs typeface="Glacial Indifference Bold"/>
                <a:sym typeface="Glacial Indifference Bold"/>
              </a:rPr>
              <a:t>BRAND TYPOGRAPHY</a:t>
            </a:r>
          </a:p>
        </p:txBody>
      </p:sp>
      <p:sp>
        <p:nvSpPr>
          <p:cNvPr name="TextBox 4" id="4"/>
          <p:cNvSpPr txBox="true"/>
          <p:nvPr/>
        </p:nvSpPr>
        <p:spPr>
          <a:xfrm rot="0">
            <a:off x="906740" y="1380492"/>
            <a:ext cx="5956784" cy="314325"/>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000000"/>
                </a:solidFill>
                <a:latin typeface="Lato"/>
                <a:ea typeface="Lato"/>
                <a:cs typeface="Lato"/>
                <a:sym typeface="Lato"/>
              </a:rPr>
              <a:t>Font Usage</a:t>
            </a:r>
          </a:p>
        </p:txBody>
      </p:sp>
      <p:sp>
        <p:nvSpPr>
          <p:cNvPr name="TextBox 5" id="5"/>
          <p:cNvSpPr txBox="true"/>
          <p:nvPr/>
        </p:nvSpPr>
        <p:spPr>
          <a:xfrm rot="0">
            <a:off x="903062" y="2046843"/>
            <a:ext cx="9014641" cy="1514337"/>
          </a:xfrm>
          <a:prstGeom prst="rect">
            <a:avLst/>
          </a:prstGeom>
        </p:spPr>
        <p:txBody>
          <a:bodyPr anchor="t" rtlCol="false" tIns="0" lIns="0" bIns="0" rIns="0">
            <a:spAutoFit/>
          </a:bodyPr>
          <a:lstStyle/>
          <a:p>
            <a:pPr algn="just" marL="0" indent="0" lvl="0">
              <a:lnSpc>
                <a:spcPts val="3005"/>
              </a:lnSpc>
              <a:spcBef>
                <a:spcPct val="0"/>
              </a:spcBef>
            </a:pPr>
            <a:r>
              <a:rPr lang="en-US" sz="2003" strike="noStrike" u="none">
                <a:solidFill>
                  <a:srgbClr val="000000"/>
                </a:solidFill>
                <a:latin typeface="Lato"/>
                <a:ea typeface="Lato"/>
                <a:cs typeface="Lato"/>
                <a:sym typeface="Lato"/>
              </a:rPr>
              <a:t>We recommend utilizing these brand-approved fonts that work well with THE BLACQList’s aesthetic. This font family can be used in the design of your printed material to retain continuity over time and build brand equity. Additional font information linked below.</a:t>
            </a:r>
          </a:p>
        </p:txBody>
      </p:sp>
      <p:sp>
        <p:nvSpPr>
          <p:cNvPr name="TextBox 6" id="6"/>
          <p:cNvSpPr txBox="true"/>
          <p:nvPr/>
        </p:nvSpPr>
        <p:spPr>
          <a:xfrm rot="0">
            <a:off x="903062" y="4170779"/>
            <a:ext cx="4376785" cy="316014"/>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000000"/>
                </a:solidFill>
                <a:latin typeface="Lato"/>
                <a:ea typeface="Lato"/>
                <a:cs typeface="Lato"/>
                <a:sym typeface="Lato"/>
              </a:rPr>
              <a:t>For headline or title usage,</a:t>
            </a:r>
          </a:p>
        </p:txBody>
      </p:sp>
      <p:sp>
        <p:nvSpPr>
          <p:cNvPr name="TextBox 7" id="7"/>
          <p:cNvSpPr txBox="true"/>
          <p:nvPr/>
        </p:nvSpPr>
        <p:spPr>
          <a:xfrm rot="0">
            <a:off x="906740" y="4600881"/>
            <a:ext cx="4602051" cy="733425"/>
          </a:xfrm>
          <a:prstGeom prst="rect">
            <a:avLst/>
          </a:prstGeom>
        </p:spPr>
        <p:txBody>
          <a:bodyPr anchor="t" rtlCol="false" tIns="0" lIns="0" bIns="0" rIns="0">
            <a:spAutoFit/>
          </a:bodyPr>
          <a:lstStyle/>
          <a:p>
            <a:pPr algn="l" marL="0" indent="0" lvl="0">
              <a:lnSpc>
                <a:spcPts val="2880"/>
              </a:lnSpc>
              <a:spcBef>
                <a:spcPct val="0"/>
              </a:spcBef>
            </a:pPr>
            <a:r>
              <a:rPr lang="en-US" b="true" sz="2400" spc="480">
                <a:solidFill>
                  <a:srgbClr val="000000"/>
                </a:solidFill>
                <a:latin typeface="Glacial Indifference Bold"/>
                <a:ea typeface="Glacial Indifference Bold"/>
                <a:cs typeface="Glacial Indifference Bold"/>
                <a:sym typeface="Glacial Indifference Bold"/>
              </a:rPr>
              <a:t>GLACIAL INDIFFERENCE</a:t>
            </a:r>
            <a:r>
              <a:rPr lang="en-US" b="true" sz="2400" spc="480" strike="noStrike" u="none">
                <a:solidFill>
                  <a:srgbClr val="000000"/>
                </a:solidFill>
                <a:latin typeface="Glacial Indifference Bold"/>
                <a:ea typeface="Glacial Indifference Bold"/>
                <a:cs typeface="Glacial Indifference Bold"/>
                <a:sym typeface="Glacial Indifference Bold"/>
              </a:rPr>
              <a:t> </a:t>
            </a:r>
          </a:p>
          <a:p>
            <a:pPr algn="l" marL="0" indent="0" lvl="0">
              <a:lnSpc>
                <a:spcPts val="2880"/>
              </a:lnSpc>
              <a:spcBef>
                <a:spcPct val="0"/>
              </a:spcBef>
            </a:pPr>
            <a:r>
              <a:rPr lang="en-US" b="true" sz="2400" spc="480" strike="noStrike" u="none">
                <a:solidFill>
                  <a:srgbClr val="E2A428"/>
                </a:solidFill>
                <a:latin typeface="Glacial Indifference Bold"/>
                <a:ea typeface="Glacial Indifference Bold"/>
                <a:cs typeface="Glacial Indifference Bold"/>
                <a:sym typeface="Glacial Indifference Bold"/>
              </a:rPr>
              <a:t>BOLD </a:t>
            </a:r>
            <a:r>
              <a:rPr lang="en-US" b="true" sz="2400" i="true" spc="480" strike="noStrike" u="none">
                <a:solidFill>
                  <a:srgbClr val="E2A428"/>
                </a:solidFill>
                <a:latin typeface="Glacial Indifference Bold Italics"/>
                <a:ea typeface="Glacial Indifference Bold Italics"/>
                <a:cs typeface="Glacial Indifference Bold Italics"/>
                <a:sym typeface="Glacial Indifference Bold Italics"/>
              </a:rPr>
              <a:t>ITALIC</a:t>
            </a:r>
          </a:p>
        </p:txBody>
      </p:sp>
      <p:sp>
        <p:nvSpPr>
          <p:cNvPr name="TextBox 8" id="8"/>
          <p:cNvSpPr txBox="true"/>
          <p:nvPr/>
        </p:nvSpPr>
        <p:spPr>
          <a:xfrm rot="0">
            <a:off x="906740" y="5391456"/>
            <a:ext cx="4116792" cy="1543050"/>
          </a:xfrm>
          <a:prstGeom prst="rect">
            <a:avLst/>
          </a:prstGeom>
        </p:spPr>
        <p:txBody>
          <a:bodyPr anchor="t" rtlCol="false" tIns="0" lIns="0" bIns="0" rIns="0">
            <a:spAutoFit/>
          </a:bodyPr>
          <a:lstStyle/>
          <a:p>
            <a:pPr algn="l" marL="0" indent="0" lvl="0">
              <a:lnSpc>
                <a:spcPts val="2400"/>
              </a:lnSpc>
              <a:spcBef>
                <a:spcPct val="0"/>
              </a:spcBef>
            </a:pPr>
            <a:r>
              <a:rPr lang="en-US" b="true" sz="2000" spc="400" strike="noStrike" u="none">
                <a:solidFill>
                  <a:srgbClr val="000000"/>
                </a:solidFill>
                <a:latin typeface="Glacial Indifference Bold"/>
                <a:ea typeface="Glacial Indifference Bold"/>
                <a:cs typeface="Glacial Indifference Bold"/>
                <a:sym typeface="Glacial Indifference Bold"/>
              </a:rPr>
              <a:t>AABBCCDDEEFFGGHH</a:t>
            </a:r>
          </a:p>
          <a:p>
            <a:pPr algn="l" marL="0" indent="0" lvl="0">
              <a:lnSpc>
                <a:spcPts val="2400"/>
              </a:lnSpc>
              <a:spcBef>
                <a:spcPct val="0"/>
              </a:spcBef>
            </a:pPr>
            <a:r>
              <a:rPr lang="en-US" b="true" sz="2000" spc="400" strike="noStrike" u="none">
                <a:solidFill>
                  <a:srgbClr val="000000"/>
                </a:solidFill>
                <a:latin typeface="Glacial Indifference Bold"/>
                <a:ea typeface="Glacial Indifference Bold"/>
                <a:cs typeface="Glacial Indifference Bold"/>
                <a:sym typeface="Glacial Indifference Bold"/>
              </a:rPr>
              <a:t>IIJJKKLLMMNNOOPP</a:t>
            </a:r>
          </a:p>
          <a:p>
            <a:pPr algn="l" marL="0" indent="0" lvl="0">
              <a:lnSpc>
                <a:spcPts val="2400"/>
              </a:lnSpc>
              <a:spcBef>
                <a:spcPct val="0"/>
              </a:spcBef>
            </a:pPr>
            <a:r>
              <a:rPr lang="en-US" b="true" sz="2000" spc="400" strike="noStrike" u="none">
                <a:solidFill>
                  <a:srgbClr val="000000"/>
                </a:solidFill>
                <a:latin typeface="Glacial Indifference Bold"/>
                <a:ea typeface="Glacial Indifference Bold"/>
                <a:cs typeface="Glacial Indifference Bold"/>
                <a:sym typeface="Glacial Indifference Bold"/>
              </a:rPr>
              <a:t>QQRRSSTTUUVVWW</a:t>
            </a:r>
          </a:p>
          <a:p>
            <a:pPr algn="l" marL="0" indent="0" lvl="0">
              <a:lnSpc>
                <a:spcPts val="2400"/>
              </a:lnSpc>
              <a:spcBef>
                <a:spcPct val="0"/>
              </a:spcBef>
            </a:pPr>
            <a:r>
              <a:rPr lang="en-US" b="true" sz="2000" spc="400" strike="noStrike" u="none">
                <a:solidFill>
                  <a:srgbClr val="000000"/>
                </a:solidFill>
                <a:latin typeface="Glacial Indifference Bold"/>
                <a:ea typeface="Glacial Indifference Bold"/>
                <a:cs typeface="Glacial Indifference Bold"/>
                <a:sym typeface="Glacial Indifference Bold"/>
              </a:rPr>
              <a:t>XXYYZZ</a:t>
            </a:r>
          </a:p>
          <a:p>
            <a:pPr algn="l" marL="0" indent="0" lvl="0">
              <a:lnSpc>
                <a:spcPts val="2400"/>
              </a:lnSpc>
              <a:spcBef>
                <a:spcPct val="0"/>
              </a:spcBef>
            </a:pPr>
            <a:r>
              <a:rPr lang="en-US" b="true" sz="2000" spc="400" strike="noStrike" u="none">
                <a:solidFill>
                  <a:srgbClr val="000000"/>
                </a:solidFill>
                <a:latin typeface="Glacial Indifference Bold"/>
                <a:ea typeface="Glacial Indifference Bold"/>
                <a:cs typeface="Glacial Indifference Bold"/>
                <a:sym typeface="Glacial Indifference Bold"/>
              </a:rPr>
              <a:t>1234567890</a:t>
            </a:r>
          </a:p>
        </p:txBody>
      </p:sp>
      <p:sp>
        <p:nvSpPr>
          <p:cNvPr name="TextBox 9" id="9"/>
          <p:cNvSpPr txBox="true"/>
          <p:nvPr/>
        </p:nvSpPr>
        <p:spPr>
          <a:xfrm rot="0">
            <a:off x="7140576" y="4170779"/>
            <a:ext cx="4376785" cy="316014"/>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000000"/>
                </a:solidFill>
                <a:latin typeface="Lato"/>
                <a:ea typeface="Lato"/>
                <a:cs typeface="Lato"/>
                <a:sym typeface="Lato"/>
              </a:rPr>
              <a:t>For headline or title usage,</a:t>
            </a:r>
          </a:p>
        </p:txBody>
      </p:sp>
      <p:sp>
        <p:nvSpPr>
          <p:cNvPr name="TextBox 10" id="10"/>
          <p:cNvSpPr txBox="true"/>
          <p:nvPr/>
        </p:nvSpPr>
        <p:spPr>
          <a:xfrm rot="0">
            <a:off x="906740" y="7125889"/>
            <a:ext cx="4314615" cy="316014"/>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000000"/>
                </a:solidFill>
                <a:latin typeface="Lato"/>
                <a:ea typeface="Lato"/>
                <a:cs typeface="Lato"/>
                <a:sym typeface="Lato"/>
              </a:rPr>
              <a:t>For subhead or title usage,</a:t>
            </a:r>
          </a:p>
        </p:txBody>
      </p:sp>
      <p:sp>
        <p:nvSpPr>
          <p:cNvPr name="TextBox 11" id="11"/>
          <p:cNvSpPr txBox="true"/>
          <p:nvPr/>
        </p:nvSpPr>
        <p:spPr>
          <a:xfrm rot="0">
            <a:off x="906740" y="7519197"/>
            <a:ext cx="3683627" cy="723900"/>
          </a:xfrm>
          <a:prstGeom prst="rect">
            <a:avLst/>
          </a:prstGeom>
        </p:spPr>
        <p:txBody>
          <a:bodyPr anchor="t" rtlCol="false" tIns="0" lIns="0" bIns="0" rIns="0">
            <a:spAutoFit/>
          </a:bodyPr>
          <a:lstStyle/>
          <a:p>
            <a:pPr algn="l" marL="0" indent="0" lvl="0">
              <a:lnSpc>
                <a:spcPts val="2895"/>
              </a:lnSpc>
              <a:spcBef>
                <a:spcPct val="0"/>
              </a:spcBef>
            </a:pPr>
            <a:r>
              <a:rPr lang="en-US" sz="2413" spc="482" strike="noStrike" u="none">
                <a:solidFill>
                  <a:srgbClr val="000000"/>
                </a:solidFill>
                <a:latin typeface="Lato"/>
                <a:ea typeface="Lato"/>
                <a:cs typeface="Lato"/>
                <a:sym typeface="Lato"/>
              </a:rPr>
              <a:t>Lato </a:t>
            </a:r>
          </a:p>
          <a:p>
            <a:pPr algn="l" marL="0" indent="0" lvl="0">
              <a:lnSpc>
                <a:spcPts val="2895"/>
              </a:lnSpc>
              <a:spcBef>
                <a:spcPct val="0"/>
              </a:spcBef>
            </a:pPr>
            <a:r>
              <a:rPr lang="en-US" sz="2413" spc="482" strike="noStrike" u="none">
                <a:solidFill>
                  <a:srgbClr val="E2A428"/>
                </a:solidFill>
                <a:latin typeface="Lato"/>
                <a:ea typeface="Lato"/>
                <a:cs typeface="Lato"/>
                <a:sym typeface="Lato"/>
              </a:rPr>
              <a:t>Regular</a:t>
            </a:r>
          </a:p>
        </p:txBody>
      </p:sp>
      <p:sp>
        <p:nvSpPr>
          <p:cNvPr name="TextBox 12" id="12"/>
          <p:cNvSpPr txBox="true"/>
          <p:nvPr/>
        </p:nvSpPr>
        <p:spPr>
          <a:xfrm rot="0">
            <a:off x="903062" y="8294299"/>
            <a:ext cx="4507321" cy="1533525"/>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000000"/>
                </a:solidFill>
                <a:latin typeface="Lato"/>
                <a:ea typeface="Lato"/>
                <a:cs typeface="Lato"/>
                <a:sym typeface="Lato"/>
              </a:rPr>
              <a:t>AaBbCcDdEeFfGgHh</a:t>
            </a:r>
          </a:p>
          <a:p>
            <a:pPr algn="l" marL="0" indent="0" lvl="0">
              <a:lnSpc>
                <a:spcPts val="2415"/>
              </a:lnSpc>
              <a:spcBef>
                <a:spcPct val="0"/>
              </a:spcBef>
            </a:pPr>
            <a:r>
              <a:rPr lang="en-US" sz="2013" spc="402" strike="noStrike" u="none">
                <a:solidFill>
                  <a:srgbClr val="000000"/>
                </a:solidFill>
                <a:latin typeface="Lato"/>
                <a:ea typeface="Lato"/>
                <a:cs typeface="Lato"/>
                <a:sym typeface="Lato"/>
              </a:rPr>
              <a:t>IiJjKkLlMmNnOoPp</a:t>
            </a:r>
          </a:p>
          <a:p>
            <a:pPr algn="l" marL="0" indent="0" lvl="0">
              <a:lnSpc>
                <a:spcPts val="2415"/>
              </a:lnSpc>
              <a:spcBef>
                <a:spcPct val="0"/>
              </a:spcBef>
            </a:pPr>
            <a:r>
              <a:rPr lang="en-US" sz="2013" spc="402" strike="noStrike" u="none">
                <a:solidFill>
                  <a:srgbClr val="000000"/>
                </a:solidFill>
                <a:latin typeface="Lato"/>
                <a:ea typeface="Lato"/>
                <a:cs typeface="Lato"/>
                <a:sym typeface="Lato"/>
              </a:rPr>
              <a:t>QqRrSsTtUuVvWw</a:t>
            </a:r>
          </a:p>
          <a:p>
            <a:pPr algn="l" marL="0" indent="0" lvl="0">
              <a:lnSpc>
                <a:spcPts val="2415"/>
              </a:lnSpc>
              <a:spcBef>
                <a:spcPct val="0"/>
              </a:spcBef>
            </a:pPr>
            <a:r>
              <a:rPr lang="en-US" sz="2013" spc="402" strike="noStrike" u="none">
                <a:solidFill>
                  <a:srgbClr val="000000"/>
                </a:solidFill>
                <a:latin typeface="Lato"/>
                <a:ea typeface="Lato"/>
                <a:cs typeface="Lato"/>
                <a:sym typeface="Lato"/>
              </a:rPr>
              <a:t>XxYyZz</a:t>
            </a:r>
          </a:p>
          <a:p>
            <a:pPr algn="l" marL="0" indent="0" lvl="0">
              <a:lnSpc>
                <a:spcPts val="2415"/>
              </a:lnSpc>
              <a:spcBef>
                <a:spcPct val="0"/>
              </a:spcBef>
            </a:pPr>
            <a:r>
              <a:rPr lang="en-US" sz="2013" spc="402" strike="noStrike" u="none">
                <a:solidFill>
                  <a:srgbClr val="000000"/>
                </a:solidFill>
                <a:latin typeface="Lato"/>
                <a:ea typeface="Lato"/>
                <a:cs typeface="Lato"/>
                <a:sym typeface="Lato"/>
              </a:rPr>
              <a:t>1234567890</a:t>
            </a:r>
          </a:p>
        </p:txBody>
      </p:sp>
      <p:sp>
        <p:nvSpPr>
          <p:cNvPr name="TextBox 13" id="13"/>
          <p:cNvSpPr txBox="true"/>
          <p:nvPr/>
        </p:nvSpPr>
        <p:spPr>
          <a:xfrm rot="0">
            <a:off x="7140576" y="7125889"/>
            <a:ext cx="3670168" cy="316014"/>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000000"/>
                </a:solidFill>
                <a:latin typeface="Lato"/>
                <a:ea typeface="Lato"/>
                <a:cs typeface="Lato"/>
                <a:sym typeface="Lato"/>
              </a:rPr>
              <a:t>For text or title usage,</a:t>
            </a:r>
          </a:p>
        </p:txBody>
      </p:sp>
      <p:sp>
        <p:nvSpPr>
          <p:cNvPr name="TextBox 14" id="14"/>
          <p:cNvSpPr txBox="true"/>
          <p:nvPr/>
        </p:nvSpPr>
        <p:spPr>
          <a:xfrm rot="0">
            <a:off x="7140576" y="7497677"/>
            <a:ext cx="3683627" cy="778338"/>
          </a:xfrm>
          <a:prstGeom prst="rect">
            <a:avLst/>
          </a:prstGeom>
        </p:spPr>
        <p:txBody>
          <a:bodyPr anchor="t" rtlCol="false" tIns="0" lIns="0" bIns="0" rIns="0">
            <a:spAutoFit/>
          </a:bodyPr>
          <a:lstStyle/>
          <a:p>
            <a:pPr algn="just" marL="0" indent="0" lvl="0">
              <a:lnSpc>
                <a:spcPts val="3155"/>
              </a:lnSpc>
              <a:spcBef>
                <a:spcPct val="0"/>
              </a:spcBef>
            </a:pPr>
            <a:r>
              <a:rPr lang="en-US" sz="2103">
                <a:solidFill>
                  <a:srgbClr val="000000"/>
                </a:solidFill>
                <a:latin typeface="Quicksand"/>
                <a:ea typeface="Quicksand"/>
                <a:cs typeface="Quicksand"/>
                <a:sym typeface="Quicksand"/>
              </a:rPr>
              <a:t>Quicksand</a:t>
            </a:r>
            <a:r>
              <a:rPr lang="en-US" sz="2103" strike="noStrike" u="none">
                <a:solidFill>
                  <a:srgbClr val="000000"/>
                </a:solidFill>
                <a:latin typeface="Quicksand"/>
                <a:ea typeface="Quicksand"/>
                <a:cs typeface="Quicksand"/>
                <a:sym typeface="Quicksand"/>
              </a:rPr>
              <a:t> </a:t>
            </a:r>
          </a:p>
          <a:p>
            <a:pPr algn="just" marL="0" indent="0" lvl="0">
              <a:lnSpc>
                <a:spcPts val="3155"/>
              </a:lnSpc>
              <a:spcBef>
                <a:spcPct val="0"/>
              </a:spcBef>
            </a:pPr>
            <a:r>
              <a:rPr lang="en-US" sz="2103" strike="noStrike" u="none">
                <a:solidFill>
                  <a:srgbClr val="000000"/>
                </a:solidFill>
                <a:latin typeface="Quicksand"/>
                <a:ea typeface="Quicksand"/>
                <a:cs typeface="Quicksand"/>
                <a:sym typeface="Quicksand"/>
              </a:rPr>
              <a:t>Bold Italic</a:t>
            </a:r>
          </a:p>
        </p:txBody>
      </p:sp>
      <p:sp>
        <p:nvSpPr>
          <p:cNvPr name="TextBox 15" id="15"/>
          <p:cNvSpPr txBox="true"/>
          <p:nvPr/>
        </p:nvSpPr>
        <p:spPr>
          <a:xfrm rot="0">
            <a:off x="7156907" y="8360974"/>
            <a:ext cx="3974187" cy="1298808"/>
          </a:xfrm>
          <a:prstGeom prst="rect">
            <a:avLst/>
          </a:prstGeom>
        </p:spPr>
        <p:txBody>
          <a:bodyPr anchor="t" rtlCol="false" tIns="0" lIns="0" bIns="0" rIns="0">
            <a:spAutoFit/>
          </a:bodyPr>
          <a:lstStyle/>
          <a:p>
            <a:pPr algn="l">
              <a:lnSpc>
                <a:spcPts val="2096"/>
              </a:lnSpc>
            </a:pPr>
            <a:r>
              <a:rPr lang="en-US" sz="2207" spc="99">
                <a:solidFill>
                  <a:srgbClr val="000000"/>
                </a:solidFill>
                <a:latin typeface="Quicksand"/>
                <a:ea typeface="Quicksand"/>
                <a:cs typeface="Quicksand"/>
                <a:sym typeface="Quicksand"/>
              </a:rPr>
              <a:t>AaBbCcDdEeFfGgHh</a:t>
            </a:r>
          </a:p>
          <a:p>
            <a:pPr algn="l">
              <a:lnSpc>
                <a:spcPts val="2096"/>
              </a:lnSpc>
            </a:pPr>
            <a:r>
              <a:rPr lang="en-US" sz="2207" spc="99">
                <a:solidFill>
                  <a:srgbClr val="000000"/>
                </a:solidFill>
                <a:latin typeface="Quicksand"/>
                <a:ea typeface="Quicksand"/>
                <a:cs typeface="Quicksand"/>
                <a:sym typeface="Quicksand"/>
              </a:rPr>
              <a:t>IiJjKkLlMmNnOoPp</a:t>
            </a:r>
          </a:p>
          <a:p>
            <a:pPr algn="l">
              <a:lnSpc>
                <a:spcPts val="2096"/>
              </a:lnSpc>
            </a:pPr>
            <a:r>
              <a:rPr lang="en-US" sz="2207" spc="99">
                <a:solidFill>
                  <a:srgbClr val="000000"/>
                </a:solidFill>
                <a:latin typeface="Quicksand"/>
                <a:ea typeface="Quicksand"/>
                <a:cs typeface="Quicksand"/>
                <a:sym typeface="Quicksand"/>
              </a:rPr>
              <a:t>QqRrSsTtUuVvWw</a:t>
            </a:r>
          </a:p>
          <a:p>
            <a:pPr algn="l">
              <a:lnSpc>
                <a:spcPts val="2096"/>
              </a:lnSpc>
            </a:pPr>
            <a:r>
              <a:rPr lang="en-US" sz="2207" spc="99">
                <a:solidFill>
                  <a:srgbClr val="000000"/>
                </a:solidFill>
                <a:latin typeface="Quicksand"/>
                <a:ea typeface="Quicksand"/>
                <a:cs typeface="Quicksand"/>
                <a:sym typeface="Quicksand"/>
              </a:rPr>
              <a:t>XxYyZz</a:t>
            </a:r>
          </a:p>
          <a:p>
            <a:pPr algn="l">
              <a:lnSpc>
                <a:spcPts val="2096"/>
              </a:lnSpc>
            </a:pPr>
            <a:r>
              <a:rPr lang="en-US" sz="2207" spc="99">
                <a:solidFill>
                  <a:srgbClr val="000000"/>
                </a:solidFill>
                <a:latin typeface="Quicksand"/>
                <a:ea typeface="Quicksand"/>
                <a:cs typeface="Quicksand"/>
                <a:sym typeface="Quicksand"/>
              </a:rPr>
              <a:t>1234567890</a:t>
            </a:r>
          </a:p>
        </p:txBody>
      </p:sp>
      <p:sp>
        <p:nvSpPr>
          <p:cNvPr name="TextBox 16" id="16"/>
          <p:cNvSpPr txBox="true"/>
          <p:nvPr/>
        </p:nvSpPr>
        <p:spPr>
          <a:xfrm rot="0">
            <a:off x="13734479" y="6739205"/>
            <a:ext cx="2969173" cy="572880"/>
          </a:xfrm>
          <a:prstGeom prst="rect">
            <a:avLst/>
          </a:prstGeom>
        </p:spPr>
        <p:txBody>
          <a:bodyPr anchor="t" rtlCol="false" tIns="0" lIns="0" bIns="0" rIns="0">
            <a:spAutoFit/>
          </a:bodyPr>
          <a:lstStyle/>
          <a:p>
            <a:pPr algn="ctr">
              <a:lnSpc>
                <a:spcPts val="4717"/>
              </a:lnSpc>
            </a:pPr>
            <a:r>
              <a:rPr lang="en-US" sz="3369">
                <a:solidFill>
                  <a:srgbClr val="000000"/>
                </a:solidFill>
                <a:latin typeface="Quicksand"/>
                <a:ea typeface="Quicksand"/>
                <a:cs typeface="Quicksand"/>
                <a:sym typeface="Quicksand"/>
              </a:rPr>
              <a:t>@theblacqlist</a:t>
            </a:r>
          </a:p>
        </p:txBody>
      </p:sp>
      <p:sp>
        <p:nvSpPr>
          <p:cNvPr name="TextBox 17" id="17"/>
          <p:cNvSpPr txBox="true"/>
          <p:nvPr/>
        </p:nvSpPr>
        <p:spPr>
          <a:xfrm rot="0">
            <a:off x="7140576" y="4600881"/>
            <a:ext cx="4602051" cy="733425"/>
          </a:xfrm>
          <a:prstGeom prst="rect">
            <a:avLst/>
          </a:prstGeom>
        </p:spPr>
        <p:txBody>
          <a:bodyPr anchor="t" rtlCol="false" tIns="0" lIns="0" bIns="0" rIns="0">
            <a:spAutoFit/>
          </a:bodyPr>
          <a:lstStyle/>
          <a:p>
            <a:pPr algn="l" marL="0" indent="0" lvl="0">
              <a:lnSpc>
                <a:spcPts val="2880"/>
              </a:lnSpc>
              <a:spcBef>
                <a:spcPct val="0"/>
              </a:spcBef>
            </a:pPr>
            <a:r>
              <a:rPr lang="en-US" b="true" sz="2400" spc="480">
                <a:solidFill>
                  <a:srgbClr val="000000"/>
                </a:solidFill>
                <a:latin typeface="Glacial Indifference Bold"/>
                <a:ea typeface="Glacial Indifference Bold"/>
                <a:cs typeface="Glacial Indifference Bold"/>
                <a:sym typeface="Glacial Indifference Bold"/>
              </a:rPr>
              <a:t>GLACIAL INDIFFERENCE</a:t>
            </a:r>
            <a:r>
              <a:rPr lang="en-US" b="true" sz="2400" spc="480" strike="noStrike" u="none">
                <a:solidFill>
                  <a:srgbClr val="000000"/>
                </a:solidFill>
                <a:latin typeface="Glacial Indifference Bold"/>
                <a:ea typeface="Glacial Indifference Bold"/>
                <a:cs typeface="Glacial Indifference Bold"/>
                <a:sym typeface="Glacial Indifference Bold"/>
              </a:rPr>
              <a:t> </a:t>
            </a:r>
          </a:p>
          <a:p>
            <a:pPr algn="l" marL="0" indent="0" lvl="0">
              <a:lnSpc>
                <a:spcPts val="2880"/>
              </a:lnSpc>
              <a:spcBef>
                <a:spcPct val="0"/>
              </a:spcBef>
            </a:pPr>
            <a:r>
              <a:rPr lang="en-US" b="true" sz="2400" spc="480" strike="noStrike" u="none">
                <a:solidFill>
                  <a:srgbClr val="E2A428"/>
                </a:solidFill>
                <a:latin typeface="Glacial Indifference Bold"/>
                <a:ea typeface="Glacial Indifference Bold"/>
                <a:cs typeface="Glacial Indifference Bold"/>
                <a:sym typeface="Glacial Indifference Bold"/>
              </a:rPr>
              <a:t>BOLD </a:t>
            </a:r>
            <a:r>
              <a:rPr lang="en-US" b="true" sz="2400" i="true" spc="480" strike="noStrike" u="none">
                <a:solidFill>
                  <a:srgbClr val="E2A428"/>
                </a:solidFill>
                <a:latin typeface="Glacial Indifference Bold Italics"/>
                <a:ea typeface="Glacial Indifference Bold Italics"/>
                <a:cs typeface="Glacial Indifference Bold Italics"/>
                <a:sym typeface="Glacial Indifference Bold Italics"/>
              </a:rPr>
              <a:t>ITALIC</a:t>
            </a:r>
          </a:p>
        </p:txBody>
      </p:sp>
      <p:sp>
        <p:nvSpPr>
          <p:cNvPr name="TextBox 18" id="18"/>
          <p:cNvSpPr txBox="true"/>
          <p:nvPr/>
        </p:nvSpPr>
        <p:spPr>
          <a:xfrm rot="0">
            <a:off x="7140576" y="5391456"/>
            <a:ext cx="4116792" cy="1543050"/>
          </a:xfrm>
          <a:prstGeom prst="rect">
            <a:avLst/>
          </a:prstGeom>
        </p:spPr>
        <p:txBody>
          <a:bodyPr anchor="t" rtlCol="false" tIns="0" lIns="0" bIns="0" rIns="0">
            <a:spAutoFit/>
          </a:bodyPr>
          <a:lstStyle/>
          <a:p>
            <a:pPr algn="l" marL="0" indent="0" lvl="0">
              <a:lnSpc>
                <a:spcPts val="2400"/>
              </a:lnSpc>
              <a:spcBef>
                <a:spcPct val="0"/>
              </a:spcBef>
            </a:pPr>
            <a:r>
              <a:rPr lang="en-US" b="true" sz="2000" spc="400" strike="noStrike" u="none">
                <a:solidFill>
                  <a:srgbClr val="000000"/>
                </a:solidFill>
                <a:latin typeface="Glacial Indifference Bold"/>
                <a:ea typeface="Glacial Indifference Bold"/>
                <a:cs typeface="Glacial Indifference Bold"/>
                <a:sym typeface="Glacial Indifference Bold"/>
              </a:rPr>
              <a:t>AABBCCDDEEFFGGHH</a:t>
            </a:r>
          </a:p>
          <a:p>
            <a:pPr algn="l" marL="0" indent="0" lvl="0">
              <a:lnSpc>
                <a:spcPts val="2400"/>
              </a:lnSpc>
              <a:spcBef>
                <a:spcPct val="0"/>
              </a:spcBef>
            </a:pPr>
            <a:r>
              <a:rPr lang="en-US" b="true" sz="2000" spc="400" strike="noStrike" u="none">
                <a:solidFill>
                  <a:srgbClr val="000000"/>
                </a:solidFill>
                <a:latin typeface="Glacial Indifference Bold"/>
                <a:ea typeface="Glacial Indifference Bold"/>
                <a:cs typeface="Glacial Indifference Bold"/>
                <a:sym typeface="Glacial Indifference Bold"/>
              </a:rPr>
              <a:t>IIJJKKLLMMNNOOPP</a:t>
            </a:r>
          </a:p>
          <a:p>
            <a:pPr algn="l" marL="0" indent="0" lvl="0">
              <a:lnSpc>
                <a:spcPts val="2400"/>
              </a:lnSpc>
              <a:spcBef>
                <a:spcPct val="0"/>
              </a:spcBef>
            </a:pPr>
            <a:r>
              <a:rPr lang="en-US" b="true" sz="2000" spc="400" strike="noStrike" u="none">
                <a:solidFill>
                  <a:srgbClr val="000000"/>
                </a:solidFill>
                <a:latin typeface="Glacial Indifference Bold"/>
                <a:ea typeface="Glacial Indifference Bold"/>
                <a:cs typeface="Glacial Indifference Bold"/>
                <a:sym typeface="Glacial Indifference Bold"/>
              </a:rPr>
              <a:t>QQRRSSTTUUVVWW</a:t>
            </a:r>
          </a:p>
          <a:p>
            <a:pPr algn="l" marL="0" indent="0" lvl="0">
              <a:lnSpc>
                <a:spcPts val="2400"/>
              </a:lnSpc>
              <a:spcBef>
                <a:spcPct val="0"/>
              </a:spcBef>
            </a:pPr>
            <a:r>
              <a:rPr lang="en-US" b="true" sz="2000" spc="400" strike="noStrike" u="none">
                <a:solidFill>
                  <a:srgbClr val="000000"/>
                </a:solidFill>
                <a:latin typeface="Glacial Indifference Bold"/>
                <a:ea typeface="Glacial Indifference Bold"/>
                <a:cs typeface="Glacial Indifference Bold"/>
                <a:sym typeface="Glacial Indifference Bold"/>
              </a:rPr>
              <a:t>XXYYZZ</a:t>
            </a:r>
          </a:p>
          <a:p>
            <a:pPr algn="l" marL="0" indent="0" lvl="0">
              <a:lnSpc>
                <a:spcPts val="2400"/>
              </a:lnSpc>
              <a:spcBef>
                <a:spcPct val="0"/>
              </a:spcBef>
            </a:pPr>
            <a:r>
              <a:rPr lang="en-US" b="true" sz="2000" spc="400" strike="noStrike" u="none">
                <a:solidFill>
                  <a:srgbClr val="000000"/>
                </a:solidFill>
                <a:latin typeface="Glacial Indifference Bold"/>
                <a:ea typeface="Glacial Indifference Bold"/>
                <a:cs typeface="Glacial Indifference Bold"/>
                <a:sym typeface="Glacial Indifference Bold"/>
              </a:rPr>
              <a:t>1234567890</a:t>
            </a:r>
          </a:p>
        </p:txBody>
      </p:sp>
      <p:grpSp>
        <p:nvGrpSpPr>
          <p:cNvPr name="Group 19" id="19"/>
          <p:cNvGrpSpPr/>
          <p:nvPr/>
        </p:nvGrpSpPr>
        <p:grpSpPr>
          <a:xfrm rot="0">
            <a:off x="13282469" y="2214629"/>
            <a:ext cx="3658401" cy="3658401"/>
            <a:chOff x="0" y="0"/>
            <a:chExt cx="4877868" cy="4877868"/>
          </a:xfrm>
        </p:grpSpPr>
        <p:grpSp>
          <p:nvGrpSpPr>
            <p:cNvPr name="Group 20" id="20"/>
            <p:cNvGrpSpPr/>
            <p:nvPr/>
          </p:nvGrpSpPr>
          <p:grpSpPr>
            <a:xfrm rot="0">
              <a:off x="0" y="0"/>
              <a:ext cx="4877868" cy="4877868"/>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2" id="22"/>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23" id="23"/>
            <p:cNvSpPr/>
            <p:nvPr/>
          </p:nvSpPr>
          <p:spPr>
            <a:xfrm flipH="false" flipV="false" rot="0">
              <a:off x="1219614" y="1219614"/>
              <a:ext cx="2438640" cy="2438640"/>
            </a:xfrm>
            <a:custGeom>
              <a:avLst/>
              <a:gdLst/>
              <a:ahLst/>
              <a:cxnLst/>
              <a:rect r="r" b="b" t="t" l="l"/>
              <a:pathLst>
                <a:path h="2438640" w="2438640">
                  <a:moveTo>
                    <a:pt x="0" y="0"/>
                  </a:moveTo>
                  <a:lnTo>
                    <a:pt x="2438640" y="0"/>
                  </a:lnTo>
                  <a:lnTo>
                    <a:pt x="2438640" y="2438640"/>
                  </a:lnTo>
                  <a:lnTo>
                    <a:pt x="0" y="24386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0">
              <a:off x="1356931" y="1356931"/>
              <a:ext cx="2164007" cy="2164007"/>
            </a:xfrm>
            <a:custGeom>
              <a:avLst/>
              <a:gdLst/>
              <a:ahLst/>
              <a:cxnLst/>
              <a:rect r="r" b="b" t="t" l="l"/>
              <a:pathLst>
                <a:path h="2164007" w="2164007">
                  <a:moveTo>
                    <a:pt x="0" y="0"/>
                  </a:moveTo>
                  <a:lnTo>
                    <a:pt x="2164007" y="0"/>
                  </a:lnTo>
                  <a:lnTo>
                    <a:pt x="2164007" y="2164007"/>
                  </a:lnTo>
                  <a:lnTo>
                    <a:pt x="0" y="21640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972407" y="972407"/>
              <a:ext cx="2933054" cy="2933054"/>
            </a:xfrm>
            <a:custGeom>
              <a:avLst/>
              <a:gdLst/>
              <a:ahLst/>
              <a:cxnLst/>
              <a:rect r="r" b="b" t="t" l="l"/>
              <a:pathLst>
                <a:path h="2933054" w="2933054">
                  <a:moveTo>
                    <a:pt x="0" y="0"/>
                  </a:moveTo>
                  <a:lnTo>
                    <a:pt x="2933054" y="0"/>
                  </a:lnTo>
                  <a:lnTo>
                    <a:pt x="2933054" y="2933054"/>
                  </a:lnTo>
                  <a:lnTo>
                    <a:pt x="0" y="2933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0">
              <a:off x="1000862" y="1000862"/>
              <a:ext cx="2876145" cy="2876145"/>
            </a:xfrm>
            <a:custGeom>
              <a:avLst/>
              <a:gdLst/>
              <a:ahLst/>
              <a:cxnLst/>
              <a:rect r="r" b="b" t="t" l="l"/>
              <a:pathLst>
                <a:path h="2876145" w="2876145">
                  <a:moveTo>
                    <a:pt x="0" y="0"/>
                  </a:moveTo>
                  <a:lnTo>
                    <a:pt x="2876145" y="0"/>
                  </a:lnTo>
                  <a:lnTo>
                    <a:pt x="2876145" y="2876145"/>
                  </a:lnTo>
                  <a:lnTo>
                    <a:pt x="0" y="28761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7" id="27"/>
            <p:cNvGrpSpPr/>
            <p:nvPr/>
          </p:nvGrpSpPr>
          <p:grpSpPr>
            <a:xfrm rot="-3023822">
              <a:off x="3473503" y="2764161"/>
              <a:ext cx="560476" cy="1447982"/>
              <a:chOff x="0" y="0"/>
              <a:chExt cx="237482" cy="613533"/>
            </a:xfrm>
          </p:grpSpPr>
          <p:sp>
            <p:nvSpPr>
              <p:cNvPr name="Freeform 28" id="28"/>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29" id="29"/>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30" id="30"/>
            <p:cNvSpPr/>
            <p:nvPr/>
          </p:nvSpPr>
          <p:spPr>
            <a:xfrm flipH="false" flipV="false" rot="0">
              <a:off x="1971391" y="1971391"/>
              <a:ext cx="935086" cy="935086"/>
            </a:xfrm>
            <a:custGeom>
              <a:avLst/>
              <a:gdLst/>
              <a:ahLst/>
              <a:cxnLst/>
              <a:rect r="r" b="b" t="t" l="l"/>
              <a:pathLst>
                <a:path h="935086" w="935086">
                  <a:moveTo>
                    <a:pt x="0" y="0"/>
                  </a:moveTo>
                  <a:lnTo>
                    <a:pt x="935086" y="0"/>
                  </a:lnTo>
                  <a:lnTo>
                    <a:pt x="935086" y="935086"/>
                  </a:lnTo>
                  <a:lnTo>
                    <a:pt x="0" y="935086"/>
                  </a:lnTo>
                  <a:lnTo>
                    <a:pt x="0" y="0"/>
                  </a:lnTo>
                  <a:close/>
                </a:path>
              </a:pathLst>
            </a:custGeom>
            <a:blipFill>
              <a:blip r:embed="rId6"/>
              <a:stretch>
                <a:fillRect l="0" t="0" r="0" b="0"/>
              </a:stretch>
            </a:blipFill>
          </p:spPr>
        </p:sp>
      </p:grpSp>
      <p:sp>
        <p:nvSpPr>
          <p:cNvPr name="TextBox 31" id="31"/>
          <p:cNvSpPr txBox="true"/>
          <p:nvPr/>
        </p:nvSpPr>
        <p:spPr>
          <a:xfrm rot="0">
            <a:off x="12188123" y="6072448"/>
            <a:ext cx="5847094" cy="611702"/>
          </a:xfrm>
          <a:prstGeom prst="rect">
            <a:avLst/>
          </a:prstGeom>
        </p:spPr>
        <p:txBody>
          <a:bodyPr anchor="t" rtlCol="false" tIns="0" lIns="0" bIns="0" rIns="0">
            <a:spAutoFit/>
          </a:bodyPr>
          <a:lstStyle/>
          <a:p>
            <a:pPr algn="ctr">
              <a:lnSpc>
                <a:spcPts val="4793"/>
              </a:lnSpc>
            </a:pPr>
            <a:r>
              <a:rPr lang="en-US" b="true" sz="3994" spc="798">
                <a:solidFill>
                  <a:srgbClr val="000000"/>
                </a:solidFill>
                <a:latin typeface="Glacial Indifference Bold"/>
                <a:ea typeface="Glacial Indifference Bold"/>
                <a:cs typeface="Glacial Indifference Bold"/>
                <a:sym typeface="Glacial Indifference Bold"/>
              </a:rPr>
              <a:t>The BLACQList</a:t>
            </a:r>
          </a:p>
        </p:txBody>
      </p:sp>
      <p:grpSp>
        <p:nvGrpSpPr>
          <p:cNvPr name="Group 32" id="32"/>
          <p:cNvGrpSpPr/>
          <p:nvPr/>
        </p:nvGrpSpPr>
        <p:grpSpPr>
          <a:xfrm rot="0">
            <a:off x="16750528" y="8749528"/>
            <a:ext cx="1189071" cy="1189071"/>
            <a:chOff x="0" y="0"/>
            <a:chExt cx="1585428" cy="1585428"/>
          </a:xfrm>
        </p:grpSpPr>
        <p:grpSp>
          <p:nvGrpSpPr>
            <p:cNvPr name="Group 33" id="33"/>
            <p:cNvGrpSpPr/>
            <p:nvPr/>
          </p:nvGrpSpPr>
          <p:grpSpPr>
            <a:xfrm rot="0">
              <a:off x="0" y="0"/>
              <a:ext cx="1585428" cy="1585428"/>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35" id="35"/>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36" id="36"/>
            <p:cNvSpPr/>
            <p:nvPr/>
          </p:nvSpPr>
          <p:spPr>
            <a:xfrm flipH="false" flipV="false" rot="0">
              <a:off x="396405" y="396405"/>
              <a:ext cx="792619" cy="792619"/>
            </a:xfrm>
            <a:custGeom>
              <a:avLst/>
              <a:gdLst/>
              <a:ahLst/>
              <a:cxnLst/>
              <a:rect r="r" b="b" t="t" l="l"/>
              <a:pathLst>
                <a:path h="792619" w="792619">
                  <a:moveTo>
                    <a:pt x="0" y="0"/>
                  </a:moveTo>
                  <a:lnTo>
                    <a:pt x="792618" y="0"/>
                  </a:lnTo>
                  <a:lnTo>
                    <a:pt x="792618" y="792618"/>
                  </a:lnTo>
                  <a:lnTo>
                    <a:pt x="0" y="792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7" id="37"/>
            <p:cNvSpPr/>
            <p:nvPr/>
          </p:nvSpPr>
          <p:spPr>
            <a:xfrm flipH="false" flipV="false" rot="0">
              <a:off x="441036" y="441036"/>
              <a:ext cx="703356" cy="703356"/>
            </a:xfrm>
            <a:custGeom>
              <a:avLst/>
              <a:gdLst/>
              <a:ahLst/>
              <a:cxnLst/>
              <a:rect r="r" b="b" t="t" l="l"/>
              <a:pathLst>
                <a:path h="703356" w="703356">
                  <a:moveTo>
                    <a:pt x="0" y="0"/>
                  </a:moveTo>
                  <a:lnTo>
                    <a:pt x="703356" y="0"/>
                  </a:lnTo>
                  <a:lnTo>
                    <a:pt x="703356" y="703356"/>
                  </a:lnTo>
                  <a:lnTo>
                    <a:pt x="0" y="7033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8" id="38"/>
            <p:cNvSpPr/>
            <p:nvPr/>
          </p:nvSpPr>
          <p:spPr>
            <a:xfrm flipH="false" flipV="false" rot="0">
              <a:off x="316057" y="316057"/>
              <a:ext cx="953315" cy="953315"/>
            </a:xfrm>
            <a:custGeom>
              <a:avLst/>
              <a:gdLst/>
              <a:ahLst/>
              <a:cxnLst/>
              <a:rect r="r" b="b" t="t" l="l"/>
              <a:pathLst>
                <a:path h="953315" w="953315">
                  <a:moveTo>
                    <a:pt x="0" y="0"/>
                  </a:moveTo>
                  <a:lnTo>
                    <a:pt x="953315" y="0"/>
                  </a:lnTo>
                  <a:lnTo>
                    <a:pt x="953315" y="953315"/>
                  </a:lnTo>
                  <a:lnTo>
                    <a:pt x="0" y="9533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9" id="39"/>
            <p:cNvSpPr/>
            <p:nvPr/>
          </p:nvSpPr>
          <p:spPr>
            <a:xfrm flipH="false" flipV="false" rot="0">
              <a:off x="325305" y="325305"/>
              <a:ext cx="934819" cy="934819"/>
            </a:xfrm>
            <a:custGeom>
              <a:avLst/>
              <a:gdLst/>
              <a:ahLst/>
              <a:cxnLst/>
              <a:rect r="r" b="b" t="t" l="l"/>
              <a:pathLst>
                <a:path h="934819" w="934819">
                  <a:moveTo>
                    <a:pt x="0" y="0"/>
                  </a:moveTo>
                  <a:lnTo>
                    <a:pt x="934818" y="0"/>
                  </a:lnTo>
                  <a:lnTo>
                    <a:pt x="934818" y="934818"/>
                  </a:lnTo>
                  <a:lnTo>
                    <a:pt x="0" y="9348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0" id="40"/>
            <p:cNvGrpSpPr/>
            <p:nvPr/>
          </p:nvGrpSpPr>
          <p:grpSpPr>
            <a:xfrm rot="-3023822">
              <a:off x="1128975" y="898421"/>
              <a:ext cx="182169" cy="470630"/>
              <a:chOff x="0" y="0"/>
              <a:chExt cx="237482" cy="613533"/>
            </a:xfrm>
          </p:grpSpPr>
          <p:sp>
            <p:nvSpPr>
              <p:cNvPr name="Freeform 41" id="41"/>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42" id="42"/>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43" id="43"/>
            <p:cNvSpPr/>
            <p:nvPr/>
          </p:nvSpPr>
          <p:spPr>
            <a:xfrm flipH="false" flipV="false" rot="0">
              <a:off x="640751" y="640751"/>
              <a:ext cx="303926" cy="303926"/>
            </a:xfrm>
            <a:custGeom>
              <a:avLst/>
              <a:gdLst/>
              <a:ahLst/>
              <a:cxnLst/>
              <a:rect r="r" b="b" t="t" l="l"/>
              <a:pathLst>
                <a:path h="303926" w="303926">
                  <a:moveTo>
                    <a:pt x="0" y="0"/>
                  </a:moveTo>
                  <a:lnTo>
                    <a:pt x="303926" y="0"/>
                  </a:lnTo>
                  <a:lnTo>
                    <a:pt x="303926" y="303926"/>
                  </a:lnTo>
                  <a:lnTo>
                    <a:pt x="0" y="303926"/>
                  </a:lnTo>
                  <a:lnTo>
                    <a:pt x="0" y="0"/>
                  </a:lnTo>
                  <a:close/>
                </a:path>
              </a:pathLst>
            </a:custGeom>
            <a:blipFill>
              <a:blip r:embed="rId6"/>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2A428"/>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041214" y="-1761467"/>
            <a:ext cx="14542490" cy="12212865"/>
          </a:xfrm>
          <a:custGeom>
            <a:avLst/>
            <a:gdLst/>
            <a:ahLst/>
            <a:cxnLst/>
            <a:rect r="r" b="b" t="t" l="l"/>
            <a:pathLst>
              <a:path h="12212865" w="14542490">
                <a:moveTo>
                  <a:pt x="0" y="0"/>
                </a:moveTo>
                <a:lnTo>
                  <a:pt x="14542491" y="0"/>
                </a:lnTo>
                <a:lnTo>
                  <a:pt x="14542491" y="12212865"/>
                </a:lnTo>
                <a:lnTo>
                  <a:pt x="0" y="12212865"/>
                </a:lnTo>
                <a:lnTo>
                  <a:pt x="0" y="0"/>
                </a:lnTo>
                <a:close/>
              </a:path>
            </a:pathLst>
          </a:custGeom>
          <a:blipFill>
            <a:blip r:embed="rId2"/>
            <a:stretch>
              <a:fillRect l="-7923" t="0" r="-21029" b="0"/>
            </a:stretch>
          </a:blipFill>
        </p:spPr>
      </p:sp>
      <p:sp>
        <p:nvSpPr>
          <p:cNvPr name="TextBox 3" id="3"/>
          <p:cNvSpPr txBox="true"/>
          <p:nvPr/>
        </p:nvSpPr>
        <p:spPr>
          <a:xfrm rot="0">
            <a:off x="903062" y="704850"/>
            <a:ext cx="8948261" cy="628650"/>
          </a:xfrm>
          <a:prstGeom prst="rect">
            <a:avLst/>
          </a:prstGeom>
        </p:spPr>
        <p:txBody>
          <a:bodyPr anchor="t" rtlCol="false" tIns="0" lIns="0" bIns="0" rIns="0">
            <a:spAutoFit/>
          </a:bodyPr>
          <a:lstStyle/>
          <a:p>
            <a:pPr algn="l" marL="0" indent="0" lvl="0">
              <a:lnSpc>
                <a:spcPts val="4800"/>
              </a:lnSpc>
              <a:spcBef>
                <a:spcPct val="0"/>
              </a:spcBef>
            </a:pPr>
            <a:r>
              <a:rPr lang="en-US" b="true" sz="4000" spc="800" strike="noStrike" u="none">
                <a:solidFill>
                  <a:srgbClr val="000000"/>
                </a:solidFill>
                <a:latin typeface="Glacial Indifference Bold"/>
                <a:ea typeface="Glacial Indifference Bold"/>
                <a:cs typeface="Glacial Indifference Bold"/>
                <a:sym typeface="Glacial Indifference Bold"/>
              </a:rPr>
              <a:t>PRIMARY BRAND GRAPHICS</a:t>
            </a:r>
          </a:p>
        </p:txBody>
      </p:sp>
      <p:sp>
        <p:nvSpPr>
          <p:cNvPr name="TextBox 4" id="4"/>
          <p:cNvSpPr txBox="true"/>
          <p:nvPr/>
        </p:nvSpPr>
        <p:spPr>
          <a:xfrm rot="0">
            <a:off x="903062" y="1323975"/>
            <a:ext cx="5956784" cy="314325"/>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000000"/>
                </a:solidFill>
                <a:latin typeface="Lato"/>
                <a:ea typeface="Lato"/>
                <a:cs typeface="Lato"/>
                <a:sym typeface="Lato"/>
              </a:rPr>
              <a:t>Process Color Logo Files</a:t>
            </a:r>
          </a:p>
        </p:txBody>
      </p:sp>
      <p:sp>
        <p:nvSpPr>
          <p:cNvPr name="TextBox 5" id="5"/>
          <p:cNvSpPr txBox="true"/>
          <p:nvPr/>
        </p:nvSpPr>
        <p:spPr>
          <a:xfrm rot="0">
            <a:off x="903062" y="1951801"/>
            <a:ext cx="12149213" cy="1177152"/>
          </a:xfrm>
          <a:prstGeom prst="rect">
            <a:avLst/>
          </a:prstGeom>
        </p:spPr>
        <p:txBody>
          <a:bodyPr anchor="t" rtlCol="false" tIns="0" lIns="0" bIns="0" rIns="0">
            <a:spAutoFit/>
          </a:bodyPr>
          <a:lstStyle/>
          <a:p>
            <a:pPr algn="just" marL="0" indent="0" lvl="0">
              <a:lnSpc>
                <a:spcPts val="3155"/>
              </a:lnSpc>
              <a:spcBef>
                <a:spcPct val="0"/>
              </a:spcBef>
            </a:pPr>
            <a:r>
              <a:rPr lang="en-US" sz="2103" strike="noStrike" u="none">
                <a:solidFill>
                  <a:srgbClr val="000000"/>
                </a:solidFill>
                <a:latin typeface="Quicksand"/>
                <a:ea typeface="Quicksand"/>
                <a:cs typeface="Quicksand"/>
                <a:sym typeface="Quicksand"/>
              </a:rPr>
              <a:t>Process color logo files should be used for all off-set printed or digitally printed pieces done in full color. You can use it for collateral like brochures or yearbooks, signage, trade show banners, posters, or stickers. It can also be used to create web or on-screen graphics as well.</a:t>
            </a:r>
          </a:p>
        </p:txBody>
      </p:sp>
      <p:sp>
        <p:nvSpPr>
          <p:cNvPr name="TextBox 6" id="6"/>
          <p:cNvSpPr txBox="true"/>
          <p:nvPr/>
        </p:nvSpPr>
        <p:spPr>
          <a:xfrm rot="0">
            <a:off x="903062" y="8324850"/>
            <a:ext cx="9193353" cy="933450"/>
          </a:xfrm>
          <a:prstGeom prst="rect">
            <a:avLst/>
          </a:prstGeom>
        </p:spPr>
        <p:txBody>
          <a:bodyPr anchor="t" rtlCol="false" tIns="0" lIns="0" bIns="0" rIns="0">
            <a:spAutoFit/>
          </a:bodyPr>
          <a:lstStyle/>
          <a:p>
            <a:pPr algn="l" marL="0" indent="0" lvl="0">
              <a:lnSpc>
                <a:spcPts val="7200"/>
              </a:lnSpc>
              <a:spcBef>
                <a:spcPct val="0"/>
              </a:spcBef>
            </a:pPr>
            <a:r>
              <a:rPr lang="en-US" b="true" sz="6000" spc="1200" strike="noStrike" u="none">
                <a:solidFill>
                  <a:srgbClr val="000000">
                    <a:alpha val="34902"/>
                  </a:srgbClr>
                </a:solidFill>
                <a:latin typeface="Glacial Indifference Bold"/>
                <a:ea typeface="Glacial Indifference Bold"/>
                <a:cs typeface="Glacial Indifference Bold"/>
                <a:sym typeface="Glacial Indifference Bold"/>
              </a:rPr>
              <a:t>PROCESS</a:t>
            </a:r>
          </a:p>
        </p:txBody>
      </p:sp>
      <p:sp>
        <p:nvSpPr>
          <p:cNvPr name="TextBox 7" id="7"/>
          <p:cNvSpPr txBox="true"/>
          <p:nvPr/>
        </p:nvSpPr>
        <p:spPr>
          <a:xfrm rot="0">
            <a:off x="6248856" y="7906157"/>
            <a:ext cx="2767115" cy="276606"/>
          </a:xfrm>
          <a:prstGeom prst="rect">
            <a:avLst/>
          </a:prstGeom>
        </p:spPr>
        <p:txBody>
          <a:bodyPr anchor="t" rtlCol="false" tIns="0" lIns="0" bIns="0" rIns="0">
            <a:spAutoFit/>
          </a:bodyPr>
          <a:lstStyle/>
          <a:p>
            <a:pPr algn="ctr">
              <a:lnSpc>
                <a:spcPts val="2114"/>
              </a:lnSpc>
            </a:pPr>
            <a:r>
              <a:rPr lang="en-US" sz="1761" spc="352">
                <a:solidFill>
                  <a:srgbClr val="000000"/>
                </a:solidFill>
                <a:latin typeface="Lato"/>
                <a:ea typeface="Lato"/>
                <a:cs typeface="Lato"/>
                <a:sym typeface="Lato"/>
              </a:rPr>
              <a:t>Find and Be Found</a:t>
            </a:r>
          </a:p>
        </p:txBody>
      </p:sp>
      <p:grpSp>
        <p:nvGrpSpPr>
          <p:cNvPr name="Group 8" id="8"/>
          <p:cNvGrpSpPr/>
          <p:nvPr/>
        </p:nvGrpSpPr>
        <p:grpSpPr>
          <a:xfrm rot="0">
            <a:off x="6090740" y="4025219"/>
            <a:ext cx="3083347" cy="3083347"/>
            <a:chOff x="0" y="0"/>
            <a:chExt cx="4111129" cy="4111129"/>
          </a:xfrm>
        </p:grpSpPr>
        <p:grpSp>
          <p:nvGrpSpPr>
            <p:cNvPr name="Group 9" id="9"/>
            <p:cNvGrpSpPr/>
            <p:nvPr/>
          </p:nvGrpSpPr>
          <p:grpSpPr>
            <a:xfrm rot="0">
              <a:off x="0" y="0"/>
              <a:ext cx="4111129" cy="411112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1" id="11"/>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12" id="12"/>
            <p:cNvSpPr/>
            <p:nvPr/>
          </p:nvSpPr>
          <p:spPr>
            <a:xfrm flipH="false" flipV="false" rot="0">
              <a:off x="1027906" y="1027906"/>
              <a:ext cx="2055317" cy="2055317"/>
            </a:xfrm>
            <a:custGeom>
              <a:avLst/>
              <a:gdLst/>
              <a:ahLst/>
              <a:cxnLst/>
              <a:rect r="r" b="b" t="t" l="l"/>
              <a:pathLst>
                <a:path h="2055317" w="2055317">
                  <a:moveTo>
                    <a:pt x="0" y="0"/>
                  </a:moveTo>
                  <a:lnTo>
                    <a:pt x="2055317" y="0"/>
                  </a:lnTo>
                  <a:lnTo>
                    <a:pt x="2055317" y="2055317"/>
                  </a:lnTo>
                  <a:lnTo>
                    <a:pt x="0" y="20553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143638" y="1143638"/>
              <a:ext cx="1823852" cy="1823852"/>
            </a:xfrm>
            <a:custGeom>
              <a:avLst/>
              <a:gdLst/>
              <a:ahLst/>
              <a:cxnLst/>
              <a:rect r="r" b="b" t="t" l="l"/>
              <a:pathLst>
                <a:path h="1823852" w="1823852">
                  <a:moveTo>
                    <a:pt x="0" y="0"/>
                  </a:moveTo>
                  <a:lnTo>
                    <a:pt x="1823853" y="0"/>
                  </a:lnTo>
                  <a:lnTo>
                    <a:pt x="1823853" y="1823853"/>
                  </a:lnTo>
                  <a:lnTo>
                    <a:pt x="0" y="1823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819557" y="819557"/>
              <a:ext cx="2472015" cy="2472015"/>
            </a:xfrm>
            <a:custGeom>
              <a:avLst/>
              <a:gdLst/>
              <a:ahLst/>
              <a:cxnLst/>
              <a:rect r="r" b="b" t="t" l="l"/>
              <a:pathLst>
                <a:path h="2472015" w="2472015">
                  <a:moveTo>
                    <a:pt x="0" y="0"/>
                  </a:moveTo>
                  <a:lnTo>
                    <a:pt x="2472015" y="0"/>
                  </a:lnTo>
                  <a:lnTo>
                    <a:pt x="2472015" y="2472015"/>
                  </a:lnTo>
                  <a:lnTo>
                    <a:pt x="0" y="24720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843539" y="843539"/>
              <a:ext cx="2424052" cy="2424052"/>
            </a:xfrm>
            <a:custGeom>
              <a:avLst/>
              <a:gdLst/>
              <a:ahLst/>
              <a:cxnLst/>
              <a:rect r="r" b="b" t="t" l="l"/>
              <a:pathLst>
                <a:path h="2424052" w="2424052">
                  <a:moveTo>
                    <a:pt x="0" y="0"/>
                  </a:moveTo>
                  <a:lnTo>
                    <a:pt x="2424052" y="0"/>
                  </a:lnTo>
                  <a:lnTo>
                    <a:pt x="2424052" y="2424052"/>
                  </a:lnTo>
                  <a:lnTo>
                    <a:pt x="0" y="24240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3023822">
              <a:off x="2927513" y="2329670"/>
              <a:ext cx="472376" cy="1220378"/>
              <a:chOff x="0" y="0"/>
              <a:chExt cx="237482" cy="613533"/>
            </a:xfrm>
          </p:grpSpPr>
          <p:sp>
            <p:nvSpPr>
              <p:cNvPr name="Freeform 17" id="17"/>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18" id="18"/>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19" id="19"/>
            <p:cNvSpPr/>
            <p:nvPr/>
          </p:nvSpPr>
          <p:spPr>
            <a:xfrm flipH="false" flipV="false" rot="0">
              <a:off x="1661514" y="1661514"/>
              <a:ext cx="788102" cy="788102"/>
            </a:xfrm>
            <a:custGeom>
              <a:avLst/>
              <a:gdLst/>
              <a:ahLst/>
              <a:cxnLst/>
              <a:rect r="r" b="b" t="t" l="l"/>
              <a:pathLst>
                <a:path h="788102" w="788102">
                  <a:moveTo>
                    <a:pt x="0" y="0"/>
                  </a:moveTo>
                  <a:lnTo>
                    <a:pt x="788102" y="0"/>
                  </a:lnTo>
                  <a:lnTo>
                    <a:pt x="788102" y="788102"/>
                  </a:lnTo>
                  <a:lnTo>
                    <a:pt x="0" y="788102"/>
                  </a:lnTo>
                  <a:lnTo>
                    <a:pt x="0" y="0"/>
                  </a:lnTo>
                  <a:close/>
                </a:path>
              </a:pathLst>
            </a:custGeom>
            <a:blipFill>
              <a:blip r:embed="rId5"/>
              <a:stretch>
                <a:fillRect l="0" t="0" r="0" b="0"/>
              </a:stretch>
            </a:blipFill>
          </p:spPr>
        </p:sp>
      </p:grpSp>
      <p:sp>
        <p:nvSpPr>
          <p:cNvPr name="TextBox 20" id="20"/>
          <p:cNvSpPr txBox="true"/>
          <p:nvPr/>
        </p:nvSpPr>
        <p:spPr>
          <a:xfrm rot="0">
            <a:off x="5168411" y="7275141"/>
            <a:ext cx="4928005" cy="517048"/>
          </a:xfrm>
          <a:prstGeom prst="rect">
            <a:avLst/>
          </a:prstGeom>
        </p:spPr>
        <p:txBody>
          <a:bodyPr anchor="t" rtlCol="false" tIns="0" lIns="0" bIns="0" rIns="0">
            <a:spAutoFit/>
          </a:bodyPr>
          <a:lstStyle/>
          <a:p>
            <a:pPr algn="ctr">
              <a:lnSpc>
                <a:spcPts val="4039"/>
              </a:lnSpc>
            </a:pPr>
            <a:r>
              <a:rPr lang="en-US" b="true" sz="3366" spc="673">
                <a:solidFill>
                  <a:srgbClr val="000000"/>
                </a:solidFill>
                <a:latin typeface="Glacial Indifference Bold"/>
                <a:ea typeface="Glacial Indifference Bold"/>
                <a:cs typeface="Glacial Indifference Bold"/>
                <a:sym typeface="Glacial Indifference Bold"/>
              </a:rPr>
              <a:t>The BLACQList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rot="0">
            <a:off x="1028700" y="6151120"/>
            <a:ext cx="15963229" cy="0"/>
          </a:xfrm>
          <a:prstGeom prst="line">
            <a:avLst/>
          </a:prstGeom>
          <a:ln cap="flat" w="38100">
            <a:solidFill>
              <a:srgbClr val="FFFFFF"/>
            </a:solidFill>
            <a:prstDash val="solid"/>
            <a:headEnd type="none" len="sm" w="sm"/>
            <a:tailEnd type="none" len="sm" w="sm"/>
          </a:ln>
        </p:spPr>
      </p:sp>
      <p:sp>
        <p:nvSpPr>
          <p:cNvPr name="AutoShape 3" id="3"/>
          <p:cNvSpPr/>
          <p:nvPr/>
        </p:nvSpPr>
        <p:spPr>
          <a:xfrm rot="-5400000">
            <a:off x="6194835" y="6137685"/>
            <a:ext cx="6203130" cy="0"/>
          </a:xfrm>
          <a:prstGeom prst="line">
            <a:avLst/>
          </a:prstGeom>
          <a:ln cap="flat" w="38100">
            <a:solidFill>
              <a:srgbClr val="FFFFFF"/>
            </a:solidFill>
            <a:prstDash val="solid"/>
            <a:headEnd type="none" len="sm" w="sm"/>
            <a:tailEnd type="none" len="sm" w="sm"/>
          </a:ln>
        </p:spPr>
      </p:sp>
      <p:sp>
        <p:nvSpPr>
          <p:cNvPr name="Freeform 4" id="4"/>
          <p:cNvSpPr/>
          <p:nvPr/>
        </p:nvSpPr>
        <p:spPr>
          <a:xfrm flipH="false" flipV="false" rot="0">
            <a:off x="0" y="601284"/>
            <a:ext cx="17464564" cy="1464433"/>
          </a:xfrm>
          <a:custGeom>
            <a:avLst/>
            <a:gdLst/>
            <a:ahLst/>
            <a:cxnLst/>
            <a:rect r="r" b="b" t="t" l="l"/>
            <a:pathLst>
              <a:path h="1464433" w="17464564">
                <a:moveTo>
                  <a:pt x="0" y="0"/>
                </a:moveTo>
                <a:lnTo>
                  <a:pt x="17464564" y="0"/>
                </a:lnTo>
                <a:lnTo>
                  <a:pt x="17464564" y="1464432"/>
                </a:lnTo>
                <a:lnTo>
                  <a:pt x="0" y="1464432"/>
                </a:lnTo>
                <a:lnTo>
                  <a:pt x="0" y="0"/>
                </a:lnTo>
                <a:close/>
              </a:path>
            </a:pathLst>
          </a:custGeom>
          <a:blipFill>
            <a:blip r:embed="rId2"/>
            <a:stretch>
              <a:fillRect l="-3212" t="-503025" r="0" b="-627868"/>
            </a:stretch>
          </a:blipFill>
        </p:spPr>
      </p:sp>
      <p:sp>
        <p:nvSpPr>
          <p:cNvPr name="TextBox 5" id="5"/>
          <p:cNvSpPr txBox="true"/>
          <p:nvPr/>
        </p:nvSpPr>
        <p:spPr>
          <a:xfrm rot="0">
            <a:off x="903062" y="704850"/>
            <a:ext cx="8869874" cy="628650"/>
          </a:xfrm>
          <a:prstGeom prst="rect">
            <a:avLst/>
          </a:prstGeom>
        </p:spPr>
        <p:txBody>
          <a:bodyPr anchor="t" rtlCol="false" tIns="0" lIns="0" bIns="0" rIns="0">
            <a:spAutoFit/>
          </a:bodyPr>
          <a:lstStyle/>
          <a:p>
            <a:pPr algn="l" marL="0" indent="0" lvl="0">
              <a:lnSpc>
                <a:spcPts val="4800"/>
              </a:lnSpc>
              <a:spcBef>
                <a:spcPct val="0"/>
              </a:spcBef>
            </a:pPr>
            <a:r>
              <a:rPr lang="en-US" b="true" sz="4000" spc="800" strike="noStrike" u="none">
                <a:solidFill>
                  <a:srgbClr val="000000"/>
                </a:solidFill>
                <a:latin typeface="Glacial Indifference Bold"/>
                <a:ea typeface="Glacial Indifference Bold"/>
                <a:cs typeface="Glacial Indifference Bold"/>
                <a:sym typeface="Glacial Indifference Bold"/>
              </a:rPr>
              <a:t>PRIMARY BRAND GRAPHICS</a:t>
            </a:r>
          </a:p>
        </p:txBody>
      </p:sp>
      <p:sp>
        <p:nvSpPr>
          <p:cNvPr name="TextBox 6" id="6"/>
          <p:cNvSpPr txBox="true"/>
          <p:nvPr/>
        </p:nvSpPr>
        <p:spPr>
          <a:xfrm rot="0">
            <a:off x="903062" y="1359059"/>
            <a:ext cx="5956784" cy="314325"/>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000000"/>
                </a:solidFill>
                <a:latin typeface="Lato"/>
                <a:ea typeface="Lato"/>
                <a:cs typeface="Lato"/>
                <a:sym typeface="Lato"/>
              </a:rPr>
              <a:t>Process Color Logo Files</a:t>
            </a:r>
          </a:p>
        </p:txBody>
      </p:sp>
      <p:sp>
        <p:nvSpPr>
          <p:cNvPr name="TextBox 7" id="7"/>
          <p:cNvSpPr txBox="true"/>
          <p:nvPr/>
        </p:nvSpPr>
        <p:spPr>
          <a:xfrm rot="0">
            <a:off x="11035145" y="919772"/>
            <a:ext cx="5956784" cy="448812"/>
          </a:xfrm>
          <a:prstGeom prst="rect">
            <a:avLst/>
          </a:prstGeom>
        </p:spPr>
        <p:txBody>
          <a:bodyPr anchor="t" rtlCol="false" tIns="0" lIns="0" bIns="0" rIns="0">
            <a:spAutoFit/>
          </a:bodyPr>
          <a:lstStyle/>
          <a:p>
            <a:pPr algn="r">
              <a:lnSpc>
                <a:spcPts val="3612"/>
              </a:lnSpc>
            </a:pPr>
            <a:r>
              <a:rPr lang="en-US" sz="2580">
                <a:solidFill>
                  <a:srgbClr val="000000"/>
                </a:solidFill>
                <a:latin typeface="Lato"/>
                <a:ea typeface="Lato"/>
                <a:cs typeface="Lato"/>
                <a:sym typeface="Lato"/>
              </a:rPr>
              <a:t>PROCESS FORMATS: 1-3</a:t>
            </a:r>
          </a:p>
        </p:txBody>
      </p:sp>
      <p:grpSp>
        <p:nvGrpSpPr>
          <p:cNvPr name="Group 8" id="8"/>
          <p:cNvGrpSpPr/>
          <p:nvPr/>
        </p:nvGrpSpPr>
        <p:grpSpPr>
          <a:xfrm rot="0">
            <a:off x="3553305" y="2994341"/>
            <a:ext cx="1702309" cy="1702309"/>
            <a:chOff x="0" y="0"/>
            <a:chExt cx="2269746" cy="2269746"/>
          </a:xfrm>
        </p:grpSpPr>
        <p:grpSp>
          <p:nvGrpSpPr>
            <p:cNvPr name="Group 9" id="9"/>
            <p:cNvGrpSpPr/>
            <p:nvPr/>
          </p:nvGrpSpPr>
          <p:grpSpPr>
            <a:xfrm rot="0">
              <a:off x="0" y="0"/>
              <a:ext cx="2269746" cy="226974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1" id="11"/>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12" id="12"/>
            <p:cNvSpPr/>
            <p:nvPr/>
          </p:nvSpPr>
          <p:spPr>
            <a:xfrm flipH="false" flipV="false" rot="0">
              <a:off x="567505" y="567505"/>
              <a:ext cx="1134736" cy="1134736"/>
            </a:xfrm>
            <a:custGeom>
              <a:avLst/>
              <a:gdLst/>
              <a:ahLst/>
              <a:cxnLst/>
              <a:rect r="r" b="b" t="t" l="l"/>
              <a:pathLst>
                <a:path h="1134736" w="1134736">
                  <a:moveTo>
                    <a:pt x="0" y="0"/>
                  </a:moveTo>
                  <a:lnTo>
                    <a:pt x="1134736" y="0"/>
                  </a:lnTo>
                  <a:lnTo>
                    <a:pt x="1134736" y="1134736"/>
                  </a:lnTo>
                  <a:lnTo>
                    <a:pt x="0" y="11347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631400" y="631400"/>
              <a:ext cx="1006945" cy="1006945"/>
            </a:xfrm>
            <a:custGeom>
              <a:avLst/>
              <a:gdLst/>
              <a:ahLst/>
              <a:cxnLst/>
              <a:rect r="r" b="b" t="t" l="l"/>
              <a:pathLst>
                <a:path h="1006945" w="1006945">
                  <a:moveTo>
                    <a:pt x="0" y="0"/>
                  </a:moveTo>
                  <a:lnTo>
                    <a:pt x="1006945" y="0"/>
                  </a:lnTo>
                  <a:lnTo>
                    <a:pt x="1006945" y="1006945"/>
                  </a:lnTo>
                  <a:lnTo>
                    <a:pt x="0" y="1006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452476" y="452476"/>
              <a:ext cx="1364794" cy="1364794"/>
            </a:xfrm>
            <a:custGeom>
              <a:avLst/>
              <a:gdLst/>
              <a:ahLst/>
              <a:cxnLst/>
              <a:rect r="r" b="b" t="t" l="l"/>
              <a:pathLst>
                <a:path h="1364794" w="1364794">
                  <a:moveTo>
                    <a:pt x="0" y="0"/>
                  </a:moveTo>
                  <a:lnTo>
                    <a:pt x="1364794" y="0"/>
                  </a:lnTo>
                  <a:lnTo>
                    <a:pt x="1364794" y="1364794"/>
                  </a:lnTo>
                  <a:lnTo>
                    <a:pt x="0" y="13647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465716" y="465716"/>
              <a:ext cx="1338314" cy="1338314"/>
            </a:xfrm>
            <a:custGeom>
              <a:avLst/>
              <a:gdLst/>
              <a:ahLst/>
              <a:cxnLst/>
              <a:rect r="r" b="b" t="t" l="l"/>
              <a:pathLst>
                <a:path h="1338314" w="1338314">
                  <a:moveTo>
                    <a:pt x="0" y="0"/>
                  </a:moveTo>
                  <a:lnTo>
                    <a:pt x="1338314" y="0"/>
                  </a:lnTo>
                  <a:lnTo>
                    <a:pt x="1338314" y="1338314"/>
                  </a:lnTo>
                  <a:lnTo>
                    <a:pt x="0" y="13383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3023822">
              <a:off x="1616274" y="1286206"/>
              <a:ext cx="260798" cy="673768"/>
              <a:chOff x="0" y="0"/>
              <a:chExt cx="237482" cy="613533"/>
            </a:xfrm>
          </p:grpSpPr>
          <p:sp>
            <p:nvSpPr>
              <p:cNvPr name="Freeform 17" id="17"/>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18" id="18"/>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19" id="19"/>
            <p:cNvSpPr/>
            <p:nvPr/>
          </p:nvSpPr>
          <p:spPr>
            <a:xfrm flipH="false" flipV="false" rot="0">
              <a:off x="917318" y="917318"/>
              <a:ext cx="435110" cy="435110"/>
            </a:xfrm>
            <a:custGeom>
              <a:avLst/>
              <a:gdLst/>
              <a:ahLst/>
              <a:cxnLst/>
              <a:rect r="r" b="b" t="t" l="l"/>
              <a:pathLst>
                <a:path h="435110" w="435110">
                  <a:moveTo>
                    <a:pt x="0" y="0"/>
                  </a:moveTo>
                  <a:lnTo>
                    <a:pt x="435110" y="0"/>
                  </a:lnTo>
                  <a:lnTo>
                    <a:pt x="435110" y="435110"/>
                  </a:lnTo>
                  <a:lnTo>
                    <a:pt x="0" y="435110"/>
                  </a:lnTo>
                  <a:lnTo>
                    <a:pt x="0" y="0"/>
                  </a:lnTo>
                  <a:close/>
                </a:path>
              </a:pathLst>
            </a:custGeom>
            <a:blipFill>
              <a:blip r:embed="rId5"/>
              <a:stretch>
                <a:fillRect l="0" t="0" r="0" b="0"/>
              </a:stretch>
            </a:blipFill>
          </p:spPr>
        </p:sp>
      </p:grpSp>
      <p:grpSp>
        <p:nvGrpSpPr>
          <p:cNvPr name="Group 20" id="20"/>
          <p:cNvGrpSpPr/>
          <p:nvPr/>
        </p:nvGrpSpPr>
        <p:grpSpPr>
          <a:xfrm rot="0">
            <a:off x="1722336" y="4714315"/>
            <a:ext cx="5364247" cy="527199"/>
            <a:chOff x="0" y="0"/>
            <a:chExt cx="7152330" cy="702933"/>
          </a:xfrm>
        </p:grpSpPr>
        <p:sp>
          <p:nvSpPr>
            <p:cNvPr name="TextBox 21" id="21"/>
            <p:cNvSpPr txBox="true"/>
            <p:nvPr/>
          </p:nvSpPr>
          <p:spPr>
            <a:xfrm rot="0">
              <a:off x="0" y="-9525"/>
              <a:ext cx="7152330" cy="712458"/>
            </a:xfrm>
            <a:prstGeom prst="rect">
              <a:avLst/>
            </a:prstGeom>
          </p:spPr>
          <p:txBody>
            <a:bodyPr anchor="t" rtlCol="false" tIns="0" lIns="0" bIns="0" rIns="0">
              <a:spAutoFit/>
            </a:bodyPr>
            <a:lstStyle/>
            <a:p>
              <a:pPr algn="ctr">
                <a:lnSpc>
                  <a:spcPts val="4157"/>
                </a:lnSpc>
              </a:pPr>
              <a:r>
                <a:rPr lang="en-US" b="true" sz="3464" spc="692">
                  <a:solidFill>
                    <a:srgbClr val="FFFFFF"/>
                  </a:solidFill>
                  <a:latin typeface="Glacial Indifference Bold"/>
                  <a:ea typeface="Glacial Indifference Bold"/>
                  <a:cs typeface="Glacial Indifference Bold"/>
                  <a:sym typeface="Glacial Indifference Bold"/>
                </a:rPr>
                <a:t>THE BLAC  LIST</a:t>
              </a:r>
            </a:p>
          </p:txBody>
        </p:sp>
        <p:sp>
          <p:nvSpPr>
            <p:cNvPr name="Freeform 22" id="22"/>
            <p:cNvSpPr/>
            <p:nvPr/>
          </p:nvSpPr>
          <p:spPr>
            <a:xfrm flipH="false" flipV="false" rot="0">
              <a:off x="4359418" y="177720"/>
              <a:ext cx="344728" cy="344728"/>
            </a:xfrm>
            <a:custGeom>
              <a:avLst/>
              <a:gdLst/>
              <a:ahLst/>
              <a:cxnLst/>
              <a:rect r="r" b="b" t="t" l="l"/>
              <a:pathLst>
                <a:path h="344728" w="344728">
                  <a:moveTo>
                    <a:pt x="0" y="0"/>
                  </a:moveTo>
                  <a:lnTo>
                    <a:pt x="344728" y="0"/>
                  </a:lnTo>
                  <a:lnTo>
                    <a:pt x="344728" y="344728"/>
                  </a:lnTo>
                  <a:lnTo>
                    <a:pt x="0" y="3447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0">
              <a:off x="4328495" y="146797"/>
              <a:ext cx="406575" cy="406575"/>
            </a:xfrm>
            <a:custGeom>
              <a:avLst/>
              <a:gdLst/>
              <a:ahLst/>
              <a:cxnLst/>
              <a:rect r="r" b="b" t="t" l="l"/>
              <a:pathLst>
                <a:path h="406575" w="406575">
                  <a:moveTo>
                    <a:pt x="0" y="0"/>
                  </a:moveTo>
                  <a:lnTo>
                    <a:pt x="406574" y="0"/>
                  </a:lnTo>
                  <a:lnTo>
                    <a:pt x="406574" y="406574"/>
                  </a:lnTo>
                  <a:lnTo>
                    <a:pt x="0" y="4065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4" id="24"/>
            <p:cNvSpPr/>
            <p:nvPr/>
          </p:nvSpPr>
          <p:spPr>
            <a:xfrm flipH="false" flipV="false" rot="0">
              <a:off x="4378829" y="197131"/>
              <a:ext cx="305906" cy="305906"/>
            </a:xfrm>
            <a:custGeom>
              <a:avLst/>
              <a:gdLst/>
              <a:ahLst/>
              <a:cxnLst/>
              <a:rect r="r" b="b" t="t" l="l"/>
              <a:pathLst>
                <a:path h="305906" w="305906">
                  <a:moveTo>
                    <a:pt x="0" y="0"/>
                  </a:moveTo>
                  <a:lnTo>
                    <a:pt x="305906" y="0"/>
                  </a:lnTo>
                  <a:lnTo>
                    <a:pt x="305906" y="305906"/>
                  </a:lnTo>
                  <a:lnTo>
                    <a:pt x="0" y="3059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0">
              <a:off x="4324472" y="142775"/>
              <a:ext cx="414619" cy="414619"/>
            </a:xfrm>
            <a:custGeom>
              <a:avLst/>
              <a:gdLst/>
              <a:ahLst/>
              <a:cxnLst/>
              <a:rect r="r" b="b" t="t" l="l"/>
              <a:pathLst>
                <a:path h="414619" w="414619">
                  <a:moveTo>
                    <a:pt x="0" y="0"/>
                  </a:moveTo>
                  <a:lnTo>
                    <a:pt x="414619" y="0"/>
                  </a:lnTo>
                  <a:lnTo>
                    <a:pt x="414619" y="414619"/>
                  </a:lnTo>
                  <a:lnTo>
                    <a:pt x="0" y="4146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6" id="26"/>
            <p:cNvSpPr/>
            <p:nvPr/>
          </p:nvSpPr>
          <p:spPr>
            <a:xfrm flipH="false" flipV="false" rot="0">
              <a:off x="4465769" y="284071"/>
              <a:ext cx="132027" cy="132027"/>
            </a:xfrm>
            <a:custGeom>
              <a:avLst/>
              <a:gdLst/>
              <a:ahLst/>
              <a:cxnLst/>
              <a:rect r="r" b="b" t="t" l="l"/>
              <a:pathLst>
                <a:path h="132027" w="132027">
                  <a:moveTo>
                    <a:pt x="0" y="0"/>
                  </a:moveTo>
                  <a:lnTo>
                    <a:pt x="132026" y="0"/>
                  </a:lnTo>
                  <a:lnTo>
                    <a:pt x="132026" y="132027"/>
                  </a:lnTo>
                  <a:lnTo>
                    <a:pt x="0" y="132027"/>
                  </a:lnTo>
                  <a:lnTo>
                    <a:pt x="0" y="0"/>
                  </a:lnTo>
                  <a:close/>
                </a:path>
              </a:pathLst>
            </a:custGeom>
            <a:blipFill>
              <a:blip r:embed="rId5"/>
              <a:stretch>
                <a:fillRect l="0" t="0" r="0" b="0"/>
              </a:stretch>
            </a:blipFill>
          </p:spPr>
        </p:sp>
        <p:grpSp>
          <p:nvGrpSpPr>
            <p:cNvPr name="Group 27" id="27"/>
            <p:cNvGrpSpPr/>
            <p:nvPr/>
          </p:nvGrpSpPr>
          <p:grpSpPr>
            <a:xfrm rot="-3023822">
              <a:off x="4678030" y="396059"/>
              <a:ext cx="79229" cy="204688"/>
              <a:chOff x="0" y="0"/>
              <a:chExt cx="237482" cy="613533"/>
            </a:xfrm>
          </p:grpSpPr>
          <p:sp>
            <p:nvSpPr>
              <p:cNvPr name="Freeform 28" id="28"/>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29" id="29"/>
              <p:cNvSpPr txBox="true"/>
              <p:nvPr/>
            </p:nvSpPr>
            <p:spPr>
              <a:xfrm>
                <a:off x="0" y="-19050"/>
                <a:ext cx="237482" cy="632583"/>
              </a:xfrm>
              <a:prstGeom prst="rect">
                <a:avLst/>
              </a:prstGeom>
            </p:spPr>
            <p:txBody>
              <a:bodyPr anchor="ctr" rtlCol="false" tIns="15538" lIns="15538" bIns="15538" rIns="15538"/>
              <a:lstStyle/>
              <a:p>
                <a:pPr algn="ctr">
                  <a:lnSpc>
                    <a:spcPts val="717"/>
                  </a:lnSpc>
                </a:pPr>
              </a:p>
            </p:txBody>
          </p:sp>
        </p:grpSp>
      </p:grpSp>
      <p:sp>
        <p:nvSpPr>
          <p:cNvPr name="TextBox 30" id="30"/>
          <p:cNvSpPr txBox="true"/>
          <p:nvPr/>
        </p:nvSpPr>
        <p:spPr>
          <a:xfrm rot="0">
            <a:off x="2980706" y="5396949"/>
            <a:ext cx="2847507" cy="284366"/>
          </a:xfrm>
          <a:prstGeom prst="rect">
            <a:avLst/>
          </a:prstGeom>
        </p:spPr>
        <p:txBody>
          <a:bodyPr anchor="t" rtlCol="false" tIns="0" lIns="0" bIns="0" rIns="0">
            <a:spAutoFit/>
          </a:bodyPr>
          <a:lstStyle/>
          <a:p>
            <a:pPr algn="ctr">
              <a:lnSpc>
                <a:spcPts val="2175"/>
              </a:lnSpc>
            </a:pPr>
            <a:r>
              <a:rPr lang="en-US" sz="1813" spc="362">
                <a:solidFill>
                  <a:srgbClr val="FFFFFF"/>
                </a:solidFill>
                <a:latin typeface="Lato"/>
                <a:ea typeface="Lato"/>
                <a:cs typeface="Lato"/>
                <a:sym typeface="Lato"/>
              </a:rPr>
              <a:t>Find and Be Found</a:t>
            </a:r>
          </a:p>
        </p:txBody>
      </p:sp>
      <p:grpSp>
        <p:nvGrpSpPr>
          <p:cNvPr name="Group 31" id="31"/>
          <p:cNvGrpSpPr/>
          <p:nvPr/>
        </p:nvGrpSpPr>
        <p:grpSpPr>
          <a:xfrm rot="0">
            <a:off x="10730592" y="3831410"/>
            <a:ext cx="8296952" cy="1312090"/>
            <a:chOff x="0" y="0"/>
            <a:chExt cx="11062603" cy="1749454"/>
          </a:xfrm>
        </p:grpSpPr>
        <p:sp>
          <p:nvSpPr>
            <p:cNvPr name="Freeform 32" id="32"/>
            <p:cNvSpPr/>
            <p:nvPr/>
          </p:nvSpPr>
          <p:spPr>
            <a:xfrm flipH="false" flipV="false" rot="0">
              <a:off x="113235" y="256631"/>
              <a:ext cx="1117038" cy="1117038"/>
            </a:xfrm>
            <a:custGeom>
              <a:avLst/>
              <a:gdLst/>
              <a:ahLst/>
              <a:cxnLst/>
              <a:rect r="r" b="b" t="t" l="l"/>
              <a:pathLst>
                <a:path h="1117038" w="1117038">
                  <a:moveTo>
                    <a:pt x="0" y="0"/>
                  </a:moveTo>
                  <a:lnTo>
                    <a:pt x="1117038" y="0"/>
                  </a:lnTo>
                  <a:lnTo>
                    <a:pt x="1117038" y="1117038"/>
                  </a:lnTo>
                  <a:lnTo>
                    <a:pt x="0" y="11170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3" id="33"/>
            <p:cNvSpPr/>
            <p:nvPr/>
          </p:nvSpPr>
          <p:spPr>
            <a:xfrm flipH="false" flipV="false" rot="0">
              <a:off x="176134" y="319530"/>
              <a:ext cx="991240" cy="991240"/>
            </a:xfrm>
            <a:custGeom>
              <a:avLst/>
              <a:gdLst/>
              <a:ahLst/>
              <a:cxnLst/>
              <a:rect r="r" b="b" t="t" l="l"/>
              <a:pathLst>
                <a:path h="991240" w="991240">
                  <a:moveTo>
                    <a:pt x="0" y="0"/>
                  </a:moveTo>
                  <a:lnTo>
                    <a:pt x="991240" y="0"/>
                  </a:lnTo>
                  <a:lnTo>
                    <a:pt x="991240" y="991240"/>
                  </a:lnTo>
                  <a:lnTo>
                    <a:pt x="0" y="9912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4" id="34"/>
            <p:cNvSpPr/>
            <p:nvPr/>
          </p:nvSpPr>
          <p:spPr>
            <a:xfrm flipH="false" flipV="false" rot="0">
              <a:off x="0" y="143397"/>
              <a:ext cx="1343508" cy="1343508"/>
            </a:xfrm>
            <a:custGeom>
              <a:avLst/>
              <a:gdLst/>
              <a:ahLst/>
              <a:cxnLst/>
              <a:rect r="r" b="b" t="t" l="l"/>
              <a:pathLst>
                <a:path h="1343508" w="1343508">
                  <a:moveTo>
                    <a:pt x="0" y="0"/>
                  </a:moveTo>
                  <a:lnTo>
                    <a:pt x="1343508" y="0"/>
                  </a:lnTo>
                  <a:lnTo>
                    <a:pt x="1343508" y="1343507"/>
                  </a:lnTo>
                  <a:lnTo>
                    <a:pt x="0" y="13435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5" id="35"/>
            <p:cNvSpPr/>
            <p:nvPr/>
          </p:nvSpPr>
          <p:spPr>
            <a:xfrm flipH="false" flipV="false" rot="0">
              <a:off x="13034" y="156430"/>
              <a:ext cx="1317440" cy="1317440"/>
            </a:xfrm>
            <a:custGeom>
              <a:avLst/>
              <a:gdLst/>
              <a:ahLst/>
              <a:cxnLst/>
              <a:rect r="r" b="b" t="t" l="l"/>
              <a:pathLst>
                <a:path h="1317440" w="1317440">
                  <a:moveTo>
                    <a:pt x="0" y="0"/>
                  </a:moveTo>
                  <a:lnTo>
                    <a:pt x="1317440" y="0"/>
                  </a:lnTo>
                  <a:lnTo>
                    <a:pt x="1317440" y="1317441"/>
                  </a:lnTo>
                  <a:lnTo>
                    <a:pt x="0" y="13174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6" id="36"/>
            <p:cNvGrpSpPr/>
            <p:nvPr/>
          </p:nvGrpSpPr>
          <p:grpSpPr>
            <a:xfrm rot="-3023822">
              <a:off x="1145646" y="964123"/>
              <a:ext cx="256730" cy="663259"/>
              <a:chOff x="0" y="0"/>
              <a:chExt cx="237482" cy="613533"/>
            </a:xfrm>
          </p:grpSpPr>
          <p:sp>
            <p:nvSpPr>
              <p:cNvPr name="Freeform 37" id="37"/>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38" id="38"/>
              <p:cNvSpPr txBox="true"/>
              <p:nvPr/>
            </p:nvSpPr>
            <p:spPr>
              <a:xfrm>
                <a:off x="0" y="-19050"/>
                <a:ext cx="237482" cy="632583"/>
              </a:xfrm>
              <a:prstGeom prst="rect">
                <a:avLst/>
              </a:prstGeom>
            </p:spPr>
            <p:txBody>
              <a:bodyPr anchor="ctr" rtlCol="false" tIns="16469" lIns="16469" bIns="16469" rIns="16469"/>
              <a:lstStyle/>
              <a:p>
                <a:pPr algn="ctr">
                  <a:lnSpc>
                    <a:spcPts val="717"/>
                  </a:lnSpc>
                </a:pPr>
              </a:p>
            </p:txBody>
          </p:sp>
        </p:grpSp>
        <p:sp>
          <p:nvSpPr>
            <p:cNvPr name="Freeform 39" id="39"/>
            <p:cNvSpPr/>
            <p:nvPr/>
          </p:nvSpPr>
          <p:spPr>
            <a:xfrm flipH="false" flipV="false" rot="0">
              <a:off x="457592" y="600989"/>
              <a:ext cx="428323" cy="428323"/>
            </a:xfrm>
            <a:custGeom>
              <a:avLst/>
              <a:gdLst/>
              <a:ahLst/>
              <a:cxnLst/>
              <a:rect r="r" b="b" t="t" l="l"/>
              <a:pathLst>
                <a:path h="428323" w="428323">
                  <a:moveTo>
                    <a:pt x="0" y="0"/>
                  </a:moveTo>
                  <a:lnTo>
                    <a:pt x="428323" y="0"/>
                  </a:lnTo>
                  <a:lnTo>
                    <a:pt x="428323" y="428323"/>
                  </a:lnTo>
                  <a:lnTo>
                    <a:pt x="0" y="428323"/>
                  </a:lnTo>
                  <a:lnTo>
                    <a:pt x="0" y="0"/>
                  </a:lnTo>
                  <a:close/>
                </a:path>
              </a:pathLst>
            </a:custGeom>
            <a:blipFill>
              <a:blip r:embed="rId5"/>
              <a:stretch>
                <a:fillRect l="0" t="0" r="0" b="0"/>
              </a:stretch>
            </a:blipFill>
          </p:spPr>
        </p:sp>
        <p:sp>
          <p:nvSpPr>
            <p:cNvPr name="AutoShape 40" id="40"/>
            <p:cNvSpPr/>
            <p:nvPr/>
          </p:nvSpPr>
          <p:spPr>
            <a:xfrm>
              <a:off x="1835087" y="143397"/>
              <a:ext cx="0" cy="1462661"/>
            </a:xfrm>
            <a:prstGeom prst="line">
              <a:avLst/>
            </a:prstGeom>
            <a:ln cap="flat" w="46680">
              <a:solidFill>
                <a:srgbClr val="FFFFFF"/>
              </a:solidFill>
              <a:prstDash val="solid"/>
              <a:headEnd type="none" len="sm" w="sm"/>
              <a:tailEnd type="none" len="sm" w="sm"/>
            </a:ln>
          </p:spPr>
        </p:sp>
        <p:sp>
          <p:nvSpPr>
            <p:cNvPr name="TextBox 41" id="41"/>
            <p:cNvSpPr txBox="true"/>
            <p:nvPr/>
          </p:nvSpPr>
          <p:spPr>
            <a:xfrm rot="0">
              <a:off x="2121201" y="0"/>
              <a:ext cx="8941402" cy="1749454"/>
            </a:xfrm>
            <a:prstGeom prst="rect">
              <a:avLst/>
            </a:prstGeom>
          </p:spPr>
          <p:txBody>
            <a:bodyPr anchor="t" rtlCol="false" tIns="0" lIns="0" bIns="0" rIns="0">
              <a:spAutoFit/>
            </a:bodyPr>
            <a:lstStyle/>
            <a:p>
              <a:pPr algn="l">
                <a:lnSpc>
                  <a:spcPts val="5197"/>
                </a:lnSpc>
              </a:pPr>
              <a:r>
                <a:rPr lang="en-US" b="true" sz="4331" spc="866">
                  <a:solidFill>
                    <a:srgbClr val="FFFFFF"/>
                  </a:solidFill>
                  <a:latin typeface="Glacial Indifference Bold"/>
                  <a:ea typeface="Glacial Indifference Bold"/>
                  <a:cs typeface="Glacial Indifference Bold"/>
                  <a:sym typeface="Glacial Indifference Bold"/>
                </a:rPr>
                <a:t>THE </a:t>
              </a:r>
            </a:p>
            <a:p>
              <a:pPr algn="l">
                <a:lnSpc>
                  <a:spcPts val="5197"/>
                </a:lnSpc>
              </a:pPr>
              <a:r>
                <a:rPr lang="en-US" b="true" sz="4331" spc="866">
                  <a:solidFill>
                    <a:srgbClr val="FFFFFF"/>
                  </a:solidFill>
                  <a:latin typeface="Glacial Indifference Bold"/>
                  <a:ea typeface="Glacial Indifference Bold"/>
                  <a:cs typeface="Glacial Indifference Bold"/>
                  <a:sym typeface="Glacial Indifference Bold"/>
                </a:rPr>
                <a:t>BLAC  LIST</a:t>
              </a:r>
            </a:p>
          </p:txBody>
        </p:sp>
        <p:sp>
          <p:nvSpPr>
            <p:cNvPr name="Freeform 42" id="42"/>
            <p:cNvSpPr/>
            <p:nvPr/>
          </p:nvSpPr>
          <p:spPr>
            <a:xfrm flipH="false" flipV="false" rot="0">
              <a:off x="4536590" y="1087762"/>
              <a:ext cx="430958" cy="430958"/>
            </a:xfrm>
            <a:custGeom>
              <a:avLst/>
              <a:gdLst/>
              <a:ahLst/>
              <a:cxnLst/>
              <a:rect r="r" b="b" t="t" l="l"/>
              <a:pathLst>
                <a:path h="430958" w="430958">
                  <a:moveTo>
                    <a:pt x="0" y="0"/>
                  </a:moveTo>
                  <a:lnTo>
                    <a:pt x="430958" y="0"/>
                  </a:lnTo>
                  <a:lnTo>
                    <a:pt x="430958" y="430958"/>
                  </a:lnTo>
                  <a:lnTo>
                    <a:pt x="0" y="4309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3" id="43"/>
            <p:cNvSpPr/>
            <p:nvPr/>
          </p:nvSpPr>
          <p:spPr>
            <a:xfrm flipH="false" flipV="false" rot="0">
              <a:off x="4497932" y="1049104"/>
              <a:ext cx="508274" cy="508274"/>
            </a:xfrm>
            <a:custGeom>
              <a:avLst/>
              <a:gdLst/>
              <a:ahLst/>
              <a:cxnLst/>
              <a:rect r="r" b="b" t="t" l="l"/>
              <a:pathLst>
                <a:path h="508274" w="508274">
                  <a:moveTo>
                    <a:pt x="0" y="0"/>
                  </a:moveTo>
                  <a:lnTo>
                    <a:pt x="508274" y="0"/>
                  </a:lnTo>
                  <a:lnTo>
                    <a:pt x="508274" y="508274"/>
                  </a:lnTo>
                  <a:lnTo>
                    <a:pt x="0" y="5082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4" id="44"/>
            <p:cNvSpPr/>
            <p:nvPr/>
          </p:nvSpPr>
          <p:spPr>
            <a:xfrm flipH="false" flipV="false" rot="0">
              <a:off x="4560857" y="1112029"/>
              <a:ext cx="382425" cy="382425"/>
            </a:xfrm>
            <a:custGeom>
              <a:avLst/>
              <a:gdLst/>
              <a:ahLst/>
              <a:cxnLst/>
              <a:rect r="r" b="b" t="t" l="l"/>
              <a:pathLst>
                <a:path h="382425" w="382425">
                  <a:moveTo>
                    <a:pt x="0" y="0"/>
                  </a:moveTo>
                  <a:lnTo>
                    <a:pt x="382424" y="0"/>
                  </a:lnTo>
                  <a:lnTo>
                    <a:pt x="382424" y="382425"/>
                  </a:lnTo>
                  <a:lnTo>
                    <a:pt x="0" y="3824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5" id="45"/>
            <p:cNvSpPr/>
            <p:nvPr/>
          </p:nvSpPr>
          <p:spPr>
            <a:xfrm flipH="false" flipV="false" rot="0">
              <a:off x="4492903" y="1044075"/>
              <a:ext cx="518331" cy="518331"/>
            </a:xfrm>
            <a:custGeom>
              <a:avLst/>
              <a:gdLst/>
              <a:ahLst/>
              <a:cxnLst/>
              <a:rect r="r" b="b" t="t" l="l"/>
              <a:pathLst>
                <a:path h="518331" w="518331">
                  <a:moveTo>
                    <a:pt x="0" y="0"/>
                  </a:moveTo>
                  <a:lnTo>
                    <a:pt x="518332" y="0"/>
                  </a:lnTo>
                  <a:lnTo>
                    <a:pt x="518332" y="518332"/>
                  </a:lnTo>
                  <a:lnTo>
                    <a:pt x="0" y="5183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6" id="46"/>
            <p:cNvSpPr/>
            <p:nvPr/>
          </p:nvSpPr>
          <p:spPr>
            <a:xfrm flipH="false" flipV="false" rot="0">
              <a:off x="4669543" y="1220715"/>
              <a:ext cx="165052" cy="165052"/>
            </a:xfrm>
            <a:custGeom>
              <a:avLst/>
              <a:gdLst/>
              <a:ahLst/>
              <a:cxnLst/>
              <a:rect r="r" b="b" t="t" l="l"/>
              <a:pathLst>
                <a:path h="165052" w="165052">
                  <a:moveTo>
                    <a:pt x="0" y="0"/>
                  </a:moveTo>
                  <a:lnTo>
                    <a:pt x="165052" y="0"/>
                  </a:lnTo>
                  <a:lnTo>
                    <a:pt x="165052" y="165052"/>
                  </a:lnTo>
                  <a:lnTo>
                    <a:pt x="0" y="165052"/>
                  </a:lnTo>
                  <a:lnTo>
                    <a:pt x="0" y="0"/>
                  </a:lnTo>
                  <a:close/>
                </a:path>
              </a:pathLst>
            </a:custGeom>
            <a:blipFill>
              <a:blip r:embed="rId5"/>
              <a:stretch>
                <a:fillRect l="0" t="0" r="0" b="0"/>
              </a:stretch>
            </a:blipFill>
          </p:spPr>
        </p:sp>
        <p:grpSp>
          <p:nvGrpSpPr>
            <p:cNvPr name="Group 47" id="47"/>
            <p:cNvGrpSpPr/>
            <p:nvPr/>
          </p:nvGrpSpPr>
          <p:grpSpPr>
            <a:xfrm rot="-3023822">
              <a:off x="4934899" y="1360716"/>
              <a:ext cx="99048" cy="255888"/>
              <a:chOff x="0" y="0"/>
              <a:chExt cx="237482" cy="613533"/>
            </a:xfrm>
          </p:grpSpPr>
          <p:sp>
            <p:nvSpPr>
              <p:cNvPr name="Freeform 48" id="48"/>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49" id="49"/>
              <p:cNvSpPr txBox="true"/>
              <p:nvPr/>
            </p:nvSpPr>
            <p:spPr>
              <a:xfrm>
                <a:off x="0" y="-19050"/>
                <a:ext cx="237482" cy="632583"/>
              </a:xfrm>
              <a:prstGeom prst="rect">
                <a:avLst/>
              </a:prstGeom>
            </p:spPr>
            <p:txBody>
              <a:bodyPr anchor="ctr" rtlCol="false" tIns="6354" lIns="6354" bIns="6354" rIns="6354"/>
              <a:lstStyle/>
              <a:p>
                <a:pPr algn="ctr">
                  <a:lnSpc>
                    <a:spcPts val="717"/>
                  </a:lnSpc>
                </a:pPr>
              </a:p>
            </p:txBody>
          </p:sp>
        </p:grpSp>
      </p:grpSp>
      <p:grpSp>
        <p:nvGrpSpPr>
          <p:cNvPr name="Group 50" id="50"/>
          <p:cNvGrpSpPr/>
          <p:nvPr/>
        </p:nvGrpSpPr>
        <p:grpSpPr>
          <a:xfrm rot="0">
            <a:off x="11687383" y="6346356"/>
            <a:ext cx="2705467" cy="2705467"/>
            <a:chOff x="0" y="0"/>
            <a:chExt cx="3607289" cy="3607289"/>
          </a:xfrm>
        </p:grpSpPr>
        <p:grpSp>
          <p:nvGrpSpPr>
            <p:cNvPr name="Group 51" id="51"/>
            <p:cNvGrpSpPr/>
            <p:nvPr/>
          </p:nvGrpSpPr>
          <p:grpSpPr>
            <a:xfrm rot="0">
              <a:off x="0" y="0"/>
              <a:ext cx="3607289" cy="3607289"/>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53" id="53"/>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54" id="54"/>
            <p:cNvSpPr/>
            <p:nvPr/>
          </p:nvSpPr>
          <p:spPr>
            <a:xfrm flipH="false" flipV="false" rot="0">
              <a:off x="901931" y="901931"/>
              <a:ext cx="1803427" cy="1803427"/>
            </a:xfrm>
            <a:custGeom>
              <a:avLst/>
              <a:gdLst/>
              <a:ahLst/>
              <a:cxnLst/>
              <a:rect r="r" b="b" t="t" l="l"/>
              <a:pathLst>
                <a:path h="1803427" w="1803427">
                  <a:moveTo>
                    <a:pt x="0" y="0"/>
                  </a:moveTo>
                  <a:lnTo>
                    <a:pt x="1803427" y="0"/>
                  </a:lnTo>
                  <a:lnTo>
                    <a:pt x="1803427" y="1803427"/>
                  </a:lnTo>
                  <a:lnTo>
                    <a:pt x="0" y="1803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5" id="55"/>
            <p:cNvSpPr/>
            <p:nvPr/>
          </p:nvSpPr>
          <p:spPr>
            <a:xfrm flipH="false" flipV="false" rot="0">
              <a:off x="1003480" y="1003480"/>
              <a:ext cx="1600330" cy="1600330"/>
            </a:xfrm>
            <a:custGeom>
              <a:avLst/>
              <a:gdLst/>
              <a:ahLst/>
              <a:cxnLst/>
              <a:rect r="r" b="b" t="t" l="l"/>
              <a:pathLst>
                <a:path h="1600330" w="1600330">
                  <a:moveTo>
                    <a:pt x="0" y="0"/>
                  </a:moveTo>
                  <a:lnTo>
                    <a:pt x="1600330" y="0"/>
                  </a:lnTo>
                  <a:lnTo>
                    <a:pt x="1600330" y="1600330"/>
                  </a:lnTo>
                  <a:lnTo>
                    <a:pt x="0" y="16003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6" id="56"/>
            <p:cNvSpPr/>
            <p:nvPr/>
          </p:nvSpPr>
          <p:spPr>
            <a:xfrm flipH="false" flipV="false" rot="0">
              <a:off x="719116" y="719116"/>
              <a:ext cx="2169057" cy="2169057"/>
            </a:xfrm>
            <a:custGeom>
              <a:avLst/>
              <a:gdLst/>
              <a:ahLst/>
              <a:cxnLst/>
              <a:rect r="r" b="b" t="t" l="l"/>
              <a:pathLst>
                <a:path h="2169057" w="2169057">
                  <a:moveTo>
                    <a:pt x="0" y="0"/>
                  </a:moveTo>
                  <a:lnTo>
                    <a:pt x="2169057" y="0"/>
                  </a:lnTo>
                  <a:lnTo>
                    <a:pt x="2169057" y="2169057"/>
                  </a:lnTo>
                  <a:lnTo>
                    <a:pt x="0" y="21690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7" id="57"/>
            <p:cNvSpPr/>
            <p:nvPr/>
          </p:nvSpPr>
          <p:spPr>
            <a:xfrm flipH="false" flipV="false" rot="0">
              <a:off x="740159" y="740159"/>
              <a:ext cx="2126972" cy="2126972"/>
            </a:xfrm>
            <a:custGeom>
              <a:avLst/>
              <a:gdLst/>
              <a:ahLst/>
              <a:cxnLst/>
              <a:rect r="r" b="b" t="t" l="l"/>
              <a:pathLst>
                <a:path h="2126972" w="2126972">
                  <a:moveTo>
                    <a:pt x="0" y="0"/>
                  </a:moveTo>
                  <a:lnTo>
                    <a:pt x="2126972" y="0"/>
                  </a:lnTo>
                  <a:lnTo>
                    <a:pt x="2126972" y="2126972"/>
                  </a:lnTo>
                  <a:lnTo>
                    <a:pt x="0" y="21269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8" id="58"/>
            <p:cNvGrpSpPr/>
            <p:nvPr/>
          </p:nvGrpSpPr>
          <p:grpSpPr>
            <a:xfrm rot="-3023822">
              <a:off x="2568731" y="2044157"/>
              <a:ext cx="414484" cy="1070814"/>
              <a:chOff x="0" y="0"/>
              <a:chExt cx="237482" cy="613533"/>
            </a:xfrm>
          </p:grpSpPr>
          <p:sp>
            <p:nvSpPr>
              <p:cNvPr name="Freeform 59" id="59"/>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60" id="60"/>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61" id="61"/>
            <p:cNvSpPr/>
            <p:nvPr/>
          </p:nvSpPr>
          <p:spPr>
            <a:xfrm flipH="false" flipV="false" rot="0">
              <a:off x="1457887" y="1457887"/>
              <a:ext cx="691516" cy="691516"/>
            </a:xfrm>
            <a:custGeom>
              <a:avLst/>
              <a:gdLst/>
              <a:ahLst/>
              <a:cxnLst/>
              <a:rect r="r" b="b" t="t" l="l"/>
              <a:pathLst>
                <a:path h="691516" w="691516">
                  <a:moveTo>
                    <a:pt x="0" y="0"/>
                  </a:moveTo>
                  <a:lnTo>
                    <a:pt x="691516" y="0"/>
                  </a:lnTo>
                  <a:lnTo>
                    <a:pt x="691516" y="691516"/>
                  </a:lnTo>
                  <a:lnTo>
                    <a:pt x="0" y="691516"/>
                  </a:lnTo>
                  <a:lnTo>
                    <a:pt x="0" y="0"/>
                  </a:lnTo>
                  <a:close/>
                </a:path>
              </a:pathLst>
            </a:custGeom>
            <a:blipFill>
              <a:blip r:embed="rId5"/>
              <a:stretch>
                <a:fillRect l="0" t="0" r="0" b="0"/>
              </a:stretch>
            </a:blipFill>
          </p:spPr>
        </p:sp>
      </p:grpSp>
      <p:grpSp>
        <p:nvGrpSpPr>
          <p:cNvPr name="Group 62" id="62"/>
          <p:cNvGrpSpPr/>
          <p:nvPr/>
        </p:nvGrpSpPr>
        <p:grpSpPr>
          <a:xfrm rot="0">
            <a:off x="297699" y="7370320"/>
            <a:ext cx="8846301" cy="869417"/>
            <a:chOff x="0" y="0"/>
            <a:chExt cx="11795068" cy="1159222"/>
          </a:xfrm>
        </p:grpSpPr>
        <p:sp>
          <p:nvSpPr>
            <p:cNvPr name="TextBox 63" id="63"/>
            <p:cNvSpPr txBox="true"/>
            <p:nvPr/>
          </p:nvSpPr>
          <p:spPr>
            <a:xfrm rot="0">
              <a:off x="0" y="0"/>
              <a:ext cx="11795068" cy="1159222"/>
            </a:xfrm>
            <a:prstGeom prst="rect">
              <a:avLst/>
            </a:prstGeom>
          </p:spPr>
          <p:txBody>
            <a:bodyPr anchor="t" rtlCol="false" tIns="0" lIns="0" bIns="0" rIns="0">
              <a:spAutoFit/>
            </a:bodyPr>
            <a:lstStyle/>
            <a:p>
              <a:pPr algn="ctr">
                <a:lnSpc>
                  <a:spcPts val="6856"/>
                </a:lnSpc>
              </a:pPr>
              <a:r>
                <a:rPr lang="en-US" b="true" sz="5713" spc="1142">
                  <a:solidFill>
                    <a:srgbClr val="FFFFFF"/>
                  </a:solidFill>
                  <a:latin typeface="Glacial Indifference Bold"/>
                  <a:ea typeface="Glacial Indifference Bold"/>
                  <a:cs typeface="Glacial Indifference Bold"/>
                  <a:sym typeface="Glacial Indifference Bold"/>
                </a:rPr>
                <a:t>THE BLAC  LIST</a:t>
              </a:r>
            </a:p>
          </p:txBody>
        </p:sp>
        <p:sp>
          <p:nvSpPr>
            <p:cNvPr name="Freeform 64" id="64"/>
            <p:cNvSpPr/>
            <p:nvPr/>
          </p:nvSpPr>
          <p:spPr>
            <a:xfrm flipH="false" flipV="false" rot="0">
              <a:off x="7189214" y="293082"/>
              <a:ext cx="568499" cy="568499"/>
            </a:xfrm>
            <a:custGeom>
              <a:avLst/>
              <a:gdLst/>
              <a:ahLst/>
              <a:cxnLst/>
              <a:rect r="r" b="b" t="t" l="l"/>
              <a:pathLst>
                <a:path h="568499" w="568499">
                  <a:moveTo>
                    <a:pt x="0" y="0"/>
                  </a:moveTo>
                  <a:lnTo>
                    <a:pt x="568500" y="0"/>
                  </a:lnTo>
                  <a:lnTo>
                    <a:pt x="568500" y="568499"/>
                  </a:lnTo>
                  <a:lnTo>
                    <a:pt x="0" y="5684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5" id="65"/>
            <p:cNvSpPr/>
            <p:nvPr/>
          </p:nvSpPr>
          <p:spPr>
            <a:xfrm flipH="false" flipV="false" rot="0">
              <a:off x="7138218" y="242086"/>
              <a:ext cx="670491" cy="670491"/>
            </a:xfrm>
            <a:custGeom>
              <a:avLst/>
              <a:gdLst/>
              <a:ahLst/>
              <a:cxnLst/>
              <a:rect r="r" b="b" t="t" l="l"/>
              <a:pathLst>
                <a:path h="670491" w="670491">
                  <a:moveTo>
                    <a:pt x="0" y="0"/>
                  </a:moveTo>
                  <a:lnTo>
                    <a:pt x="670492" y="0"/>
                  </a:lnTo>
                  <a:lnTo>
                    <a:pt x="670492" y="670491"/>
                  </a:lnTo>
                  <a:lnTo>
                    <a:pt x="0" y="6704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6" id="66"/>
            <p:cNvSpPr/>
            <p:nvPr/>
          </p:nvSpPr>
          <p:spPr>
            <a:xfrm flipH="false" flipV="false" rot="0">
              <a:off x="7221226" y="325093"/>
              <a:ext cx="504476" cy="504476"/>
            </a:xfrm>
            <a:custGeom>
              <a:avLst/>
              <a:gdLst/>
              <a:ahLst/>
              <a:cxnLst/>
              <a:rect r="r" b="b" t="t" l="l"/>
              <a:pathLst>
                <a:path h="504476" w="504476">
                  <a:moveTo>
                    <a:pt x="0" y="0"/>
                  </a:moveTo>
                  <a:lnTo>
                    <a:pt x="504476" y="0"/>
                  </a:lnTo>
                  <a:lnTo>
                    <a:pt x="504476" y="504477"/>
                  </a:lnTo>
                  <a:lnTo>
                    <a:pt x="0" y="5044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7" id="67"/>
            <p:cNvSpPr/>
            <p:nvPr/>
          </p:nvSpPr>
          <p:spPr>
            <a:xfrm flipH="false" flipV="false" rot="0">
              <a:off x="7131585" y="235453"/>
              <a:ext cx="683758" cy="683758"/>
            </a:xfrm>
            <a:custGeom>
              <a:avLst/>
              <a:gdLst/>
              <a:ahLst/>
              <a:cxnLst/>
              <a:rect r="r" b="b" t="t" l="l"/>
              <a:pathLst>
                <a:path h="683758" w="683758">
                  <a:moveTo>
                    <a:pt x="0" y="0"/>
                  </a:moveTo>
                  <a:lnTo>
                    <a:pt x="683758" y="0"/>
                  </a:lnTo>
                  <a:lnTo>
                    <a:pt x="683758" y="683758"/>
                  </a:lnTo>
                  <a:lnTo>
                    <a:pt x="0" y="6837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8" id="68"/>
            <p:cNvSpPr/>
            <p:nvPr/>
          </p:nvSpPr>
          <p:spPr>
            <a:xfrm flipH="false" flipV="false" rot="0">
              <a:off x="7364600" y="468468"/>
              <a:ext cx="217728" cy="217728"/>
            </a:xfrm>
            <a:custGeom>
              <a:avLst/>
              <a:gdLst/>
              <a:ahLst/>
              <a:cxnLst/>
              <a:rect r="r" b="b" t="t" l="l"/>
              <a:pathLst>
                <a:path h="217728" w="217728">
                  <a:moveTo>
                    <a:pt x="0" y="0"/>
                  </a:moveTo>
                  <a:lnTo>
                    <a:pt x="217728" y="0"/>
                  </a:lnTo>
                  <a:lnTo>
                    <a:pt x="217728" y="217728"/>
                  </a:lnTo>
                  <a:lnTo>
                    <a:pt x="0" y="217728"/>
                  </a:lnTo>
                  <a:lnTo>
                    <a:pt x="0" y="0"/>
                  </a:lnTo>
                  <a:close/>
                </a:path>
              </a:pathLst>
            </a:custGeom>
            <a:blipFill>
              <a:blip r:embed="rId5"/>
              <a:stretch>
                <a:fillRect l="0" t="0" r="0" b="0"/>
              </a:stretch>
            </a:blipFill>
          </p:spPr>
        </p:sp>
        <p:grpSp>
          <p:nvGrpSpPr>
            <p:cNvPr name="Group 69" id="69"/>
            <p:cNvGrpSpPr/>
            <p:nvPr/>
          </p:nvGrpSpPr>
          <p:grpSpPr>
            <a:xfrm rot="-3023822">
              <a:off x="7714644" y="653149"/>
              <a:ext cx="130659" cy="337556"/>
              <a:chOff x="0" y="0"/>
              <a:chExt cx="237482" cy="613533"/>
            </a:xfrm>
          </p:grpSpPr>
          <p:sp>
            <p:nvSpPr>
              <p:cNvPr name="Freeform 70" id="70"/>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71" id="71"/>
              <p:cNvSpPr txBox="true"/>
              <p:nvPr/>
            </p:nvSpPr>
            <p:spPr>
              <a:xfrm>
                <a:off x="0" y="-19050"/>
                <a:ext cx="237482" cy="632583"/>
              </a:xfrm>
              <a:prstGeom prst="rect">
                <a:avLst/>
              </a:prstGeom>
            </p:spPr>
            <p:txBody>
              <a:bodyPr anchor="ctr" rtlCol="false" tIns="15538" lIns="15538" bIns="15538" rIns="15538"/>
              <a:lstStyle/>
              <a:p>
                <a:pPr algn="ctr">
                  <a:lnSpc>
                    <a:spcPts val="717"/>
                  </a:lnSpc>
                </a:pPr>
              </a:p>
            </p:txBody>
          </p:sp>
        </p:gr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3179374" y="5094195"/>
            <a:ext cx="10306767" cy="1012951"/>
            <a:chOff x="0" y="0"/>
            <a:chExt cx="13742356" cy="1350602"/>
          </a:xfrm>
        </p:grpSpPr>
        <p:sp>
          <p:nvSpPr>
            <p:cNvPr name="TextBox 3" id="3"/>
            <p:cNvSpPr txBox="true"/>
            <p:nvPr/>
          </p:nvSpPr>
          <p:spPr>
            <a:xfrm rot="0">
              <a:off x="0" y="0"/>
              <a:ext cx="13742356" cy="1350602"/>
            </a:xfrm>
            <a:prstGeom prst="rect">
              <a:avLst/>
            </a:prstGeom>
          </p:spPr>
          <p:txBody>
            <a:bodyPr anchor="t" rtlCol="false" tIns="0" lIns="0" bIns="0" rIns="0">
              <a:spAutoFit/>
            </a:bodyPr>
            <a:lstStyle/>
            <a:p>
              <a:pPr algn="ctr">
                <a:lnSpc>
                  <a:spcPts val="7987"/>
                </a:lnSpc>
              </a:pPr>
              <a:r>
                <a:rPr lang="en-US" b="true" sz="6656" spc="1331">
                  <a:solidFill>
                    <a:srgbClr val="FFFFFF"/>
                  </a:solidFill>
                  <a:latin typeface="Glacial Indifference Bold"/>
                  <a:ea typeface="Glacial Indifference Bold"/>
                  <a:cs typeface="Glacial Indifference Bold"/>
                  <a:sym typeface="Glacial Indifference Bold"/>
                </a:rPr>
                <a:t>THE BLAC  LIST</a:t>
              </a:r>
            </a:p>
          </p:txBody>
        </p:sp>
        <p:sp>
          <p:nvSpPr>
            <p:cNvPr name="Freeform 4" id="4"/>
            <p:cNvSpPr/>
            <p:nvPr/>
          </p:nvSpPr>
          <p:spPr>
            <a:xfrm flipH="false" flipV="false" rot="0">
              <a:off x="8376106" y="341468"/>
              <a:ext cx="662355" cy="662355"/>
            </a:xfrm>
            <a:custGeom>
              <a:avLst/>
              <a:gdLst/>
              <a:ahLst/>
              <a:cxnLst/>
              <a:rect r="r" b="b" t="t" l="l"/>
              <a:pathLst>
                <a:path h="662355" w="662355">
                  <a:moveTo>
                    <a:pt x="0" y="0"/>
                  </a:moveTo>
                  <a:lnTo>
                    <a:pt x="662355" y="0"/>
                  </a:lnTo>
                  <a:lnTo>
                    <a:pt x="662355" y="662355"/>
                  </a:lnTo>
                  <a:lnTo>
                    <a:pt x="0" y="6623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316691" y="282053"/>
              <a:ext cx="781185" cy="781185"/>
            </a:xfrm>
            <a:custGeom>
              <a:avLst/>
              <a:gdLst/>
              <a:ahLst/>
              <a:cxnLst/>
              <a:rect r="r" b="b" t="t" l="l"/>
              <a:pathLst>
                <a:path h="781185" w="781185">
                  <a:moveTo>
                    <a:pt x="0" y="0"/>
                  </a:moveTo>
                  <a:lnTo>
                    <a:pt x="781185" y="0"/>
                  </a:lnTo>
                  <a:lnTo>
                    <a:pt x="781185" y="781185"/>
                  </a:lnTo>
                  <a:lnTo>
                    <a:pt x="0" y="7811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413402" y="378764"/>
              <a:ext cx="587762" cy="587762"/>
            </a:xfrm>
            <a:custGeom>
              <a:avLst/>
              <a:gdLst/>
              <a:ahLst/>
              <a:cxnLst/>
              <a:rect r="r" b="b" t="t" l="l"/>
              <a:pathLst>
                <a:path h="587762" w="587762">
                  <a:moveTo>
                    <a:pt x="0" y="0"/>
                  </a:moveTo>
                  <a:lnTo>
                    <a:pt x="587763" y="0"/>
                  </a:lnTo>
                  <a:lnTo>
                    <a:pt x="587763" y="587762"/>
                  </a:lnTo>
                  <a:lnTo>
                    <a:pt x="0" y="5877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308963" y="274325"/>
              <a:ext cx="796642" cy="796642"/>
            </a:xfrm>
            <a:custGeom>
              <a:avLst/>
              <a:gdLst/>
              <a:ahLst/>
              <a:cxnLst/>
              <a:rect r="r" b="b" t="t" l="l"/>
              <a:pathLst>
                <a:path h="796642" w="796642">
                  <a:moveTo>
                    <a:pt x="0" y="0"/>
                  </a:moveTo>
                  <a:lnTo>
                    <a:pt x="796641" y="0"/>
                  </a:lnTo>
                  <a:lnTo>
                    <a:pt x="796641" y="796641"/>
                  </a:lnTo>
                  <a:lnTo>
                    <a:pt x="0" y="7966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8580447" y="545809"/>
              <a:ext cx="253674" cy="253674"/>
            </a:xfrm>
            <a:custGeom>
              <a:avLst/>
              <a:gdLst/>
              <a:ahLst/>
              <a:cxnLst/>
              <a:rect r="r" b="b" t="t" l="l"/>
              <a:pathLst>
                <a:path h="253674" w="253674">
                  <a:moveTo>
                    <a:pt x="0" y="0"/>
                  </a:moveTo>
                  <a:lnTo>
                    <a:pt x="253673" y="0"/>
                  </a:lnTo>
                  <a:lnTo>
                    <a:pt x="253673" y="253673"/>
                  </a:lnTo>
                  <a:lnTo>
                    <a:pt x="0" y="253673"/>
                  </a:lnTo>
                  <a:lnTo>
                    <a:pt x="0" y="0"/>
                  </a:lnTo>
                  <a:close/>
                </a:path>
              </a:pathLst>
            </a:custGeom>
            <a:blipFill>
              <a:blip r:embed="rId4"/>
              <a:stretch>
                <a:fillRect l="0" t="0" r="0" b="0"/>
              </a:stretch>
            </a:blipFill>
          </p:spPr>
        </p:sp>
        <p:grpSp>
          <p:nvGrpSpPr>
            <p:cNvPr name="Group 9" id="9"/>
            <p:cNvGrpSpPr/>
            <p:nvPr/>
          </p:nvGrpSpPr>
          <p:grpSpPr>
            <a:xfrm rot="-3023822">
              <a:off x="8988281" y="760980"/>
              <a:ext cx="152230" cy="393284"/>
              <a:chOff x="0" y="0"/>
              <a:chExt cx="237482" cy="613533"/>
            </a:xfrm>
          </p:grpSpPr>
          <p:sp>
            <p:nvSpPr>
              <p:cNvPr name="Freeform 10" id="10"/>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11" id="11"/>
              <p:cNvSpPr txBox="true"/>
              <p:nvPr/>
            </p:nvSpPr>
            <p:spPr>
              <a:xfrm>
                <a:off x="0" y="-19050"/>
                <a:ext cx="237482" cy="632583"/>
              </a:xfrm>
              <a:prstGeom prst="rect">
                <a:avLst/>
              </a:prstGeom>
            </p:spPr>
            <p:txBody>
              <a:bodyPr anchor="ctr" rtlCol="false" tIns="15538" lIns="15538" bIns="15538" rIns="15538"/>
              <a:lstStyle/>
              <a:p>
                <a:pPr algn="ctr">
                  <a:lnSpc>
                    <a:spcPts val="717"/>
                  </a:lnSpc>
                </a:pPr>
              </a:p>
            </p:txBody>
          </p:sp>
        </p:grpSp>
      </p:grpSp>
      <p:sp>
        <p:nvSpPr>
          <p:cNvPr name="TextBox 12" id="12"/>
          <p:cNvSpPr txBox="true"/>
          <p:nvPr/>
        </p:nvSpPr>
        <p:spPr>
          <a:xfrm rot="0">
            <a:off x="903062" y="704850"/>
            <a:ext cx="9155755" cy="628650"/>
          </a:xfrm>
          <a:prstGeom prst="rect">
            <a:avLst/>
          </a:prstGeom>
        </p:spPr>
        <p:txBody>
          <a:bodyPr anchor="t" rtlCol="false" tIns="0" lIns="0" bIns="0" rIns="0">
            <a:spAutoFit/>
          </a:bodyPr>
          <a:lstStyle/>
          <a:p>
            <a:pPr algn="l" marL="0" indent="0" lvl="0">
              <a:lnSpc>
                <a:spcPts val="4800"/>
              </a:lnSpc>
              <a:spcBef>
                <a:spcPct val="0"/>
              </a:spcBef>
            </a:pPr>
            <a:r>
              <a:rPr lang="en-US" b="true" sz="4000" spc="800" strike="noStrike" u="none">
                <a:solidFill>
                  <a:srgbClr val="FFFFFF"/>
                </a:solidFill>
                <a:latin typeface="Glacial Indifference Bold"/>
                <a:ea typeface="Glacial Indifference Bold"/>
                <a:cs typeface="Glacial Indifference Bold"/>
                <a:sym typeface="Glacial Indifference Bold"/>
              </a:rPr>
              <a:t>PRIMARY BRAND GRAPHICS</a:t>
            </a:r>
          </a:p>
        </p:txBody>
      </p:sp>
      <p:sp>
        <p:nvSpPr>
          <p:cNvPr name="TextBox 13" id="13"/>
          <p:cNvSpPr txBox="true"/>
          <p:nvPr/>
        </p:nvSpPr>
        <p:spPr>
          <a:xfrm rot="0">
            <a:off x="903062" y="1323975"/>
            <a:ext cx="5956784" cy="314325"/>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B&amp;W Logo Files</a:t>
            </a:r>
          </a:p>
        </p:txBody>
      </p:sp>
      <p:sp>
        <p:nvSpPr>
          <p:cNvPr name="TextBox 14" id="14"/>
          <p:cNvSpPr txBox="true"/>
          <p:nvPr/>
        </p:nvSpPr>
        <p:spPr>
          <a:xfrm rot="0">
            <a:off x="903062" y="1948527"/>
            <a:ext cx="11736549" cy="777102"/>
          </a:xfrm>
          <a:prstGeom prst="rect">
            <a:avLst/>
          </a:prstGeom>
        </p:spPr>
        <p:txBody>
          <a:bodyPr anchor="t" rtlCol="false" tIns="0" lIns="0" bIns="0" rIns="0">
            <a:spAutoFit/>
          </a:bodyPr>
          <a:lstStyle/>
          <a:p>
            <a:pPr algn="just" marL="0" indent="0" lvl="0">
              <a:lnSpc>
                <a:spcPts val="3155"/>
              </a:lnSpc>
              <a:spcBef>
                <a:spcPct val="0"/>
              </a:spcBef>
            </a:pPr>
            <a:r>
              <a:rPr lang="en-US" sz="2103" strike="noStrike" u="none">
                <a:solidFill>
                  <a:srgbClr val="FFFFFF"/>
                </a:solidFill>
                <a:latin typeface="Quicksand"/>
                <a:ea typeface="Quicksand"/>
                <a:cs typeface="Quicksand"/>
                <a:sym typeface="Quicksand"/>
              </a:rPr>
              <a:t>Black and white logo files should be used for all offset printed or digitally printed pieces done in one color only. An example usage would be a simple flyer, memo, or fax cover sheet.</a:t>
            </a:r>
          </a:p>
        </p:txBody>
      </p:sp>
      <p:sp>
        <p:nvSpPr>
          <p:cNvPr name="TextBox 15" id="15"/>
          <p:cNvSpPr txBox="true"/>
          <p:nvPr/>
        </p:nvSpPr>
        <p:spPr>
          <a:xfrm rot="0">
            <a:off x="903062" y="8459822"/>
            <a:ext cx="8813154" cy="926636"/>
          </a:xfrm>
          <a:prstGeom prst="rect">
            <a:avLst/>
          </a:prstGeom>
        </p:spPr>
        <p:txBody>
          <a:bodyPr anchor="t" rtlCol="false" tIns="0" lIns="0" bIns="0" rIns="0">
            <a:spAutoFit/>
          </a:bodyPr>
          <a:lstStyle/>
          <a:p>
            <a:pPr algn="l" marL="0" indent="0" lvl="0">
              <a:lnSpc>
                <a:spcPts val="7200"/>
              </a:lnSpc>
              <a:spcBef>
                <a:spcPct val="0"/>
              </a:spcBef>
            </a:pPr>
            <a:r>
              <a:rPr lang="en-US" b="true" sz="6000" spc="1200" strike="noStrike" u="none">
                <a:solidFill>
                  <a:srgbClr val="FFFFFF">
                    <a:alpha val="34902"/>
                  </a:srgbClr>
                </a:solidFill>
                <a:latin typeface="Glacial Indifference Bold"/>
                <a:ea typeface="Glacial Indifference Bold"/>
                <a:cs typeface="Glacial Indifference Bold"/>
                <a:sym typeface="Glacial Indifference Bold"/>
              </a:rPr>
              <a:t>BLACK/WHITE</a:t>
            </a:r>
          </a:p>
        </p:txBody>
      </p:sp>
      <p:sp>
        <p:nvSpPr>
          <p:cNvPr name="Freeform 16" id="16"/>
          <p:cNvSpPr/>
          <p:nvPr/>
        </p:nvSpPr>
        <p:spPr>
          <a:xfrm flipH="false" flipV="false" rot="-5400000">
            <a:off x="13398612" y="-1686746"/>
            <a:ext cx="14542490" cy="12212865"/>
          </a:xfrm>
          <a:custGeom>
            <a:avLst/>
            <a:gdLst/>
            <a:ahLst/>
            <a:cxnLst/>
            <a:rect r="r" b="b" t="t" l="l"/>
            <a:pathLst>
              <a:path h="12212865" w="14542490">
                <a:moveTo>
                  <a:pt x="0" y="0"/>
                </a:moveTo>
                <a:lnTo>
                  <a:pt x="14542491" y="0"/>
                </a:lnTo>
                <a:lnTo>
                  <a:pt x="14542491" y="12212866"/>
                </a:lnTo>
                <a:lnTo>
                  <a:pt x="0" y="12212866"/>
                </a:lnTo>
                <a:lnTo>
                  <a:pt x="0" y="0"/>
                </a:lnTo>
                <a:close/>
              </a:path>
            </a:pathLst>
          </a:custGeom>
          <a:blipFill>
            <a:blip r:embed="rId5"/>
            <a:stretch>
              <a:fillRect l="-7923" t="0" r="-21029"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rot="0">
            <a:off x="1028700" y="6151120"/>
            <a:ext cx="15963229" cy="0"/>
          </a:xfrm>
          <a:prstGeom prst="line">
            <a:avLst/>
          </a:prstGeom>
          <a:ln cap="flat" w="38100">
            <a:solidFill>
              <a:srgbClr val="FFFFFF"/>
            </a:solidFill>
            <a:prstDash val="solid"/>
            <a:headEnd type="none" len="sm" w="sm"/>
            <a:tailEnd type="none" len="sm" w="sm"/>
          </a:ln>
        </p:spPr>
      </p:sp>
      <p:sp>
        <p:nvSpPr>
          <p:cNvPr name="AutoShape 3" id="3"/>
          <p:cNvSpPr/>
          <p:nvPr/>
        </p:nvSpPr>
        <p:spPr>
          <a:xfrm rot="-5400000">
            <a:off x="6194835" y="6137685"/>
            <a:ext cx="6203130" cy="0"/>
          </a:xfrm>
          <a:prstGeom prst="line">
            <a:avLst/>
          </a:prstGeom>
          <a:ln cap="flat" w="38100">
            <a:solidFill>
              <a:srgbClr val="FFFFFF"/>
            </a:solidFill>
            <a:prstDash val="solid"/>
            <a:headEnd type="none" len="sm" w="sm"/>
            <a:tailEnd type="none" len="sm" w="sm"/>
          </a:ln>
        </p:spPr>
      </p:sp>
      <p:sp>
        <p:nvSpPr>
          <p:cNvPr name="Freeform 4" id="4"/>
          <p:cNvSpPr/>
          <p:nvPr/>
        </p:nvSpPr>
        <p:spPr>
          <a:xfrm flipH="false" flipV="false" rot="0">
            <a:off x="0" y="601284"/>
            <a:ext cx="17464564" cy="1464433"/>
          </a:xfrm>
          <a:custGeom>
            <a:avLst/>
            <a:gdLst/>
            <a:ahLst/>
            <a:cxnLst/>
            <a:rect r="r" b="b" t="t" l="l"/>
            <a:pathLst>
              <a:path h="1464433" w="17464564">
                <a:moveTo>
                  <a:pt x="0" y="0"/>
                </a:moveTo>
                <a:lnTo>
                  <a:pt x="17464564" y="0"/>
                </a:lnTo>
                <a:lnTo>
                  <a:pt x="17464564" y="1464432"/>
                </a:lnTo>
                <a:lnTo>
                  <a:pt x="0" y="1464432"/>
                </a:lnTo>
                <a:lnTo>
                  <a:pt x="0" y="0"/>
                </a:lnTo>
                <a:close/>
              </a:path>
            </a:pathLst>
          </a:custGeom>
          <a:blipFill>
            <a:blip r:embed="rId2"/>
            <a:stretch>
              <a:fillRect l="-3212" t="-503025" r="0" b="-627868"/>
            </a:stretch>
          </a:blipFill>
        </p:spPr>
      </p:sp>
      <p:sp>
        <p:nvSpPr>
          <p:cNvPr name="TextBox 5" id="5"/>
          <p:cNvSpPr txBox="true"/>
          <p:nvPr/>
        </p:nvSpPr>
        <p:spPr>
          <a:xfrm rot="0">
            <a:off x="903062" y="704850"/>
            <a:ext cx="8869874" cy="628650"/>
          </a:xfrm>
          <a:prstGeom prst="rect">
            <a:avLst/>
          </a:prstGeom>
        </p:spPr>
        <p:txBody>
          <a:bodyPr anchor="t" rtlCol="false" tIns="0" lIns="0" bIns="0" rIns="0">
            <a:spAutoFit/>
          </a:bodyPr>
          <a:lstStyle/>
          <a:p>
            <a:pPr algn="l" marL="0" indent="0" lvl="0">
              <a:lnSpc>
                <a:spcPts val="4800"/>
              </a:lnSpc>
              <a:spcBef>
                <a:spcPct val="0"/>
              </a:spcBef>
            </a:pPr>
            <a:r>
              <a:rPr lang="en-US" b="true" sz="4000" spc="800" strike="noStrike" u="none">
                <a:solidFill>
                  <a:srgbClr val="000000"/>
                </a:solidFill>
                <a:latin typeface="Glacial Indifference Bold"/>
                <a:ea typeface="Glacial Indifference Bold"/>
                <a:cs typeface="Glacial Indifference Bold"/>
                <a:sym typeface="Glacial Indifference Bold"/>
              </a:rPr>
              <a:t>PRIMARY BRAND GRAPHICS</a:t>
            </a:r>
          </a:p>
        </p:txBody>
      </p:sp>
      <p:sp>
        <p:nvSpPr>
          <p:cNvPr name="TextBox 6" id="6"/>
          <p:cNvSpPr txBox="true"/>
          <p:nvPr/>
        </p:nvSpPr>
        <p:spPr>
          <a:xfrm rot="0">
            <a:off x="903062" y="1323975"/>
            <a:ext cx="5956784" cy="314325"/>
          </a:xfrm>
          <a:prstGeom prst="rect">
            <a:avLst/>
          </a:prstGeom>
        </p:spPr>
        <p:txBody>
          <a:bodyPr anchor="t" rtlCol="false" tIns="0" lIns="0" bIns="0" rIns="0">
            <a:spAutoFit/>
          </a:bodyPr>
          <a:lstStyle/>
          <a:p>
            <a:pPr algn="l" marL="0" indent="0" lvl="0">
              <a:lnSpc>
                <a:spcPts val="2415"/>
              </a:lnSpc>
              <a:spcBef>
                <a:spcPct val="0"/>
              </a:spcBef>
            </a:pPr>
            <a:r>
              <a:rPr lang="en-US" sz="2013" spc="402">
                <a:solidFill>
                  <a:srgbClr val="000000"/>
                </a:solidFill>
                <a:latin typeface="Lato"/>
                <a:ea typeface="Lato"/>
                <a:cs typeface="Lato"/>
                <a:sym typeface="Lato"/>
              </a:rPr>
              <a:t>B&amp;W Logo Files</a:t>
            </a:r>
          </a:p>
        </p:txBody>
      </p:sp>
      <p:sp>
        <p:nvSpPr>
          <p:cNvPr name="TextBox 7" id="7"/>
          <p:cNvSpPr txBox="true"/>
          <p:nvPr/>
        </p:nvSpPr>
        <p:spPr>
          <a:xfrm rot="0">
            <a:off x="11035145" y="919772"/>
            <a:ext cx="5956784" cy="448812"/>
          </a:xfrm>
          <a:prstGeom prst="rect">
            <a:avLst/>
          </a:prstGeom>
        </p:spPr>
        <p:txBody>
          <a:bodyPr anchor="t" rtlCol="false" tIns="0" lIns="0" bIns="0" rIns="0">
            <a:spAutoFit/>
          </a:bodyPr>
          <a:lstStyle/>
          <a:p>
            <a:pPr algn="r">
              <a:lnSpc>
                <a:spcPts val="3612"/>
              </a:lnSpc>
            </a:pPr>
            <a:r>
              <a:rPr lang="en-US" sz="2580">
                <a:solidFill>
                  <a:srgbClr val="000000"/>
                </a:solidFill>
                <a:latin typeface="Lato"/>
                <a:ea typeface="Lato"/>
                <a:cs typeface="Lato"/>
                <a:sym typeface="Lato"/>
              </a:rPr>
              <a:t>PROCESS FORMATS: 1-3</a:t>
            </a:r>
          </a:p>
        </p:txBody>
      </p:sp>
      <p:grpSp>
        <p:nvGrpSpPr>
          <p:cNvPr name="Group 8" id="8"/>
          <p:cNvGrpSpPr/>
          <p:nvPr/>
        </p:nvGrpSpPr>
        <p:grpSpPr>
          <a:xfrm rot="0">
            <a:off x="3553305" y="2994341"/>
            <a:ext cx="1702309" cy="1702309"/>
            <a:chOff x="0" y="0"/>
            <a:chExt cx="2269746" cy="2269746"/>
          </a:xfrm>
        </p:grpSpPr>
        <p:grpSp>
          <p:nvGrpSpPr>
            <p:cNvPr name="Group 9" id="9"/>
            <p:cNvGrpSpPr/>
            <p:nvPr/>
          </p:nvGrpSpPr>
          <p:grpSpPr>
            <a:xfrm rot="0">
              <a:off x="0" y="0"/>
              <a:ext cx="2269746" cy="226974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1" id="11"/>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12" id="12"/>
            <p:cNvSpPr/>
            <p:nvPr/>
          </p:nvSpPr>
          <p:spPr>
            <a:xfrm flipH="false" flipV="false" rot="0">
              <a:off x="567505" y="567505"/>
              <a:ext cx="1134736" cy="1134736"/>
            </a:xfrm>
            <a:custGeom>
              <a:avLst/>
              <a:gdLst/>
              <a:ahLst/>
              <a:cxnLst/>
              <a:rect r="r" b="b" t="t" l="l"/>
              <a:pathLst>
                <a:path h="1134736" w="1134736">
                  <a:moveTo>
                    <a:pt x="0" y="0"/>
                  </a:moveTo>
                  <a:lnTo>
                    <a:pt x="1134736" y="0"/>
                  </a:lnTo>
                  <a:lnTo>
                    <a:pt x="1134736" y="1134736"/>
                  </a:lnTo>
                  <a:lnTo>
                    <a:pt x="0" y="11347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631400" y="631400"/>
              <a:ext cx="1006945" cy="1006945"/>
            </a:xfrm>
            <a:custGeom>
              <a:avLst/>
              <a:gdLst/>
              <a:ahLst/>
              <a:cxnLst/>
              <a:rect r="r" b="b" t="t" l="l"/>
              <a:pathLst>
                <a:path h="1006945" w="1006945">
                  <a:moveTo>
                    <a:pt x="0" y="0"/>
                  </a:moveTo>
                  <a:lnTo>
                    <a:pt x="1006945" y="0"/>
                  </a:lnTo>
                  <a:lnTo>
                    <a:pt x="1006945" y="1006945"/>
                  </a:lnTo>
                  <a:lnTo>
                    <a:pt x="0" y="1006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452476" y="452476"/>
              <a:ext cx="1364794" cy="1364794"/>
            </a:xfrm>
            <a:custGeom>
              <a:avLst/>
              <a:gdLst/>
              <a:ahLst/>
              <a:cxnLst/>
              <a:rect r="r" b="b" t="t" l="l"/>
              <a:pathLst>
                <a:path h="1364794" w="1364794">
                  <a:moveTo>
                    <a:pt x="0" y="0"/>
                  </a:moveTo>
                  <a:lnTo>
                    <a:pt x="1364794" y="0"/>
                  </a:lnTo>
                  <a:lnTo>
                    <a:pt x="1364794" y="1364794"/>
                  </a:lnTo>
                  <a:lnTo>
                    <a:pt x="0" y="13647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465716" y="465716"/>
              <a:ext cx="1338314" cy="1338314"/>
            </a:xfrm>
            <a:custGeom>
              <a:avLst/>
              <a:gdLst/>
              <a:ahLst/>
              <a:cxnLst/>
              <a:rect r="r" b="b" t="t" l="l"/>
              <a:pathLst>
                <a:path h="1338314" w="1338314">
                  <a:moveTo>
                    <a:pt x="0" y="0"/>
                  </a:moveTo>
                  <a:lnTo>
                    <a:pt x="1338314" y="0"/>
                  </a:lnTo>
                  <a:lnTo>
                    <a:pt x="1338314" y="1338314"/>
                  </a:lnTo>
                  <a:lnTo>
                    <a:pt x="0" y="13383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3023822">
              <a:off x="1616274" y="1286206"/>
              <a:ext cx="260798" cy="673768"/>
              <a:chOff x="0" y="0"/>
              <a:chExt cx="237482" cy="613533"/>
            </a:xfrm>
          </p:grpSpPr>
          <p:sp>
            <p:nvSpPr>
              <p:cNvPr name="Freeform 17" id="17"/>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18" id="18"/>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19" id="19"/>
            <p:cNvSpPr/>
            <p:nvPr/>
          </p:nvSpPr>
          <p:spPr>
            <a:xfrm flipH="false" flipV="false" rot="0">
              <a:off x="917318" y="917318"/>
              <a:ext cx="435110" cy="435110"/>
            </a:xfrm>
            <a:custGeom>
              <a:avLst/>
              <a:gdLst/>
              <a:ahLst/>
              <a:cxnLst/>
              <a:rect r="r" b="b" t="t" l="l"/>
              <a:pathLst>
                <a:path h="435110" w="435110">
                  <a:moveTo>
                    <a:pt x="0" y="0"/>
                  </a:moveTo>
                  <a:lnTo>
                    <a:pt x="435110" y="0"/>
                  </a:lnTo>
                  <a:lnTo>
                    <a:pt x="435110" y="435110"/>
                  </a:lnTo>
                  <a:lnTo>
                    <a:pt x="0" y="435110"/>
                  </a:lnTo>
                  <a:lnTo>
                    <a:pt x="0" y="0"/>
                  </a:lnTo>
                  <a:close/>
                </a:path>
              </a:pathLst>
            </a:custGeom>
            <a:blipFill>
              <a:blip r:embed="rId5"/>
              <a:stretch>
                <a:fillRect l="0" t="0" r="0" b="0"/>
              </a:stretch>
            </a:blipFill>
            <a:ln cap="sq">
              <a:noFill/>
              <a:prstDash val="solid"/>
              <a:miter/>
            </a:ln>
          </p:spPr>
        </p:sp>
      </p:grpSp>
      <p:grpSp>
        <p:nvGrpSpPr>
          <p:cNvPr name="Group 20" id="20"/>
          <p:cNvGrpSpPr/>
          <p:nvPr/>
        </p:nvGrpSpPr>
        <p:grpSpPr>
          <a:xfrm rot="0">
            <a:off x="1722336" y="4714315"/>
            <a:ext cx="5364247" cy="527199"/>
            <a:chOff x="0" y="0"/>
            <a:chExt cx="7152330" cy="702933"/>
          </a:xfrm>
        </p:grpSpPr>
        <p:sp>
          <p:nvSpPr>
            <p:cNvPr name="TextBox 21" id="21"/>
            <p:cNvSpPr txBox="true"/>
            <p:nvPr/>
          </p:nvSpPr>
          <p:spPr>
            <a:xfrm rot="0">
              <a:off x="0" y="-9525"/>
              <a:ext cx="7152330" cy="712458"/>
            </a:xfrm>
            <a:prstGeom prst="rect">
              <a:avLst/>
            </a:prstGeom>
          </p:spPr>
          <p:txBody>
            <a:bodyPr anchor="t" rtlCol="false" tIns="0" lIns="0" bIns="0" rIns="0">
              <a:spAutoFit/>
            </a:bodyPr>
            <a:lstStyle/>
            <a:p>
              <a:pPr algn="ctr">
                <a:lnSpc>
                  <a:spcPts val="4157"/>
                </a:lnSpc>
              </a:pPr>
              <a:r>
                <a:rPr lang="en-US" b="true" sz="3464" spc="692">
                  <a:solidFill>
                    <a:srgbClr val="FFFFFF"/>
                  </a:solidFill>
                  <a:latin typeface="Glacial Indifference Bold"/>
                  <a:ea typeface="Glacial Indifference Bold"/>
                  <a:cs typeface="Glacial Indifference Bold"/>
                  <a:sym typeface="Glacial Indifference Bold"/>
                </a:rPr>
                <a:t>THE BLAC  LIST</a:t>
              </a:r>
            </a:p>
          </p:txBody>
        </p:sp>
        <p:sp>
          <p:nvSpPr>
            <p:cNvPr name="Freeform 22" id="22"/>
            <p:cNvSpPr/>
            <p:nvPr/>
          </p:nvSpPr>
          <p:spPr>
            <a:xfrm flipH="false" flipV="false" rot="0">
              <a:off x="4359418" y="177720"/>
              <a:ext cx="344728" cy="344728"/>
            </a:xfrm>
            <a:custGeom>
              <a:avLst/>
              <a:gdLst/>
              <a:ahLst/>
              <a:cxnLst/>
              <a:rect r="r" b="b" t="t" l="l"/>
              <a:pathLst>
                <a:path h="344728" w="344728">
                  <a:moveTo>
                    <a:pt x="0" y="0"/>
                  </a:moveTo>
                  <a:lnTo>
                    <a:pt x="344728" y="0"/>
                  </a:lnTo>
                  <a:lnTo>
                    <a:pt x="344728" y="344728"/>
                  </a:lnTo>
                  <a:lnTo>
                    <a:pt x="0" y="3447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0">
              <a:off x="4328495" y="146797"/>
              <a:ext cx="406575" cy="406575"/>
            </a:xfrm>
            <a:custGeom>
              <a:avLst/>
              <a:gdLst/>
              <a:ahLst/>
              <a:cxnLst/>
              <a:rect r="r" b="b" t="t" l="l"/>
              <a:pathLst>
                <a:path h="406575" w="406575">
                  <a:moveTo>
                    <a:pt x="0" y="0"/>
                  </a:moveTo>
                  <a:lnTo>
                    <a:pt x="406574" y="0"/>
                  </a:lnTo>
                  <a:lnTo>
                    <a:pt x="406574" y="406574"/>
                  </a:lnTo>
                  <a:lnTo>
                    <a:pt x="0" y="4065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4" id="24"/>
            <p:cNvSpPr/>
            <p:nvPr/>
          </p:nvSpPr>
          <p:spPr>
            <a:xfrm flipH="false" flipV="false" rot="0">
              <a:off x="4378829" y="197131"/>
              <a:ext cx="305906" cy="305906"/>
            </a:xfrm>
            <a:custGeom>
              <a:avLst/>
              <a:gdLst/>
              <a:ahLst/>
              <a:cxnLst/>
              <a:rect r="r" b="b" t="t" l="l"/>
              <a:pathLst>
                <a:path h="305906" w="305906">
                  <a:moveTo>
                    <a:pt x="0" y="0"/>
                  </a:moveTo>
                  <a:lnTo>
                    <a:pt x="305906" y="0"/>
                  </a:lnTo>
                  <a:lnTo>
                    <a:pt x="305906" y="305906"/>
                  </a:lnTo>
                  <a:lnTo>
                    <a:pt x="0" y="3059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0">
              <a:off x="4324472" y="142775"/>
              <a:ext cx="414619" cy="414619"/>
            </a:xfrm>
            <a:custGeom>
              <a:avLst/>
              <a:gdLst/>
              <a:ahLst/>
              <a:cxnLst/>
              <a:rect r="r" b="b" t="t" l="l"/>
              <a:pathLst>
                <a:path h="414619" w="414619">
                  <a:moveTo>
                    <a:pt x="0" y="0"/>
                  </a:moveTo>
                  <a:lnTo>
                    <a:pt x="414619" y="0"/>
                  </a:lnTo>
                  <a:lnTo>
                    <a:pt x="414619" y="414619"/>
                  </a:lnTo>
                  <a:lnTo>
                    <a:pt x="0" y="4146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6" id="26"/>
            <p:cNvSpPr/>
            <p:nvPr/>
          </p:nvSpPr>
          <p:spPr>
            <a:xfrm flipH="false" flipV="false" rot="0">
              <a:off x="4465769" y="284071"/>
              <a:ext cx="132027" cy="132027"/>
            </a:xfrm>
            <a:custGeom>
              <a:avLst/>
              <a:gdLst/>
              <a:ahLst/>
              <a:cxnLst/>
              <a:rect r="r" b="b" t="t" l="l"/>
              <a:pathLst>
                <a:path h="132027" w="132027">
                  <a:moveTo>
                    <a:pt x="0" y="0"/>
                  </a:moveTo>
                  <a:lnTo>
                    <a:pt x="132026" y="0"/>
                  </a:lnTo>
                  <a:lnTo>
                    <a:pt x="132026" y="132027"/>
                  </a:lnTo>
                  <a:lnTo>
                    <a:pt x="0" y="132027"/>
                  </a:lnTo>
                  <a:lnTo>
                    <a:pt x="0" y="0"/>
                  </a:lnTo>
                  <a:close/>
                </a:path>
              </a:pathLst>
            </a:custGeom>
            <a:blipFill>
              <a:blip r:embed="rId5"/>
              <a:stretch>
                <a:fillRect l="0" t="0" r="0" b="0"/>
              </a:stretch>
            </a:blipFill>
            <a:ln cap="sq">
              <a:noFill/>
              <a:prstDash val="solid"/>
              <a:miter/>
            </a:ln>
          </p:spPr>
        </p:sp>
        <p:grpSp>
          <p:nvGrpSpPr>
            <p:cNvPr name="Group 27" id="27"/>
            <p:cNvGrpSpPr/>
            <p:nvPr/>
          </p:nvGrpSpPr>
          <p:grpSpPr>
            <a:xfrm rot="-3023822">
              <a:off x="4678030" y="396059"/>
              <a:ext cx="79229" cy="204688"/>
              <a:chOff x="0" y="0"/>
              <a:chExt cx="237482" cy="613533"/>
            </a:xfrm>
          </p:grpSpPr>
          <p:sp>
            <p:nvSpPr>
              <p:cNvPr name="Freeform 28" id="28"/>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29" id="29"/>
              <p:cNvSpPr txBox="true"/>
              <p:nvPr/>
            </p:nvSpPr>
            <p:spPr>
              <a:xfrm>
                <a:off x="0" y="-19050"/>
                <a:ext cx="237482" cy="632583"/>
              </a:xfrm>
              <a:prstGeom prst="rect">
                <a:avLst/>
              </a:prstGeom>
            </p:spPr>
            <p:txBody>
              <a:bodyPr anchor="ctr" rtlCol="false" tIns="15538" lIns="15538" bIns="15538" rIns="15538"/>
              <a:lstStyle/>
              <a:p>
                <a:pPr algn="ctr">
                  <a:lnSpc>
                    <a:spcPts val="717"/>
                  </a:lnSpc>
                </a:pPr>
              </a:p>
            </p:txBody>
          </p:sp>
        </p:grpSp>
      </p:grpSp>
      <p:sp>
        <p:nvSpPr>
          <p:cNvPr name="TextBox 30" id="30"/>
          <p:cNvSpPr txBox="true"/>
          <p:nvPr/>
        </p:nvSpPr>
        <p:spPr>
          <a:xfrm rot="0">
            <a:off x="2980706" y="5396949"/>
            <a:ext cx="2847507" cy="284366"/>
          </a:xfrm>
          <a:prstGeom prst="rect">
            <a:avLst/>
          </a:prstGeom>
        </p:spPr>
        <p:txBody>
          <a:bodyPr anchor="t" rtlCol="false" tIns="0" lIns="0" bIns="0" rIns="0">
            <a:spAutoFit/>
          </a:bodyPr>
          <a:lstStyle/>
          <a:p>
            <a:pPr algn="ctr">
              <a:lnSpc>
                <a:spcPts val="2175"/>
              </a:lnSpc>
            </a:pPr>
            <a:r>
              <a:rPr lang="en-US" sz="1813" spc="362">
                <a:solidFill>
                  <a:srgbClr val="FFFFFF"/>
                </a:solidFill>
                <a:latin typeface="Lato"/>
                <a:ea typeface="Lato"/>
                <a:cs typeface="Lato"/>
                <a:sym typeface="Lato"/>
              </a:rPr>
              <a:t>Find and Be Found</a:t>
            </a:r>
          </a:p>
        </p:txBody>
      </p:sp>
      <p:grpSp>
        <p:nvGrpSpPr>
          <p:cNvPr name="Group 31" id="31"/>
          <p:cNvGrpSpPr/>
          <p:nvPr/>
        </p:nvGrpSpPr>
        <p:grpSpPr>
          <a:xfrm rot="0">
            <a:off x="10730592" y="3831410"/>
            <a:ext cx="5449133" cy="1312090"/>
            <a:chOff x="0" y="0"/>
            <a:chExt cx="7265510" cy="1749454"/>
          </a:xfrm>
        </p:grpSpPr>
        <p:sp>
          <p:nvSpPr>
            <p:cNvPr name="Freeform 32" id="32"/>
            <p:cNvSpPr/>
            <p:nvPr/>
          </p:nvSpPr>
          <p:spPr>
            <a:xfrm flipH="false" flipV="false" rot="0">
              <a:off x="113235" y="256631"/>
              <a:ext cx="1117038" cy="1117038"/>
            </a:xfrm>
            <a:custGeom>
              <a:avLst/>
              <a:gdLst/>
              <a:ahLst/>
              <a:cxnLst/>
              <a:rect r="r" b="b" t="t" l="l"/>
              <a:pathLst>
                <a:path h="1117038" w="1117038">
                  <a:moveTo>
                    <a:pt x="0" y="0"/>
                  </a:moveTo>
                  <a:lnTo>
                    <a:pt x="1117038" y="0"/>
                  </a:lnTo>
                  <a:lnTo>
                    <a:pt x="1117038" y="1117038"/>
                  </a:lnTo>
                  <a:lnTo>
                    <a:pt x="0" y="11170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3" id="33"/>
            <p:cNvSpPr/>
            <p:nvPr/>
          </p:nvSpPr>
          <p:spPr>
            <a:xfrm flipH="false" flipV="false" rot="0">
              <a:off x="176134" y="319530"/>
              <a:ext cx="991240" cy="991240"/>
            </a:xfrm>
            <a:custGeom>
              <a:avLst/>
              <a:gdLst/>
              <a:ahLst/>
              <a:cxnLst/>
              <a:rect r="r" b="b" t="t" l="l"/>
              <a:pathLst>
                <a:path h="991240" w="991240">
                  <a:moveTo>
                    <a:pt x="0" y="0"/>
                  </a:moveTo>
                  <a:lnTo>
                    <a:pt x="991240" y="0"/>
                  </a:lnTo>
                  <a:lnTo>
                    <a:pt x="991240" y="991240"/>
                  </a:lnTo>
                  <a:lnTo>
                    <a:pt x="0" y="9912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4" id="34"/>
            <p:cNvSpPr/>
            <p:nvPr/>
          </p:nvSpPr>
          <p:spPr>
            <a:xfrm flipH="false" flipV="false" rot="0">
              <a:off x="0" y="143397"/>
              <a:ext cx="1343508" cy="1343508"/>
            </a:xfrm>
            <a:custGeom>
              <a:avLst/>
              <a:gdLst/>
              <a:ahLst/>
              <a:cxnLst/>
              <a:rect r="r" b="b" t="t" l="l"/>
              <a:pathLst>
                <a:path h="1343508" w="1343508">
                  <a:moveTo>
                    <a:pt x="0" y="0"/>
                  </a:moveTo>
                  <a:lnTo>
                    <a:pt x="1343508" y="0"/>
                  </a:lnTo>
                  <a:lnTo>
                    <a:pt x="1343508" y="1343507"/>
                  </a:lnTo>
                  <a:lnTo>
                    <a:pt x="0" y="13435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5" id="35"/>
            <p:cNvSpPr/>
            <p:nvPr/>
          </p:nvSpPr>
          <p:spPr>
            <a:xfrm flipH="false" flipV="false" rot="0">
              <a:off x="13034" y="156430"/>
              <a:ext cx="1317440" cy="1317440"/>
            </a:xfrm>
            <a:custGeom>
              <a:avLst/>
              <a:gdLst/>
              <a:ahLst/>
              <a:cxnLst/>
              <a:rect r="r" b="b" t="t" l="l"/>
              <a:pathLst>
                <a:path h="1317440" w="1317440">
                  <a:moveTo>
                    <a:pt x="0" y="0"/>
                  </a:moveTo>
                  <a:lnTo>
                    <a:pt x="1317440" y="0"/>
                  </a:lnTo>
                  <a:lnTo>
                    <a:pt x="1317440" y="1317441"/>
                  </a:lnTo>
                  <a:lnTo>
                    <a:pt x="0" y="13174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6" id="36"/>
            <p:cNvGrpSpPr/>
            <p:nvPr/>
          </p:nvGrpSpPr>
          <p:grpSpPr>
            <a:xfrm rot="-3023822">
              <a:off x="1145646" y="964123"/>
              <a:ext cx="256730" cy="663259"/>
              <a:chOff x="0" y="0"/>
              <a:chExt cx="237482" cy="613533"/>
            </a:xfrm>
          </p:grpSpPr>
          <p:sp>
            <p:nvSpPr>
              <p:cNvPr name="Freeform 37" id="37"/>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38" id="38"/>
              <p:cNvSpPr txBox="true"/>
              <p:nvPr/>
            </p:nvSpPr>
            <p:spPr>
              <a:xfrm>
                <a:off x="0" y="-19050"/>
                <a:ext cx="237482" cy="632583"/>
              </a:xfrm>
              <a:prstGeom prst="rect">
                <a:avLst/>
              </a:prstGeom>
            </p:spPr>
            <p:txBody>
              <a:bodyPr anchor="ctr" rtlCol="false" tIns="20178" lIns="20178" bIns="20178" rIns="20178"/>
              <a:lstStyle/>
              <a:p>
                <a:pPr algn="ctr">
                  <a:lnSpc>
                    <a:spcPts val="717"/>
                  </a:lnSpc>
                </a:pPr>
              </a:p>
            </p:txBody>
          </p:sp>
        </p:grpSp>
        <p:sp>
          <p:nvSpPr>
            <p:cNvPr name="Freeform 39" id="39"/>
            <p:cNvSpPr/>
            <p:nvPr/>
          </p:nvSpPr>
          <p:spPr>
            <a:xfrm flipH="false" flipV="false" rot="0">
              <a:off x="457592" y="600989"/>
              <a:ext cx="428323" cy="428323"/>
            </a:xfrm>
            <a:custGeom>
              <a:avLst/>
              <a:gdLst/>
              <a:ahLst/>
              <a:cxnLst/>
              <a:rect r="r" b="b" t="t" l="l"/>
              <a:pathLst>
                <a:path h="428323" w="428323">
                  <a:moveTo>
                    <a:pt x="0" y="0"/>
                  </a:moveTo>
                  <a:lnTo>
                    <a:pt x="428323" y="0"/>
                  </a:lnTo>
                  <a:lnTo>
                    <a:pt x="428323" y="428323"/>
                  </a:lnTo>
                  <a:lnTo>
                    <a:pt x="0" y="428323"/>
                  </a:lnTo>
                  <a:lnTo>
                    <a:pt x="0" y="0"/>
                  </a:lnTo>
                  <a:close/>
                </a:path>
              </a:pathLst>
            </a:custGeom>
            <a:blipFill>
              <a:blip r:embed="rId5"/>
              <a:stretch>
                <a:fillRect l="0" t="0" r="0" b="0"/>
              </a:stretch>
            </a:blipFill>
            <a:ln cap="sq">
              <a:noFill/>
              <a:prstDash val="solid"/>
              <a:miter/>
            </a:ln>
          </p:spPr>
        </p:sp>
        <p:sp>
          <p:nvSpPr>
            <p:cNvPr name="AutoShape 40" id="40"/>
            <p:cNvSpPr/>
            <p:nvPr/>
          </p:nvSpPr>
          <p:spPr>
            <a:xfrm>
              <a:off x="1835087" y="143397"/>
              <a:ext cx="0" cy="1462661"/>
            </a:xfrm>
            <a:prstGeom prst="line">
              <a:avLst/>
            </a:prstGeom>
            <a:ln cap="flat" w="50800">
              <a:solidFill>
                <a:srgbClr val="FFFFFF"/>
              </a:solidFill>
              <a:prstDash val="solid"/>
              <a:headEnd type="none" len="sm" w="sm"/>
              <a:tailEnd type="none" len="sm" w="sm"/>
            </a:ln>
          </p:spPr>
        </p:sp>
        <p:sp>
          <p:nvSpPr>
            <p:cNvPr name="TextBox 41" id="41"/>
            <p:cNvSpPr txBox="true"/>
            <p:nvPr/>
          </p:nvSpPr>
          <p:spPr>
            <a:xfrm rot="0">
              <a:off x="2121201" y="0"/>
              <a:ext cx="5144310" cy="1749454"/>
            </a:xfrm>
            <a:prstGeom prst="rect">
              <a:avLst/>
            </a:prstGeom>
          </p:spPr>
          <p:txBody>
            <a:bodyPr anchor="t" rtlCol="false" tIns="0" lIns="0" bIns="0" rIns="0">
              <a:spAutoFit/>
            </a:bodyPr>
            <a:lstStyle/>
            <a:p>
              <a:pPr algn="l">
                <a:lnSpc>
                  <a:spcPts val="5197"/>
                </a:lnSpc>
              </a:pPr>
              <a:r>
                <a:rPr lang="en-US" b="true" sz="4331" spc="866">
                  <a:solidFill>
                    <a:srgbClr val="FFFFFF"/>
                  </a:solidFill>
                  <a:latin typeface="Glacial Indifference Bold"/>
                  <a:ea typeface="Glacial Indifference Bold"/>
                  <a:cs typeface="Glacial Indifference Bold"/>
                  <a:sym typeface="Glacial Indifference Bold"/>
                </a:rPr>
                <a:t>THE </a:t>
              </a:r>
            </a:p>
            <a:p>
              <a:pPr algn="l">
                <a:lnSpc>
                  <a:spcPts val="5197"/>
                </a:lnSpc>
              </a:pPr>
              <a:r>
                <a:rPr lang="en-US" b="true" sz="4331" spc="866">
                  <a:solidFill>
                    <a:srgbClr val="FFFFFF"/>
                  </a:solidFill>
                  <a:latin typeface="Glacial Indifference Bold"/>
                  <a:ea typeface="Glacial Indifference Bold"/>
                  <a:cs typeface="Glacial Indifference Bold"/>
                  <a:sym typeface="Glacial Indifference Bold"/>
                </a:rPr>
                <a:t>BLAC  LIST</a:t>
              </a:r>
            </a:p>
          </p:txBody>
        </p:sp>
        <p:sp>
          <p:nvSpPr>
            <p:cNvPr name="Freeform 42" id="42"/>
            <p:cNvSpPr/>
            <p:nvPr/>
          </p:nvSpPr>
          <p:spPr>
            <a:xfrm flipH="false" flipV="false" rot="0">
              <a:off x="4536590" y="1087762"/>
              <a:ext cx="430958" cy="430958"/>
            </a:xfrm>
            <a:custGeom>
              <a:avLst/>
              <a:gdLst/>
              <a:ahLst/>
              <a:cxnLst/>
              <a:rect r="r" b="b" t="t" l="l"/>
              <a:pathLst>
                <a:path h="430958" w="430958">
                  <a:moveTo>
                    <a:pt x="0" y="0"/>
                  </a:moveTo>
                  <a:lnTo>
                    <a:pt x="430958" y="0"/>
                  </a:lnTo>
                  <a:lnTo>
                    <a:pt x="430958" y="430958"/>
                  </a:lnTo>
                  <a:lnTo>
                    <a:pt x="0" y="4309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3" id="43"/>
            <p:cNvSpPr/>
            <p:nvPr/>
          </p:nvSpPr>
          <p:spPr>
            <a:xfrm flipH="false" flipV="false" rot="0">
              <a:off x="4497932" y="1049104"/>
              <a:ext cx="508274" cy="508274"/>
            </a:xfrm>
            <a:custGeom>
              <a:avLst/>
              <a:gdLst/>
              <a:ahLst/>
              <a:cxnLst/>
              <a:rect r="r" b="b" t="t" l="l"/>
              <a:pathLst>
                <a:path h="508274" w="508274">
                  <a:moveTo>
                    <a:pt x="0" y="0"/>
                  </a:moveTo>
                  <a:lnTo>
                    <a:pt x="508274" y="0"/>
                  </a:lnTo>
                  <a:lnTo>
                    <a:pt x="508274" y="508274"/>
                  </a:lnTo>
                  <a:lnTo>
                    <a:pt x="0" y="5082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4" id="44"/>
            <p:cNvSpPr/>
            <p:nvPr/>
          </p:nvSpPr>
          <p:spPr>
            <a:xfrm flipH="false" flipV="false" rot="0">
              <a:off x="4560857" y="1112029"/>
              <a:ext cx="382425" cy="382425"/>
            </a:xfrm>
            <a:custGeom>
              <a:avLst/>
              <a:gdLst/>
              <a:ahLst/>
              <a:cxnLst/>
              <a:rect r="r" b="b" t="t" l="l"/>
              <a:pathLst>
                <a:path h="382425" w="382425">
                  <a:moveTo>
                    <a:pt x="0" y="0"/>
                  </a:moveTo>
                  <a:lnTo>
                    <a:pt x="382424" y="0"/>
                  </a:lnTo>
                  <a:lnTo>
                    <a:pt x="382424" y="382425"/>
                  </a:lnTo>
                  <a:lnTo>
                    <a:pt x="0" y="3824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5" id="45"/>
            <p:cNvSpPr/>
            <p:nvPr/>
          </p:nvSpPr>
          <p:spPr>
            <a:xfrm flipH="false" flipV="false" rot="0">
              <a:off x="4492903" y="1044075"/>
              <a:ext cx="518331" cy="518331"/>
            </a:xfrm>
            <a:custGeom>
              <a:avLst/>
              <a:gdLst/>
              <a:ahLst/>
              <a:cxnLst/>
              <a:rect r="r" b="b" t="t" l="l"/>
              <a:pathLst>
                <a:path h="518331" w="518331">
                  <a:moveTo>
                    <a:pt x="0" y="0"/>
                  </a:moveTo>
                  <a:lnTo>
                    <a:pt x="518332" y="0"/>
                  </a:lnTo>
                  <a:lnTo>
                    <a:pt x="518332" y="518332"/>
                  </a:lnTo>
                  <a:lnTo>
                    <a:pt x="0" y="5183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6" id="46"/>
            <p:cNvSpPr/>
            <p:nvPr/>
          </p:nvSpPr>
          <p:spPr>
            <a:xfrm flipH="false" flipV="false" rot="0">
              <a:off x="4669543" y="1220715"/>
              <a:ext cx="165052" cy="165052"/>
            </a:xfrm>
            <a:custGeom>
              <a:avLst/>
              <a:gdLst/>
              <a:ahLst/>
              <a:cxnLst/>
              <a:rect r="r" b="b" t="t" l="l"/>
              <a:pathLst>
                <a:path h="165052" w="165052">
                  <a:moveTo>
                    <a:pt x="0" y="0"/>
                  </a:moveTo>
                  <a:lnTo>
                    <a:pt x="165052" y="0"/>
                  </a:lnTo>
                  <a:lnTo>
                    <a:pt x="165052" y="165052"/>
                  </a:lnTo>
                  <a:lnTo>
                    <a:pt x="0" y="165052"/>
                  </a:lnTo>
                  <a:lnTo>
                    <a:pt x="0" y="0"/>
                  </a:lnTo>
                  <a:close/>
                </a:path>
              </a:pathLst>
            </a:custGeom>
            <a:blipFill>
              <a:blip r:embed="rId5"/>
              <a:stretch>
                <a:fillRect l="0" t="0" r="0" b="0"/>
              </a:stretch>
            </a:blipFill>
            <a:ln cap="sq">
              <a:noFill/>
              <a:prstDash val="solid"/>
              <a:miter/>
            </a:ln>
          </p:spPr>
        </p:sp>
        <p:grpSp>
          <p:nvGrpSpPr>
            <p:cNvPr name="Group 47" id="47"/>
            <p:cNvGrpSpPr/>
            <p:nvPr/>
          </p:nvGrpSpPr>
          <p:grpSpPr>
            <a:xfrm rot="-3023822">
              <a:off x="4934899" y="1360716"/>
              <a:ext cx="99048" cy="255888"/>
              <a:chOff x="0" y="0"/>
              <a:chExt cx="237482" cy="613533"/>
            </a:xfrm>
          </p:grpSpPr>
          <p:sp>
            <p:nvSpPr>
              <p:cNvPr name="Freeform 48" id="48"/>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49" id="49"/>
              <p:cNvSpPr txBox="true"/>
              <p:nvPr/>
            </p:nvSpPr>
            <p:spPr>
              <a:xfrm>
                <a:off x="0" y="-19050"/>
                <a:ext cx="237482" cy="632583"/>
              </a:xfrm>
              <a:prstGeom prst="rect">
                <a:avLst/>
              </a:prstGeom>
            </p:spPr>
            <p:txBody>
              <a:bodyPr anchor="ctr" rtlCol="false" tIns="7785" lIns="7785" bIns="7785" rIns="7785"/>
              <a:lstStyle/>
              <a:p>
                <a:pPr algn="ctr">
                  <a:lnSpc>
                    <a:spcPts val="717"/>
                  </a:lnSpc>
                </a:pPr>
              </a:p>
            </p:txBody>
          </p:sp>
        </p:grpSp>
      </p:grpSp>
      <p:grpSp>
        <p:nvGrpSpPr>
          <p:cNvPr name="Group 50" id="50"/>
          <p:cNvGrpSpPr/>
          <p:nvPr/>
        </p:nvGrpSpPr>
        <p:grpSpPr>
          <a:xfrm rot="0">
            <a:off x="11687383" y="6346356"/>
            <a:ext cx="2705467" cy="2705467"/>
            <a:chOff x="0" y="0"/>
            <a:chExt cx="3607289" cy="3607289"/>
          </a:xfrm>
        </p:grpSpPr>
        <p:grpSp>
          <p:nvGrpSpPr>
            <p:cNvPr name="Group 51" id="51"/>
            <p:cNvGrpSpPr/>
            <p:nvPr/>
          </p:nvGrpSpPr>
          <p:grpSpPr>
            <a:xfrm rot="0">
              <a:off x="0" y="0"/>
              <a:ext cx="3607289" cy="3607289"/>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53" id="53"/>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54" id="54"/>
            <p:cNvSpPr/>
            <p:nvPr/>
          </p:nvSpPr>
          <p:spPr>
            <a:xfrm flipH="false" flipV="false" rot="0">
              <a:off x="901931" y="901931"/>
              <a:ext cx="1803427" cy="1803427"/>
            </a:xfrm>
            <a:custGeom>
              <a:avLst/>
              <a:gdLst/>
              <a:ahLst/>
              <a:cxnLst/>
              <a:rect r="r" b="b" t="t" l="l"/>
              <a:pathLst>
                <a:path h="1803427" w="1803427">
                  <a:moveTo>
                    <a:pt x="0" y="0"/>
                  </a:moveTo>
                  <a:lnTo>
                    <a:pt x="1803427" y="0"/>
                  </a:lnTo>
                  <a:lnTo>
                    <a:pt x="1803427" y="1803427"/>
                  </a:lnTo>
                  <a:lnTo>
                    <a:pt x="0" y="1803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5" id="55"/>
            <p:cNvSpPr/>
            <p:nvPr/>
          </p:nvSpPr>
          <p:spPr>
            <a:xfrm flipH="false" flipV="false" rot="0">
              <a:off x="1003480" y="1003480"/>
              <a:ext cx="1600330" cy="1600330"/>
            </a:xfrm>
            <a:custGeom>
              <a:avLst/>
              <a:gdLst/>
              <a:ahLst/>
              <a:cxnLst/>
              <a:rect r="r" b="b" t="t" l="l"/>
              <a:pathLst>
                <a:path h="1600330" w="1600330">
                  <a:moveTo>
                    <a:pt x="0" y="0"/>
                  </a:moveTo>
                  <a:lnTo>
                    <a:pt x="1600330" y="0"/>
                  </a:lnTo>
                  <a:lnTo>
                    <a:pt x="1600330" y="1600330"/>
                  </a:lnTo>
                  <a:lnTo>
                    <a:pt x="0" y="16003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6" id="56"/>
            <p:cNvSpPr/>
            <p:nvPr/>
          </p:nvSpPr>
          <p:spPr>
            <a:xfrm flipH="false" flipV="false" rot="0">
              <a:off x="719116" y="719116"/>
              <a:ext cx="2169057" cy="2169057"/>
            </a:xfrm>
            <a:custGeom>
              <a:avLst/>
              <a:gdLst/>
              <a:ahLst/>
              <a:cxnLst/>
              <a:rect r="r" b="b" t="t" l="l"/>
              <a:pathLst>
                <a:path h="2169057" w="2169057">
                  <a:moveTo>
                    <a:pt x="0" y="0"/>
                  </a:moveTo>
                  <a:lnTo>
                    <a:pt x="2169057" y="0"/>
                  </a:lnTo>
                  <a:lnTo>
                    <a:pt x="2169057" y="2169057"/>
                  </a:lnTo>
                  <a:lnTo>
                    <a:pt x="0" y="21690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7" id="57"/>
            <p:cNvSpPr/>
            <p:nvPr/>
          </p:nvSpPr>
          <p:spPr>
            <a:xfrm flipH="false" flipV="false" rot="0">
              <a:off x="740159" y="740159"/>
              <a:ext cx="2126972" cy="2126972"/>
            </a:xfrm>
            <a:custGeom>
              <a:avLst/>
              <a:gdLst/>
              <a:ahLst/>
              <a:cxnLst/>
              <a:rect r="r" b="b" t="t" l="l"/>
              <a:pathLst>
                <a:path h="2126972" w="2126972">
                  <a:moveTo>
                    <a:pt x="0" y="0"/>
                  </a:moveTo>
                  <a:lnTo>
                    <a:pt x="2126972" y="0"/>
                  </a:lnTo>
                  <a:lnTo>
                    <a:pt x="2126972" y="2126972"/>
                  </a:lnTo>
                  <a:lnTo>
                    <a:pt x="0" y="21269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8" id="58"/>
            <p:cNvGrpSpPr/>
            <p:nvPr/>
          </p:nvGrpSpPr>
          <p:grpSpPr>
            <a:xfrm rot="-3023822">
              <a:off x="2568731" y="2044157"/>
              <a:ext cx="414484" cy="1070814"/>
              <a:chOff x="0" y="0"/>
              <a:chExt cx="237482" cy="613533"/>
            </a:xfrm>
          </p:grpSpPr>
          <p:sp>
            <p:nvSpPr>
              <p:cNvPr name="Freeform 59" id="59"/>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60" id="60"/>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61" id="61"/>
            <p:cNvSpPr/>
            <p:nvPr/>
          </p:nvSpPr>
          <p:spPr>
            <a:xfrm flipH="false" flipV="false" rot="0">
              <a:off x="1457887" y="1457887"/>
              <a:ext cx="691516" cy="691516"/>
            </a:xfrm>
            <a:custGeom>
              <a:avLst/>
              <a:gdLst/>
              <a:ahLst/>
              <a:cxnLst/>
              <a:rect r="r" b="b" t="t" l="l"/>
              <a:pathLst>
                <a:path h="691516" w="691516">
                  <a:moveTo>
                    <a:pt x="0" y="0"/>
                  </a:moveTo>
                  <a:lnTo>
                    <a:pt x="691516" y="0"/>
                  </a:lnTo>
                  <a:lnTo>
                    <a:pt x="691516" y="691516"/>
                  </a:lnTo>
                  <a:lnTo>
                    <a:pt x="0" y="691516"/>
                  </a:lnTo>
                  <a:lnTo>
                    <a:pt x="0" y="0"/>
                  </a:lnTo>
                  <a:close/>
                </a:path>
              </a:pathLst>
            </a:custGeom>
            <a:blipFill>
              <a:blip r:embed="rId5"/>
              <a:stretch>
                <a:fillRect l="0" t="0" r="0" b="0"/>
              </a:stretch>
            </a:blipFill>
            <a:ln cap="sq">
              <a:noFill/>
              <a:prstDash val="solid"/>
              <a:miter/>
            </a:ln>
          </p:spPr>
        </p:sp>
      </p:grpSp>
      <p:grpSp>
        <p:nvGrpSpPr>
          <p:cNvPr name="Group 62" id="62"/>
          <p:cNvGrpSpPr/>
          <p:nvPr/>
        </p:nvGrpSpPr>
        <p:grpSpPr>
          <a:xfrm rot="0">
            <a:off x="297699" y="7370320"/>
            <a:ext cx="8846301" cy="869417"/>
            <a:chOff x="0" y="0"/>
            <a:chExt cx="11795068" cy="1159222"/>
          </a:xfrm>
        </p:grpSpPr>
        <p:sp>
          <p:nvSpPr>
            <p:cNvPr name="TextBox 63" id="63"/>
            <p:cNvSpPr txBox="true"/>
            <p:nvPr/>
          </p:nvSpPr>
          <p:spPr>
            <a:xfrm rot="0">
              <a:off x="0" y="0"/>
              <a:ext cx="11795068" cy="1159222"/>
            </a:xfrm>
            <a:prstGeom prst="rect">
              <a:avLst/>
            </a:prstGeom>
          </p:spPr>
          <p:txBody>
            <a:bodyPr anchor="t" rtlCol="false" tIns="0" lIns="0" bIns="0" rIns="0">
              <a:spAutoFit/>
            </a:bodyPr>
            <a:lstStyle/>
            <a:p>
              <a:pPr algn="ctr">
                <a:lnSpc>
                  <a:spcPts val="6856"/>
                </a:lnSpc>
              </a:pPr>
              <a:r>
                <a:rPr lang="en-US" b="true" sz="5713" spc="1142">
                  <a:solidFill>
                    <a:srgbClr val="FFFFFF"/>
                  </a:solidFill>
                  <a:latin typeface="Glacial Indifference Bold"/>
                  <a:ea typeface="Glacial Indifference Bold"/>
                  <a:cs typeface="Glacial Indifference Bold"/>
                  <a:sym typeface="Glacial Indifference Bold"/>
                </a:rPr>
                <a:t>THE BLAC  LIST</a:t>
              </a:r>
            </a:p>
          </p:txBody>
        </p:sp>
        <p:sp>
          <p:nvSpPr>
            <p:cNvPr name="Freeform 64" id="64"/>
            <p:cNvSpPr/>
            <p:nvPr/>
          </p:nvSpPr>
          <p:spPr>
            <a:xfrm flipH="false" flipV="false" rot="0">
              <a:off x="7189214" y="293082"/>
              <a:ext cx="568499" cy="568499"/>
            </a:xfrm>
            <a:custGeom>
              <a:avLst/>
              <a:gdLst/>
              <a:ahLst/>
              <a:cxnLst/>
              <a:rect r="r" b="b" t="t" l="l"/>
              <a:pathLst>
                <a:path h="568499" w="568499">
                  <a:moveTo>
                    <a:pt x="0" y="0"/>
                  </a:moveTo>
                  <a:lnTo>
                    <a:pt x="568500" y="0"/>
                  </a:lnTo>
                  <a:lnTo>
                    <a:pt x="568500" y="568499"/>
                  </a:lnTo>
                  <a:lnTo>
                    <a:pt x="0" y="5684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5" id="65"/>
            <p:cNvSpPr/>
            <p:nvPr/>
          </p:nvSpPr>
          <p:spPr>
            <a:xfrm flipH="false" flipV="false" rot="0">
              <a:off x="7138218" y="242086"/>
              <a:ext cx="670491" cy="670491"/>
            </a:xfrm>
            <a:custGeom>
              <a:avLst/>
              <a:gdLst/>
              <a:ahLst/>
              <a:cxnLst/>
              <a:rect r="r" b="b" t="t" l="l"/>
              <a:pathLst>
                <a:path h="670491" w="670491">
                  <a:moveTo>
                    <a:pt x="0" y="0"/>
                  </a:moveTo>
                  <a:lnTo>
                    <a:pt x="670492" y="0"/>
                  </a:lnTo>
                  <a:lnTo>
                    <a:pt x="670492" y="670491"/>
                  </a:lnTo>
                  <a:lnTo>
                    <a:pt x="0" y="6704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6" id="66"/>
            <p:cNvSpPr/>
            <p:nvPr/>
          </p:nvSpPr>
          <p:spPr>
            <a:xfrm flipH="false" flipV="false" rot="0">
              <a:off x="7221226" y="325093"/>
              <a:ext cx="504476" cy="504476"/>
            </a:xfrm>
            <a:custGeom>
              <a:avLst/>
              <a:gdLst/>
              <a:ahLst/>
              <a:cxnLst/>
              <a:rect r="r" b="b" t="t" l="l"/>
              <a:pathLst>
                <a:path h="504476" w="504476">
                  <a:moveTo>
                    <a:pt x="0" y="0"/>
                  </a:moveTo>
                  <a:lnTo>
                    <a:pt x="504476" y="0"/>
                  </a:lnTo>
                  <a:lnTo>
                    <a:pt x="504476" y="504477"/>
                  </a:lnTo>
                  <a:lnTo>
                    <a:pt x="0" y="5044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7" id="67"/>
            <p:cNvSpPr/>
            <p:nvPr/>
          </p:nvSpPr>
          <p:spPr>
            <a:xfrm flipH="false" flipV="false" rot="0">
              <a:off x="7131585" y="235453"/>
              <a:ext cx="683758" cy="683758"/>
            </a:xfrm>
            <a:custGeom>
              <a:avLst/>
              <a:gdLst/>
              <a:ahLst/>
              <a:cxnLst/>
              <a:rect r="r" b="b" t="t" l="l"/>
              <a:pathLst>
                <a:path h="683758" w="683758">
                  <a:moveTo>
                    <a:pt x="0" y="0"/>
                  </a:moveTo>
                  <a:lnTo>
                    <a:pt x="683758" y="0"/>
                  </a:lnTo>
                  <a:lnTo>
                    <a:pt x="683758" y="683758"/>
                  </a:lnTo>
                  <a:lnTo>
                    <a:pt x="0" y="6837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8" id="68"/>
            <p:cNvSpPr/>
            <p:nvPr/>
          </p:nvSpPr>
          <p:spPr>
            <a:xfrm flipH="false" flipV="false" rot="0">
              <a:off x="7364600" y="468468"/>
              <a:ext cx="217728" cy="217728"/>
            </a:xfrm>
            <a:custGeom>
              <a:avLst/>
              <a:gdLst/>
              <a:ahLst/>
              <a:cxnLst/>
              <a:rect r="r" b="b" t="t" l="l"/>
              <a:pathLst>
                <a:path h="217728" w="217728">
                  <a:moveTo>
                    <a:pt x="0" y="0"/>
                  </a:moveTo>
                  <a:lnTo>
                    <a:pt x="217728" y="0"/>
                  </a:lnTo>
                  <a:lnTo>
                    <a:pt x="217728" y="217728"/>
                  </a:lnTo>
                  <a:lnTo>
                    <a:pt x="0" y="217728"/>
                  </a:lnTo>
                  <a:lnTo>
                    <a:pt x="0" y="0"/>
                  </a:lnTo>
                  <a:close/>
                </a:path>
              </a:pathLst>
            </a:custGeom>
            <a:blipFill>
              <a:blip r:embed="rId5"/>
              <a:stretch>
                <a:fillRect l="0" t="0" r="0" b="0"/>
              </a:stretch>
            </a:blipFill>
            <a:ln cap="sq">
              <a:noFill/>
              <a:prstDash val="solid"/>
              <a:miter/>
            </a:ln>
          </p:spPr>
        </p:sp>
        <p:grpSp>
          <p:nvGrpSpPr>
            <p:cNvPr name="Group 69" id="69"/>
            <p:cNvGrpSpPr/>
            <p:nvPr/>
          </p:nvGrpSpPr>
          <p:grpSpPr>
            <a:xfrm rot="-3023822">
              <a:off x="7714644" y="653149"/>
              <a:ext cx="130659" cy="337556"/>
              <a:chOff x="0" y="0"/>
              <a:chExt cx="237482" cy="613533"/>
            </a:xfrm>
          </p:grpSpPr>
          <p:sp>
            <p:nvSpPr>
              <p:cNvPr name="Freeform 70" id="70"/>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71" id="71"/>
              <p:cNvSpPr txBox="true"/>
              <p:nvPr/>
            </p:nvSpPr>
            <p:spPr>
              <a:xfrm>
                <a:off x="0" y="-19050"/>
                <a:ext cx="237482" cy="632583"/>
              </a:xfrm>
              <a:prstGeom prst="rect">
                <a:avLst/>
              </a:prstGeom>
            </p:spPr>
            <p:txBody>
              <a:bodyPr anchor="ctr" rtlCol="false" tIns="15538" lIns="15538" bIns="15538" rIns="15538"/>
              <a:lstStyle/>
              <a:p>
                <a:pPr algn="ctr">
                  <a:lnSpc>
                    <a:spcPts val="717"/>
                  </a:lnSpc>
                </a:pPr>
              </a:p>
            </p:txBody>
          </p:sp>
        </p:gr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2A428"/>
        </a:solidFill>
      </p:bgPr>
    </p:bg>
    <p:spTree>
      <p:nvGrpSpPr>
        <p:cNvPr id="1" name=""/>
        <p:cNvGrpSpPr/>
        <p:nvPr/>
      </p:nvGrpSpPr>
      <p:grpSpPr>
        <a:xfrm>
          <a:off x="0" y="0"/>
          <a:ext cx="0" cy="0"/>
          <a:chOff x="0" y="0"/>
          <a:chExt cx="0" cy="0"/>
        </a:xfrm>
      </p:grpSpPr>
      <p:sp>
        <p:nvSpPr>
          <p:cNvPr name="TextBox 2" id="2"/>
          <p:cNvSpPr txBox="true"/>
          <p:nvPr/>
        </p:nvSpPr>
        <p:spPr>
          <a:xfrm rot="0">
            <a:off x="1028700" y="1009650"/>
            <a:ext cx="7015659" cy="1221492"/>
          </a:xfrm>
          <a:prstGeom prst="rect">
            <a:avLst/>
          </a:prstGeom>
        </p:spPr>
        <p:txBody>
          <a:bodyPr anchor="t" rtlCol="false" tIns="0" lIns="0" bIns="0" rIns="0">
            <a:spAutoFit/>
          </a:bodyPr>
          <a:lstStyle/>
          <a:p>
            <a:pPr algn="l" marL="0" indent="0" lvl="0">
              <a:lnSpc>
                <a:spcPts val="4800"/>
              </a:lnSpc>
              <a:spcBef>
                <a:spcPct val="0"/>
              </a:spcBef>
            </a:pPr>
            <a:r>
              <a:rPr lang="en-US" b="true" sz="4000" spc="800" strike="noStrike" u="none">
                <a:solidFill>
                  <a:srgbClr val="000000"/>
                </a:solidFill>
                <a:latin typeface="Glacial Indifference Bold"/>
                <a:ea typeface="Glacial Indifference Bold"/>
                <a:cs typeface="Glacial Indifference Bold"/>
                <a:sym typeface="Glacial Indifference Bold"/>
              </a:rPr>
              <a:t>IMPROPER USAGE OF</a:t>
            </a:r>
          </a:p>
          <a:p>
            <a:pPr algn="l" marL="0" indent="0" lvl="0">
              <a:lnSpc>
                <a:spcPts val="4800"/>
              </a:lnSpc>
              <a:spcBef>
                <a:spcPct val="0"/>
              </a:spcBef>
            </a:pPr>
            <a:r>
              <a:rPr lang="en-US" b="true" sz="4000" spc="800" strike="noStrike" u="none">
                <a:solidFill>
                  <a:srgbClr val="000000"/>
                </a:solidFill>
                <a:latin typeface="Glacial Indifference Bold"/>
                <a:ea typeface="Glacial Indifference Bold"/>
                <a:cs typeface="Glacial Indifference Bold"/>
                <a:sym typeface="Glacial Indifference Bold"/>
              </a:rPr>
              <a:t>BRAND GRAPHICS</a:t>
            </a:r>
          </a:p>
        </p:txBody>
      </p:sp>
      <p:sp>
        <p:nvSpPr>
          <p:cNvPr name="TextBox 3" id="3"/>
          <p:cNvSpPr txBox="true"/>
          <p:nvPr/>
        </p:nvSpPr>
        <p:spPr>
          <a:xfrm rot="0">
            <a:off x="855437" y="8324850"/>
            <a:ext cx="9193353" cy="933450"/>
          </a:xfrm>
          <a:prstGeom prst="rect">
            <a:avLst/>
          </a:prstGeom>
        </p:spPr>
        <p:txBody>
          <a:bodyPr anchor="t" rtlCol="false" tIns="0" lIns="0" bIns="0" rIns="0">
            <a:spAutoFit/>
          </a:bodyPr>
          <a:lstStyle/>
          <a:p>
            <a:pPr algn="l" marL="0" indent="0" lvl="0">
              <a:lnSpc>
                <a:spcPts val="7200"/>
              </a:lnSpc>
              <a:spcBef>
                <a:spcPct val="0"/>
              </a:spcBef>
            </a:pPr>
            <a:r>
              <a:rPr lang="en-US" b="true" sz="6000" spc="1200" strike="noStrike" u="none">
                <a:solidFill>
                  <a:srgbClr val="000000">
                    <a:alpha val="34902"/>
                  </a:srgbClr>
                </a:solidFill>
                <a:latin typeface="Glacial Indifference Bold"/>
                <a:ea typeface="Glacial Indifference Bold"/>
                <a:cs typeface="Glacial Indifference Bold"/>
                <a:sym typeface="Glacial Indifference Bold"/>
              </a:rPr>
              <a:t>DESIGN RULES</a:t>
            </a:r>
          </a:p>
        </p:txBody>
      </p:sp>
      <p:sp>
        <p:nvSpPr>
          <p:cNvPr name="TextBox 4" id="4"/>
          <p:cNvSpPr txBox="true"/>
          <p:nvPr/>
        </p:nvSpPr>
        <p:spPr>
          <a:xfrm rot="0">
            <a:off x="1028700" y="2341171"/>
            <a:ext cx="3478669" cy="315460"/>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000000"/>
                </a:solidFill>
                <a:latin typeface="Lato"/>
                <a:ea typeface="Lato"/>
                <a:cs typeface="Lato"/>
                <a:sym typeface="Lato"/>
              </a:rPr>
              <a:t>WHAT NOT TO DO</a:t>
            </a:r>
          </a:p>
        </p:txBody>
      </p:sp>
      <p:sp>
        <p:nvSpPr>
          <p:cNvPr name="TextBox 5" id="5"/>
          <p:cNvSpPr txBox="true"/>
          <p:nvPr/>
        </p:nvSpPr>
        <p:spPr>
          <a:xfrm rot="0">
            <a:off x="1028700" y="2932520"/>
            <a:ext cx="7289139" cy="3533655"/>
          </a:xfrm>
          <a:prstGeom prst="rect">
            <a:avLst/>
          </a:prstGeom>
        </p:spPr>
        <p:txBody>
          <a:bodyPr anchor="t" rtlCol="false" tIns="0" lIns="0" bIns="0" rIns="0">
            <a:spAutoFit/>
          </a:bodyPr>
          <a:lstStyle/>
          <a:p>
            <a:pPr algn="just" marL="0" indent="0" lvl="0">
              <a:lnSpc>
                <a:spcPts val="3155"/>
              </a:lnSpc>
              <a:spcBef>
                <a:spcPct val="0"/>
              </a:spcBef>
            </a:pPr>
            <a:r>
              <a:rPr lang="en-US" sz="2103" strike="noStrike" u="none">
                <a:solidFill>
                  <a:srgbClr val="000000"/>
                </a:solidFill>
                <a:latin typeface="Quicksand"/>
                <a:ea typeface="Quicksand"/>
                <a:cs typeface="Quicksand"/>
                <a:sym typeface="Quicksand"/>
              </a:rPr>
              <a:t>The new brand graphics are very flexible, but there are still instances in which specific treatments are considered inappropriate and should be considered a violation of brand styling.</a:t>
            </a:r>
          </a:p>
          <a:p>
            <a:pPr algn="just" marL="0" indent="0" lvl="0">
              <a:lnSpc>
                <a:spcPts val="3155"/>
              </a:lnSpc>
              <a:spcBef>
                <a:spcPct val="0"/>
              </a:spcBef>
            </a:pPr>
          </a:p>
          <a:p>
            <a:pPr algn="just" marL="0" indent="0" lvl="0">
              <a:lnSpc>
                <a:spcPts val="3155"/>
              </a:lnSpc>
              <a:spcBef>
                <a:spcPct val="0"/>
              </a:spcBef>
            </a:pPr>
            <a:r>
              <a:rPr lang="en-US" sz="2103" strike="noStrike" u="none">
                <a:solidFill>
                  <a:srgbClr val="000000"/>
                </a:solidFill>
                <a:latin typeface="Quicksand"/>
                <a:ea typeface="Quicksand"/>
                <a:cs typeface="Quicksand"/>
                <a:sym typeface="Quicksand"/>
              </a:rPr>
              <a:t>These showcased examples will help you avoid misuse and keep your brand aesthetic consistent moving forward and apply to all graphic assets documented in this brand style guide.</a:t>
            </a:r>
          </a:p>
        </p:txBody>
      </p:sp>
      <p:sp>
        <p:nvSpPr>
          <p:cNvPr name="TextBox 6" id="6"/>
          <p:cNvSpPr txBox="true"/>
          <p:nvPr/>
        </p:nvSpPr>
        <p:spPr>
          <a:xfrm rot="0">
            <a:off x="12200991" y="7360460"/>
            <a:ext cx="3386108" cy="326826"/>
          </a:xfrm>
          <a:prstGeom prst="rect">
            <a:avLst/>
          </a:prstGeom>
        </p:spPr>
        <p:txBody>
          <a:bodyPr anchor="t" rtlCol="false" tIns="0" lIns="0" bIns="0" rIns="0">
            <a:spAutoFit/>
          </a:bodyPr>
          <a:lstStyle/>
          <a:p>
            <a:pPr algn="ctr">
              <a:lnSpc>
                <a:spcPts val="2587"/>
              </a:lnSpc>
            </a:pPr>
            <a:r>
              <a:rPr lang="en-US" sz="2156" spc="431">
                <a:solidFill>
                  <a:srgbClr val="000000"/>
                </a:solidFill>
                <a:latin typeface="Lato"/>
                <a:ea typeface="Lato"/>
                <a:cs typeface="Lato"/>
                <a:sym typeface="Lato"/>
              </a:rPr>
              <a:t>Find and Be Found</a:t>
            </a:r>
          </a:p>
        </p:txBody>
      </p:sp>
      <p:grpSp>
        <p:nvGrpSpPr>
          <p:cNvPr name="Group 7" id="7"/>
          <p:cNvGrpSpPr/>
          <p:nvPr/>
        </p:nvGrpSpPr>
        <p:grpSpPr>
          <a:xfrm rot="0">
            <a:off x="12007505" y="2599714"/>
            <a:ext cx="3773080" cy="3773080"/>
            <a:chOff x="0" y="0"/>
            <a:chExt cx="5030774" cy="5030774"/>
          </a:xfrm>
        </p:grpSpPr>
        <p:grpSp>
          <p:nvGrpSpPr>
            <p:cNvPr name="Group 8" id="8"/>
            <p:cNvGrpSpPr/>
            <p:nvPr/>
          </p:nvGrpSpPr>
          <p:grpSpPr>
            <a:xfrm rot="0">
              <a:off x="0" y="0"/>
              <a:ext cx="5030774" cy="503077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0" id="10"/>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11" id="11"/>
            <p:cNvSpPr/>
            <p:nvPr/>
          </p:nvSpPr>
          <p:spPr>
            <a:xfrm flipH="false" flipV="false" rot="0">
              <a:off x="1257845" y="1257845"/>
              <a:ext cx="2515084" cy="2515084"/>
            </a:xfrm>
            <a:custGeom>
              <a:avLst/>
              <a:gdLst/>
              <a:ahLst/>
              <a:cxnLst/>
              <a:rect r="r" b="b" t="t" l="l"/>
              <a:pathLst>
                <a:path h="2515084" w="2515084">
                  <a:moveTo>
                    <a:pt x="0" y="0"/>
                  </a:moveTo>
                  <a:lnTo>
                    <a:pt x="2515084" y="0"/>
                  </a:lnTo>
                  <a:lnTo>
                    <a:pt x="2515084" y="2515084"/>
                  </a:lnTo>
                  <a:lnTo>
                    <a:pt x="0" y="25150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399466" y="1399466"/>
              <a:ext cx="2231841" cy="2231841"/>
            </a:xfrm>
            <a:custGeom>
              <a:avLst/>
              <a:gdLst/>
              <a:ahLst/>
              <a:cxnLst/>
              <a:rect r="r" b="b" t="t" l="l"/>
              <a:pathLst>
                <a:path h="2231841" w="2231841">
                  <a:moveTo>
                    <a:pt x="0" y="0"/>
                  </a:moveTo>
                  <a:lnTo>
                    <a:pt x="2231842" y="0"/>
                  </a:lnTo>
                  <a:lnTo>
                    <a:pt x="2231842" y="2231842"/>
                  </a:lnTo>
                  <a:lnTo>
                    <a:pt x="0" y="22318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002889" y="1002889"/>
              <a:ext cx="3024995" cy="3024995"/>
            </a:xfrm>
            <a:custGeom>
              <a:avLst/>
              <a:gdLst/>
              <a:ahLst/>
              <a:cxnLst/>
              <a:rect r="r" b="b" t="t" l="l"/>
              <a:pathLst>
                <a:path h="3024995" w="3024995">
                  <a:moveTo>
                    <a:pt x="0" y="0"/>
                  </a:moveTo>
                  <a:lnTo>
                    <a:pt x="3024996" y="0"/>
                  </a:lnTo>
                  <a:lnTo>
                    <a:pt x="3024996" y="3024996"/>
                  </a:lnTo>
                  <a:lnTo>
                    <a:pt x="0" y="3024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032235" y="1032235"/>
              <a:ext cx="2966303" cy="2966303"/>
            </a:xfrm>
            <a:custGeom>
              <a:avLst/>
              <a:gdLst/>
              <a:ahLst/>
              <a:cxnLst/>
              <a:rect r="r" b="b" t="t" l="l"/>
              <a:pathLst>
                <a:path h="2966303" w="2966303">
                  <a:moveTo>
                    <a:pt x="0" y="0"/>
                  </a:moveTo>
                  <a:lnTo>
                    <a:pt x="2966303" y="0"/>
                  </a:lnTo>
                  <a:lnTo>
                    <a:pt x="2966303" y="2966303"/>
                  </a:lnTo>
                  <a:lnTo>
                    <a:pt x="0" y="29663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3023822">
              <a:off x="3582386" y="2850809"/>
              <a:ext cx="578045" cy="1493372"/>
              <a:chOff x="0" y="0"/>
              <a:chExt cx="237482" cy="613533"/>
            </a:xfrm>
          </p:grpSpPr>
          <p:sp>
            <p:nvSpPr>
              <p:cNvPr name="Freeform 16" id="16"/>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17" id="17"/>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18" id="18"/>
            <p:cNvSpPr/>
            <p:nvPr/>
          </p:nvSpPr>
          <p:spPr>
            <a:xfrm flipH="false" flipV="false" rot="0">
              <a:off x="2033188" y="2033188"/>
              <a:ext cx="964398" cy="964398"/>
            </a:xfrm>
            <a:custGeom>
              <a:avLst/>
              <a:gdLst/>
              <a:ahLst/>
              <a:cxnLst/>
              <a:rect r="r" b="b" t="t" l="l"/>
              <a:pathLst>
                <a:path h="964398" w="964398">
                  <a:moveTo>
                    <a:pt x="0" y="0"/>
                  </a:moveTo>
                  <a:lnTo>
                    <a:pt x="964398" y="0"/>
                  </a:lnTo>
                  <a:lnTo>
                    <a:pt x="964398" y="964398"/>
                  </a:lnTo>
                  <a:lnTo>
                    <a:pt x="0" y="964398"/>
                  </a:lnTo>
                  <a:lnTo>
                    <a:pt x="0" y="0"/>
                  </a:lnTo>
                  <a:close/>
                </a:path>
              </a:pathLst>
            </a:custGeom>
            <a:blipFill>
              <a:blip r:embed="rId4"/>
              <a:stretch>
                <a:fillRect l="0" t="0" r="0" b="0"/>
              </a:stretch>
            </a:blipFill>
          </p:spPr>
        </p:sp>
      </p:grpSp>
      <p:sp>
        <p:nvSpPr>
          <p:cNvPr name="TextBox 19" id="19"/>
          <p:cNvSpPr txBox="true"/>
          <p:nvPr/>
        </p:nvSpPr>
        <p:spPr>
          <a:xfrm rot="0">
            <a:off x="10878854" y="6588287"/>
            <a:ext cx="6030381" cy="621053"/>
          </a:xfrm>
          <a:prstGeom prst="rect">
            <a:avLst/>
          </a:prstGeom>
        </p:spPr>
        <p:txBody>
          <a:bodyPr anchor="t" rtlCol="false" tIns="0" lIns="0" bIns="0" rIns="0">
            <a:spAutoFit/>
          </a:bodyPr>
          <a:lstStyle/>
          <a:p>
            <a:pPr algn="ctr">
              <a:lnSpc>
                <a:spcPts val="4943"/>
              </a:lnSpc>
            </a:pPr>
            <a:r>
              <a:rPr lang="en-US" b="true" sz="4119" spc="823">
                <a:solidFill>
                  <a:srgbClr val="000000"/>
                </a:solidFill>
                <a:latin typeface="Glacial Indifference Bold"/>
                <a:ea typeface="Glacial Indifference Bold"/>
                <a:cs typeface="Glacial Indifference Bold"/>
                <a:sym typeface="Glacial Indifference Bold"/>
              </a:rPr>
              <a:t>The BLACQList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7757960" y="4243956"/>
            <a:ext cx="2913501" cy="1638844"/>
          </a:xfrm>
          <a:custGeom>
            <a:avLst/>
            <a:gdLst/>
            <a:ahLst/>
            <a:cxnLst/>
            <a:rect r="r" b="b" t="t" l="l"/>
            <a:pathLst>
              <a:path h="1638844" w="2913501">
                <a:moveTo>
                  <a:pt x="0" y="0"/>
                </a:moveTo>
                <a:lnTo>
                  <a:pt x="2913501" y="0"/>
                </a:lnTo>
                <a:lnTo>
                  <a:pt x="2913501" y="1638845"/>
                </a:lnTo>
                <a:lnTo>
                  <a:pt x="0" y="1638845"/>
                </a:lnTo>
                <a:lnTo>
                  <a:pt x="0" y="0"/>
                </a:lnTo>
                <a:close/>
              </a:path>
            </a:pathLst>
          </a:custGeom>
          <a:blipFill>
            <a:blip r:embed="rId2"/>
            <a:stretch>
              <a:fillRect l="0" t="-2655" r="0" b="-2655"/>
            </a:stretch>
          </a:blipFill>
        </p:spPr>
      </p:sp>
      <p:sp>
        <p:nvSpPr>
          <p:cNvPr name="Freeform 3" id="3"/>
          <p:cNvSpPr/>
          <p:nvPr/>
        </p:nvSpPr>
        <p:spPr>
          <a:xfrm flipH="false" flipV="false" rot="0">
            <a:off x="11656509" y="4180426"/>
            <a:ext cx="1833127" cy="1840849"/>
          </a:xfrm>
          <a:custGeom>
            <a:avLst/>
            <a:gdLst/>
            <a:ahLst/>
            <a:cxnLst/>
            <a:rect r="r" b="b" t="t" l="l"/>
            <a:pathLst>
              <a:path h="1840849" w="1833127">
                <a:moveTo>
                  <a:pt x="0" y="0"/>
                </a:moveTo>
                <a:lnTo>
                  <a:pt x="1833127" y="0"/>
                </a:lnTo>
                <a:lnTo>
                  <a:pt x="1833127" y="1840849"/>
                </a:lnTo>
                <a:lnTo>
                  <a:pt x="0" y="1840849"/>
                </a:lnTo>
                <a:lnTo>
                  <a:pt x="0" y="0"/>
                </a:lnTo>
                <a:close/>
              </a:path>
            </a:pathLst>
          </a:custGeom>
          <a:blipFill>
            <a:blip r:embed="rId3"/>
            <a:stretch>
              <a:fillRect l="0" t="-10" r="-432" b="0"/>
            </a:stretch>
          </a:blipFill>
        </p:spPr>
      </p:sp>
      <p:grpSp>
        <p:nvGrpSpPr>
          <p:cNvPr name="Group 4" id="4"/>
          <p:cNvGrpSpPr/>
          <p:nvPr/>
        </p:nvGrpSpPr>
        <p:grpSpPr>
          <a:xfrm rot="0">
            <a:off x="950031" y="4060653"/>
            <a:ext cx="3116776" cy="1760749"/>
            <a:chOff x="0" y="0"/>
            <a:chExt cx="820879" cy="463736"/>
          </a:xfrm>
        </p:grpSpPr>
        <p:sp>
          <p:nvSpPr>
            <p:cNvPr name="Freeform 5" id="5"/>
            <p:cNvSpPr/>
            <p:nvPr/>
          </p:nvSpPr>
          <p:spPr>
            <a:xfrm flipH="false" flipV="false" rot="0">
              <a:off x="0" y="0"/>
              <a:ext cx="820879" cy="463736"/>
            </a:xfrm>
            <a:custGeom>
              <a:avLst/>
              <a:gdLst/>
              <a:ahLst/>
              <a:cxnLst/>
              <a:rect r="r" b="b" t="t" l="l"/>
              <a:pathLst>
                <a:path h="463736" w="820879">
                  <a:moveTo>
                    <a:pt x="0" y="0"/>
                  </a:moveTo>
                  <a:lnTo>
                    <a:pt x="820879" y="0"/>
                  </a:lnTo>
                  <a:lnTo>
                    <a:pt x="820879" y="463736"/>
                  </a:lnTo>
                  <a:lnTo>
                    <a:pt x="0" y="463736"/>
                  </a:lnTo>
                  <a:close/>
                </a:path>
              </a:pathLst>
            </a:custGeom>
            <a:solidFill>
              <a:srgbClr val="000000"/>
            </a:solidFill>
          </p:spPr>
        </p:sp>
        <p:sp>
          <p:nvSpPr>
            <p:cNvPr name="TextBox 6" id="6"/>
            <p:cNvSpPr txBox="true"/>
            <p:nvPr/>
          </p:nvSpPr>
          <p:spPr>
            <a:xfrm>
              <a:off x="0" y="-19050"/>
              <a:ext cx="820879" cy="482786"/>
            </a:xfrm>
            <a:prstGeom prst="rect">
              <a:avLst/>
            </a:prstGeom>
          </p:spPr>
          <p:txBody>
            <a:bodyPr anchor="ctr" rtlCol="false" tIns="50800" lIns="50800" bIns="50800" rIns="50800"/>
            <a:lstStyle/>
            <a:p>
              <a:pPr algn="ctr">
                <a:lnSpc>
                  <a:spcPts val="1986"/>
                </a:lnSpc>
              </a:pPr>
            </a:p>
          </p:txBody>
        </p:sp>
      </p:grpSp>
      <p:sp>
        <p:nvSpPr>
          <p:cNvPr name="Freeform 7" id="7"/>
          <p:cNvSpPr/>
          <p:nvPr/>
        </p:nvSpPr>
        <p:spPr>
          <a:xfrm flipH="false" flipV="false" rot="0">
            <a:off x="1216754" y="4265596"/>
            <a:ext cx="2913501" cy="1638844"/>
          </a:xfrm>
          <a:custGeom>
            <a:avLst/>
            <a:gdLst/>
            <a:ahLst/>
            <a:cxnLst/>
            <a:rect r="r" b="b" t="t" l="l"/>
            <a:pathLst>
              <a:path h="1638844" w="2913501">
                <a:moveTo>
                  <a:pt x="0" y="0"/>
                </a:moveTo>
                <a:lnTo>
                  <a:pt x="2913501" y="0"/>
                </a:lnTo>
                <a:lnTo>
                  <a:pt x="2913501" y="1638845"/>
                </a:lnTo>
                <a:lnTo>
                  <a:pt x="0" y="1638845"/>
                </a:lnTo>
                <a:lnTo>
                  <a:pt x="0" y="0"/>
                </a:lnTo>
                <a:close/>
              </a:path>
            </a:pathLst>
          </a:custGeom>
          <a:blipFill>
            <a:blip r:embed="rId2"/>
            <a:stretch>
              <a:fillRect l="0" t="-2655" r="0" b="-2655"/>
            </a:stretch>
          </a:blipFill>
        </p:spPr>
      </p:sp>
      <p:grpSp>
        <p:nvGrpSpPr>
          <p:cNvPr name="Group 8" id="8"/>
          <p:cNvGrpSpPr/>
          <p:nvPr/>
        </p:nvGrpSpPr>
        <p:grpSpPr>
          <a:xfrm rot="0">
            <a:off x="855437" y="4060653"/>
            <a:ext cx="361317" cy="1899953"/>
            <a:chOff x="0" y="0"/>
            <a:chExt cx="95162" cy="500399"/>
          </a:xfrm>
        </p:grpSpPr>
        <p:sp>
          <p:nvSpPr>
            <p:cNvPr name="Freeform 9" id="9"/>
            <p:cNvSpPr/>
            <p:nvPr/>
          </p:nvSpPr>
          <p:spPr>
            <a:xfrm flipH="false" flipV="false" rot="0">
              <a:off x="0" y="0"/>
              <a:ext cx="95162" cy="500399"/>
            </a:xfrm>
            <a:custGeom>
              <a:avLst/>
              <a:gdLst/>
              <a:ahLst/>
              <a:cxnLst/>
              <a:rect r="r" b="b" t="t" l="l"/>
              <a:pathLst>
                <a:path h="500399" w="95162">
                  <a:moveTo>
                    <a:pt x="0" y="0"/>
                  </a:moveTo>
                  <a:lnTo>
                    <a:pt x="95162" y="0"/>
                  </a:lnTo>
                  <a:lnTo>
                    <a:pt x="95162" y="500399"/>
                  </a:lnTo>
                  <a:lnTo>
                    <a:pt x="0" y="500399"/>
                  </a:lnTo>
                  <a:close/>
                </a:path>
              </a:pathLst>
            </a:custGeom>
            <a:solidFill>
              <a:srgbClr val="000000"/>
            </a:solidFill>
            <a:ln w="9525" cap="sq">
              <a:solidFill>
                <a:srgbClr val="FFFFFF"/>
              </a:solidFill>
              <a:prstDash val="solid"/>
              <a:miter/>
            </a:ln>
          </p:spPr>
        </p:sp>
        <p:sp>
          <p:nvSpPr>
            <p:cNvPr name="TextBox 10" id="10"/>
            <p:cNvSpPr txBox="true"/>
            <p:nvPr/>
          </p:nvSpPr>
          <p:spPr>
            <a:xfrm>
              <a:off x="0" y="-19050"/>
              <a:ext cx="95162" cy="519449"/>
            </a:xfrm>
            <a:prstGeom prst="rect">
              <a:avLst/>
            </a:prstGeom>
          </p:spPr>
          <p:txBody>
            <a:bodyPr anchor="ctr" rtlCol="false" tIns="50800" lIns="50800" bIns="50800" rIns="50800"/>
            <a:lstStyle/>
            <a:p>
              <a:pPr algn="ctr">
                <a:lnSpc>
                  <a:spcPts val="1986"/>
                </a:lnSpc>
              </a:pPr>
            </a:p>
          </p:txBody>
        </p:sp>
      </p:grpSp>
      <p:grpSp>
        <p:nvGrpSpPr>
          <p:cNvPr name="Group 11" id="11"/>
          <p:cNvGrpSpPr/>
          <p:nvPr/>
        </p:nvGrpSpPr>
        <p:grpSpPr>
          <a:xfrm rot="0">
            <a:off x="3886148" y="4060653"/>
            <a:ext cx="361317" cy="1899953"/>
            <a:chOff x="0" y="0"/>
            <a:chExt cx="95162" cy="500399"/>
          </a:xfrm>
        </p:grpSpPr>
        <p:sp>
          <p:nvSpPr>
            <p:cNvPr name="Freeform 12" id="12"/>
            <p:cNvSpPr/>
            <p:nvPr/>
          </p:nvSpPr>
          <p:spPr>
            <a:xfrm flipH="false" flipV="false" rot="0">
              <a:off x="0" y="0"/>
              <a:ext cx="95162" cy="500399"/>
            </a:xfrm>
            <a:custGeom>
              <a:avLst/>
              <a:gdLst/>
              <a:ahLst/>
              <a:cxnLst/>
              <a:rect r="r" b="b" t="t" l="l"/>
              <a:pathLst>
                <a:path h="500399" w="95162">
                  <a:moveTo>
                    <a:pt x="0" y="0"/>
                  </a:moveTo>
                  <a:lnTo>
                    <a:pt x="95162" y="0"/>
                  </a:lnTo>
                  <a:lnTo>
                    <a:pt x="95162" y="500399"/>
                  </a:lnTo>
                  <a:lnTo>
                    <a:pt x="0" y="500399"/>
                  </a:lnTo>
                  <a:close/>
                </a:path>
              </a:pathLst>
            </a:custGeom>
            <a:solidFill>
              <a:srgbClr val="000000"/>
            </a:solidFill>
            <a:ln w="9525" cap="sq">
              <a:solidFill>
                <a:srgbClr val="FFFFFF"/>
              </a:solidFill>
              <a:prstDash val="solid"/>
              <a:miter/>
            </a:ln>
          </p:spPr>
        </p:sp>
        <p:sp>
          <p:nvSpPr>
            <p:cNvPr name="TextBox 13" id="13"/>
            <p:cNvSpPr txBox="true"/>
            <p:nvPr/>
          </p:nvSpPr>
          <p:spPr>
            <a:xfrm>
              <a:off x="0" y="-19050"/>
              <a:ext cx="95162" cy="519449"/>
            </a:xfrm>
            <a:prstGeom prst="rect">
              <a:avLst/>
            </a:prstGeom>
          </p:spPr>
          <p:txBody>
            <a:bodyPr anchor="ctr" rtlCol="false" tIns="50800" lIns="50800" bIns="50800" rIns="50800"/>
            <a:lstStyle/>
            <a:p>
              <a:pPr algn="ctr">
                <a:lnSpc>
                  <a:spcPts val="1986"/>
                </a:lnSpc>
              </a:pPr>
            </a:p>
          </p:txBody>
        </p:sp>
      </p:grpSp>
      <p:grpSp>
        <p:nvGrpSpPr>
          <p:cNvPr name="Group 14" id="14"/>
          <p:cNvGrpSpPr/>
          <p:nvPr/>
        </p:nvGrpSpPr>
        <p:grpSpPr>
          <a:xfrm rot="5400000">
            <a:off x="2370793" y="2545298"/>
            <a:ext cx="361317" cy="3392028"/>
            <a:chOff x="0" y="0"/>
            <a:chExt cx="95162" cy="893374"/>
          </a:xfrm>
        </p:grpSpPr>
        <p:sp>
          <p:nvSpPr>
            <p:cNvPr name="Freeform 15" id="15"/>
            <p:cNvSpPr/>
            <p:nvPr/>
          </p:nvSpPr>
          <p:spPr>
            <a:xfrm flipH="false" flipV="false" rot="0">
              <a:off x="0" y="0"/>
              <a:ext cx="95162" cy="893374"/>
            </a:xfrm>
            <a:custGeom>
              <a:avLst/>
              <a:gdLst/>
              <a:ahLst/>
              <a:cxnLst/>
              <a:rect r="r" b="b" t="t" l="l"/>
              <a:pathLst>
                <a:path h="893374" w="95162">
                  <a:moveTo>
                    <a:pt x="0" y="0"/>
                  </a:moveTo>
                  <a:lnTo>
                    <a:pt x="95162" y="0"/>
                  </a:lnTo>
                  <a:lnTo>
                    <a:pt x="95162" y="893374"/>
                  </a:lnTo>
                  <a:lnTo>
                    <a:pt x="0" y="893374"/>
                  </a:lnTo>
                  <a:close/>
                </a:path>
              </a:pathLst>
            </a:custGeom>
            <a:ln w="9525" cap="sq">
              <a:solidFill>
                <a:srgbClr val="FFFFFF"/>
              </a:solidFill>
              <a:prstDash val="solid"/>
              <a:miter/>
            </a:ln>
          </p:spPr>
        </p:sp>
        <p:sp>
          <p:nvSpPr>
            <p:cNvPr name="TextBox 16" id="16"/>
            <p:cNvSpPr txBox="true"/>
            <p:nvPr/>
          </p:nvSpPr>
          <p:spPr>
            <a:xfrm>
              <a:off x="0" y="-19050"/>
              <a:ext cx="95162" cy="912424"/>
            </a:xfrm>
            <a:prstGeom prst="rect">
              <a:avLst/>
            </a:prstGeom>
          </p:spPr>
          <p:txBody>
            <a:bodyPr anchor="ctr" rtlCol="false" tIns="50800" lIns="50800" bIns="50800" rIns="50800"/>
            <a:lstStyle/>
            <a:p>
              <a:pPr algn="ctr">
                <a:lnSpc>
                  <a:spcPts val="1986"/>
                </a:lnSpc>
              </a:pPr>
            </a:p>
          </p:txBody>
        </p:sp>
      </p:grpSp>
      <p:grpSp>
        <p:nvGrpSpPr>
          <p:cNvPr name="Group 17" id="17"/>
          <p:cNvGrpSpPr/>
          <p:nvPr/>
        </p:nvGrpSpPr>
        <p:grpSpPr>
          <a:xfrm rot="5400000">
            <a:off x="2370793" y="4083934"/>
            <a:ext cx="361317" cy="3392028"/>
            <a:chOff x="0" y="0"/>
            <a:chExt cx="95162" cy="893374"/>
          </a:xfrm>
        </p:grpSpPr>
        <p:sp>
          <p:nvSpPr>
            <p:cNvPr name="Freeform 18" id="18"/>
            <p:cNvSpPr/>
            <p:nvPr/>
          </p:nvSpPr>
          <p:spPr>
            <a:xfrm flipH="false" flipV="false" rot="0">
              <a:off x="0" y="0"/>
              <a:ext cx="95162" cy="893374"/>
            </a:xfrm>
            <a:custGeom>
              <a:avLst/>
              <a:gdLst/>
              <a:ahLst/>
              <a:cxnLst/>
              <a:rect r="r" b="b" t="t" l="l"/>
              <a:pathLst>
                <a:path h="893374" w="95162">
                  <a:moveTo>
                    <a:pt x="0" y="0"/>
                  </a:moveTo>
                  <a:lnTo>
                    <a:pt x="95162" y="0"/>
                  </a:lnTo>
                  <a:lnTo>
                    <a:pt x="95162" y="893374"/>
                  </a:lnTo>
                  <a:lnTo>
                    <a:pt x="0" y="893374"/>
                  </a:lnTo>
                  <a:close/>
                </a:path>
              </a:pathLst>
            </a:custGeom>
            <a:ln w="9525" cap="sq">
              <a:solidFill>
                <a:srgbClr val="FFFFFF"/>
              </a:solidFill>
              <a:prstDash val="solid"/>
              <a:miter/>
            </a:ln>
          </p:spPr>
        </p:sp>
        <p:sp>
          <p:nvSpPr>
            <p:cNvPr name="TextBox 19" id="19"/>
            <p:cNvSpPr txBox="true"/>
            <p:nvPr/>
          </p:nvSpPr>
          <p:spPr>
            <a:xfrm>
              <a:off x="0" y="-19050"/>
              <a:ext cx="95162" cy="912424"/>
            </a:xfrm>
            <a:prstGeom prst="rect">
              <a:avLst/>
            </a:prstGeom>
          </p:spPr>
          <p:txBody>
            <a:bodyPr anchor="ctr" rtlCol="false" tIns="50800" lIns="50800" bIns="50800" rIns="50800"/>
            <a:lstStyle/>
            <a:p>
              <a:pPr algn="ctr">
                <a:lnSpc>
                  <a:spcPts val="1986"/>
                </a:lnSpc>
              </a:pPr>
            </a:p>
          </p:txBody>
        </p:sp>
      </p:grpSp>
      <p:sp>
        <p:nvSpPr>
          <p:cNvPr name="Freeform 20" id="20"/>
          <p:cNvSpPr/>
          <p:nvPr/>
        </p:nvSpPr>
        <p:spPr>
          <a:xfrm flipH="false" flipV="false" rot="0">
            <a:off x="4247465" y="4023303"/>
            <a:ext cx="3510495" cy="1974653"/>
          </a:xfrm>
          <a:custGeom>
            <a:avLst/>
            <a:gdLst/>
            <a:ahLst/>
            <a:cxnLst/>
            <a:rect r="r" b="b" t="t" l="l"/>
            <a:pathLst>
              <a:path h="1974653" w="3510495">
                <a:moveTo>
                  <a:pt x="0" y="0"/>
                </a:moveTo>
                <a:lnTo>
                  <a:pt x="3510495" y="0"/>
                </a:lnTo>
                <a:lnTo>
                  <a:pt x="3510495" y="1974653"/>
                </a:lnTo>
                <a:lnTo>
                  <a:pt x="0" y="1974653"/>
                </a:lnTo>
                <a:lnTo>
                  <a:pt x="0" y="0"/>
                </a:lnTo>
                <a:close/>
              </a:path>
            </a:pathLst>
          </a:custGeom>
          <a:blipFill>
            <a:blip r:embed="rId2"/>
            <a:stretch>
              <a:fillRect l="0" t="-2655" r="0" b="-2655"/>
            </a:stretch>
          </a:blipFill>
        </p:spPr>
      </p:sp>
      <p:grpSp>
        <p:nvGrpSpPr>
          <p:cNvPr name="Group 21" id="21"/>
          <p:cNvGrpSpPr/>
          <p:nvPr/>
        </p:nvGrpSpPr>
        <p:grpSpPr>
          <a:xfrm rot="0">
            <a:off x="4620786" y="6009831"/>
            <a:ext cx="2581271" cy="813161"/>
            <a:chOff x="0" y="0"/>
            <a:chExt cx="3441694" cy="1084215"/>
          </a:xfrm>
        </p:grpSpPr>
        <p:sp>
          <p:nvSpPr>
            <p:cNvPr name="TextBox 22" id="22"/>
            <p:cNvSpPr txBox="true"/>
            <p:nvPr/>
          </p:nvSpPr>
          <p:spPr>
            <a:xfrm rot="0">
              <a:off x="0" y="-9525"/>
              <a:ext cx="3441694" cy="416337"/>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Effects</a:t>
              </a:r>
            </a:p>
          </p:txBody>
        </p:sp>
        <p:sp>
          <p:nvSpPr>
            <p:cNvPr name="TextBox 23" id="23"/>
            <p:cNvSpPr txBox="true"/>
            <p:nvPr/>
          </p:nvSpPr>
          <p:spPr>
            <a:xfrm rot="0">
              <a:off x="0" y="552862"/>
              <a:ext cx="3441694" cy="531352"/>
            </a:xfrm>
            <a:prstGeom prst="rect">
              <a:avLst/>
            </a:prstGeom>
          </p:spPr>
          <p:txBody>
            <a:bodyPr anchor="t" rtlCol="false" tIns="0" lIns="0" bIns="0" rIns="0">
              <a:spAutoFit/>
            </a:bodyPr>
            <a:lstStyle/>
            <a:p>
              <a:pPr algn="l" marL="0" indent="0" lvl="0">
                <a:lnSpc>
                  <a:spcPts val="1517"/>
                </a:lnSpc>
                <a:spcBef>
                  <a:spcPct val="0"/>
                </a:spcBef>
              </a:pPr>
              <a:r>
                <a:rPr lang="en-US" sz="1472" strike="noStrike" u="none">
                  <a:solidFill>
                    <a:srgbClr val="FFFFFF"/>
                  </a:solidFill>
                  <a:latin typeface="Quicksand"/>
                  <a:ea typeface="Quicksand"/>
                  <a:cs typeface="Quicksand"/>
                  <a:sym typeface="Quicksand"/>
                </a:rPr>
                <a:t>Never warp or discolor any brand graphic asset.</a:t>
              </a:r>
            </a:p>
          </p:txBody>
        </p:sp>
      </p:grpSp>
      <p:sp>
        <p:nvSpPr>
          <p:cNvPr name="Freeform 24" id="24"/>
          <p:cNvSpPr/>
          <p:nvPr/>
        </p:nvSpPr>
        <p:spPr>
          <a:xfrm flipH="false" flipV="false" rot="0">
            <a:off x="9064340" y="3836774"/>
            <a:ext cx="1647656" cy="1647656"/>
          </a:xfrm>
          <a:custGeom>
            <a:avLst/>
            <a:gdLst/>
            <a:ahLst/>
            <a:cxnLst/>
            <a:rect r="r" b="b" t="t" l="l"/>
            <a:pathLst>
              <a:path h="1647656" w="1647656">
                <a:moveTo>
                  <a:pt x="0" y="0"/>
                </a:moveTo>
                <a:lnTo>
                  <a:pt x="1647656" y="0"/>
                </a:lnTo>
                <a:lnTo>
                  <a:pt x="1647656" y="1647656"/>
                </a:lnTo>
                <a:lnTo>
                  <a:pt x="0" y="16476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5" id="25"/>
          <p:cNvGrpSpPr/>
          <p:nvPr/>
        </p:nvGrpSpPr>
        <p:grpSpPr>
          <a:xfrm rot="0">
            <a:off x="11326805" y="6009831"/>
            <a:ext cx="2581271" cy="813161"/>
            <a:chOff x="0" y="0"/>
            <a:chExt cx="3441694" cy="1084215"/>
          </a:xfrm>
        </p:grpSpPr>
        <p:sp>
          <p:nvSpPr>
            <p:cNvPr name="TextBox 26" id="26"/>
            <p:cNvSpPr txBox="true"/>
            <p:nvPr/>
          </p:nvSpPr>
          <p:spPr>
            <a:xfrm rot="0">
              <a:off x="0" y="-9525"/>
              <a:ext cx="3441694" cy="416337"/>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Colors</a:t>
              </a:r>
            </a:p>
          </p:txBody>
        </p:sp>
        <p:sp>
          <p:nvSpPr>
            <p:cNvPr name="TextBox 27" id="27"/>
            <p:cNvSpPr txBox="true"/>
            <p:nvPr/>
          </p:nvSpPr>
          <p:spPr>
            <a:xfrm rot="0">
              <a:off x="0" y="552862"/>
              <a:ext cx="3441694" cy="531352"/>
            </a:xfrm>
            <a:prstGeom prst="rect">
              <a:avLst/>
            </a:prstGeom>
          </p:spPr>
          <p:txBody>
            <a:bodyPr anchor="t" rtlCol="false" tIns="0" lIns="0" bIns="0" rIns="0">
              <a:spAutoFit/>
            </a:bodyPr>
            <a:lstStyle/>
            <a:p>
              <a:pPr algn="l" marL="0" indent="0" lvl="0">
                <a:lnSpc>
                  <a:spcPts val="1517"/>
                </a:lnSpc>
                <a:spcBef>
                  <a:spcPct val="0"/>
                </a:spcBef>
              </a:pPr>
              <a:r>
                <a:rPr lang="en-US" sz="1472" strike="noStrike" u="none">
                  <a:solidFill>
                    <a:srgbClr val="FFFFFF"/>
                  </a:solidFill>
                  <a:latin typeface="Quicksand"/>
                  <a:ea typeface="Quicksand"/>
                  <a:cs typeface="Quicksand"/>
                  <a:sym typeface="Quicksand"/>
                </a:rPr>
                <a:t>Never alter the color of any brand graphic asset.</a:t>
              </a:r>
            </a:p>
          </p:txBody>
        </p:sp>
      </p:grpSp>
      <p:sp>
        <p:nvSpPr>
          <p:cNvPr name="Freeform 28" id="28"/>
          <p:cNvSpPr/>
          <p:nvPr/>
        </p:nvSpPr>
        <p:spPr>
          <a:xfrm flipH="false" flipV="false" rot="0">
            <a:off x="4933517" y="7285911"/>
            <a:ext cx="1833127" cy="1840849"/>
          </a:xfrm>
          <a:custGeom>
            <a:avLst/>
            <a:gdLst/>
            <a:ahLst/>
            <a:cxnLst/>
            <a:rect r="r" b="b" t="t" l="l"/>
            <a:pathLst>
              <a:path h="1840849" w="1833127">
                <a:moveTo>
                  <a:pt x="0" y="0"/>
                </a:moveTo>
                <a:lnTo>
                  <a:pt x="1833127" y="0"/>
                </a:lnTo>
                <a:lnTo>
                  <a:pt x="1833127" y="1840848"/>
                </a:lnTo>
                <a:lnTo>
                  <a:pt x="0" y="1840848"/>
                </a:lnTo>
                <a:lnTo>
                  <a:pt x="0" y="0"/>
                </a:lnTo>
                <a:close/>
              </a:path>
            </a:pathLst>
          </a:custGeom>
          <a:blipFill>
            <a:blip r:embed="rId3"/>
            <a:stretch>
              <a:fillRect l="0" t="-10" r="-432" b="0"/>
            </a:stretch>
          </a:blipFill>
        </p:spPr>
      </p:sp>
      <p:sp>
        <p:nvSpPr>
          <p:cNvPr name="Freeform 29" id="29"/>
          <p:cNvSpPr/>
          <p:nvPr/>
        </p:nvSpPr>
        <p:spPr>
          <a:xfrm flipH="false" flipV="false" rot="0">
            <a:off x="8147777" y="7234422"/>
            <a:ext cx="1833127" cy="1840849"/>
          </a:xfrm>
          <a:custGeom>
            <a:avLst/>
            <a:gdLst/>
            <a:ahLst/>
            <a:cxnLst/>
            <a:rect r="r" b="b" t="t" l="l"/>
            <a:pathLst>
              <a:path h="1840849" w="1833127">
                <a:moveTo>
                  <a:pt x="0" y="0"/>
                </a:moveTo>
                <a:lnTo>
                  <a:pt x="1833127" y="0"/>
                </a:lnTo>
                <a:lnTo>
                  <a:pt x="1833127" y="1840848"/>
                </a:lnTo>
                <a:lnTo>
                  <a:pt x="0" y="1840848"/>
                </a:lnTo>
                <a:lnTo>
                  <a:pt x="0" y="0"/>
                </a:lnTo>
                <a:close/>
              </a:path>
            </a:pathLst>
          </a:custGeom>
          <a:blipFill>
            <a:blip r:embed="rId3"/>
            <a:stretch>
              <a:fillRect l="0" t="-10" r="-432" b="0"/>
            </a:stretch>
          </a:blipFill>
        </p:spPr>
      </p:sp>
      <p:grpSp>
        <p:nvGrpSpPr>
          <p:cNvPr name="Group 30" id="30"/>
          <p:cNvGrpSpPr/>
          <p:nvPr/>
        </p:nvGrpSpPr>
        <p:grpSpPr>
          <a:xfrm rot="0">
            <a:off x="11307755" y="8988645"/>
            <a:ext cx="2581271" cy="813161"/>
            <a:chOff x="0" y="0"/>
            <a:chExt cx="3441694" cy="1084215"/>
          </a:xfrm>
        </p:grpSpPr>
        <p:sp>
          <p:nvSpPr>
            <p:cNvPr name="TextBox 31" id="31"/>
            <p:cNvSpPr txBox="true"/>
            <p:nvPr/>
          </p:nvSpPr>
          <p:spPr>
            <a:xfrm rot="0">
              <a:off x="0" y="-9525"/>
              <a:ext cx="3441694" cy="416337"/>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Orientation</a:t>
              </a:r>
            </a:p>
          </p:txBody>
        </p:sp>
        <p:sp>
          <p:nvSpPr>
            <p:cNvPr name="TextBox 32" id="32"/>
            <p:cNvSpPr txBox="true"/>
            <p:nvPr/>
          </p:nvSpPr>
          <p:spPr>
            <a:xfrm rot="0">
              <a:off x="0" y="552862"/>
              <a:ext cx="3441694" cy="531352"/>
            </a:xfrm>
            <a:prstGeom prst="rect">
              <a:avLst/>
            </a:prstGeom>
          </p:spPr>
          <p:txBody>
            <a:bodyPr anchor="t" rtlCol="false" tIns="0" lIns="0" bIns="0" rIns="0">
              <a:spAutoFit/>
            </a:bodyPr>
            <a:lstStyle/>
            <a:p>
              <a:pPr algn="l" marL="0" indent="0" lvl="0">
                <a:lnSpc>
                  <a:spcPts val="1517"/>
                </a:lnSpc>
                <a:spcBef>
                  <a:spcPct val="0"/>
                </a:spcBef>
              </a:pPr>
              <a:r>
                <a:rPr lang="en-US" sz="1472" strike="noStrike" u="none">
                  <a:solidFill>
                    <a:srgbClr val="FFFFFF"/>
                  </a:solidFill>
                  <a:latin typeface="Quicksand"/>
                  <a:ea typeface="Quicksand"/>
                  <a:cs typeface="Quicksand"/>
                  <a:sym typeface="Quicksand"/>
                </a:rPr>
                <a:t>Never rotate any brand asset from it's original orientation.</a:t>
              </a:r>
            </a:p>
          </p:txBody>
        </p:sp>
      </p:grpSp>
      <p:sp>
        <p:nvSpPr>
          <p:cNvPr name="TextBox 33" id="33"/>
          <p:cNvSpPr txBox="true"/>
          <p:nvPr/>
        </p:nvSpPr>
        <p:spPr>
          <a:xfrm rot="-422451">
            <a:off x="4290582" y="7438291"/>
            <a:ext cx="2295631" cy="578039"/>
          </a:xfrm>
          <a:prstGeom prst="rect">
            <a:avLst/>
          </a:prstGeom>
        </p:spPr>
        <p:txBody>
          <a:bodyPr anchor="t" rtlCol="false" tIns="0" lIns="0" bIns="0" rIns="0">
            <a:spAutoFit/>
          </a:bodyPr>
          <a:lstStyle/>
          <a:p>
            <a:pPr algn="ctr">
              <a:lnSpc>
                <a:spcPts val="4204"/>
              </a:lnSpc>
              <a:spcBef>
                <a:spcPct val="0"/>
              </a:spcBef>
            </a:pPr>
            <a:r>
              <a:rPr lang="en-US" sz="4671" spc="-397">
                <a:solidFill>
                  <a:srgbClr val="E2A428"/>
                </a:solidFill>
                <a:latin typeface="Carlsons Script"/>
                <a:ea typeface="Carlsons Script"/>
                <a:cs typeface="Carlsons Script"/>
                <a:sym typeface="Carlsons Script"/>
              </a:rPr>
              <a:t>Black🖤</a:t>
            </a:r>
          </a:p>
        </p:txBody>
      </p:sp>
      <p:grpSp>
        <p:nvGrpSpPr>
          <p:cNvPr name="Group 34" id="34"/>
          <p:cNvGrpSpPr/>
          <p:nvPr/>
        </p:nvGrpSpPr>
        <p:grpSpPr>
          <a:xfrm rot="0">
            <a:off x="14669485" y="6785008"/>
            <a:ext cx="2705467" cy="2705467"/>
            <a:chOff x="0" y="0"/>
            <a:chExt cx="3607289" cy="3607289"/>
          </a:xfrm>
        </p:grpSpPr>
        <p:grpSp>
          <p:nvGrpSpPr>
            <p:cNvPr name="Group 35" id="35"/>
            <p:cNvGrpSpPr/>
            <p:nvPr/>
          </p:nvGrpSpPr>
          <p:grpSpPr>
            <a:xfrm rot="0">
              <a:off x="0" y="0"/>
              <a:ext cx="3607289" cy="3607289"/>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37" id="37"/>
              <p:cNvSpPr txBox="true"/>
              <p:nvPr/>
            </p:nvSpPr>
            <p:spPr>
              <a:xfrm>
                <a:off x="76200" y="57150"/>
                <a:ext cx="660400" cy="679450"/>
              </a:xfrm>
              <a:prstGeom prst="rect">
                <a:avLst/>
              </a:prstGeom>
            </p:spPr>
            <p:txBody>
              <a:bodyPr anchor="ctr" rtlCol="false" tIns="46487" lIns="46487" bIns="46487" rIns="46487"/>
              <a:lstStyle/>
              <a:p>
                <a:pPr algn="ctr">
                  <a:lnSpc>
                    <a:spcPts val="717"/>
                  </a:lnSpc>
                </a:pPr>
              </a:p>
            </p:txBody>
          </p:sp>
        </p:grpSp>
        <p:sp>
          <p:nvSpPr>
            <p:cNvPr name="Freeform 38" id="38"/>
            <p:cNvSpPr/>
            <p:nvPr/>
          </p:nvSpPr>
          <p:spPr>
            <a:xfrm flipH="false" flipV="false" rot="0">
              <a:off x="901931" y="901931"/>
              <a:ext cx="1803427" cy="1803427"/>
            </a:xfrm>
            <a:custGeom>
              <a:avLst/>
              <a:gdLst/>
              <a:ahLst/>
              <a:cxnLst/>
              <a:rect r="r" b="b" t="t" l="l"/>
              <a:pathLst>
                <a:path h="1803427" w="1803427">
                  <a:moveTo>
                    <a:pt x="0" y="0"/>
                  </a:moveTo>
                  <a:lnTo>
                    <a:pt x="1803427" y="0"/>
                  </a:lnTo>
                  <a:lnTo>
                    <a:pt x="1803427" y="1803427"/>
                  </a:lnTo>
                  <a:lnTo>
                    <a:pt x="0" y="1803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1003480" y="1003480"/>
              <a:ext cx="1600330" cy="1600330"/>
            </a:xfrm>
            <a:custGeom>
              <a:avLst/>
              <a:gdLst/>
              <a:ahLst/>
              <a:cxnLst/>
              <a:rect r="r" b="b" t="t" l="l"/>
              <a:pathLst>
                <a:path h="1600330" w="1600330">
                  <a:moveTo>
                    <a:pt x="0" y="0"/>
                  </a:moveTo>
                  <a:lnTo>
                    <a:pt x="1600330" y="0"/>
                  </a:lnTo>
                  <a:lnTo>
                    <a:pt x="1600330" y="1600330"/>
                  </a:lnTo>
                  <a:lnTo>
                    <a:pt x="0" y="16003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0" id="40"/>
            <p:cNvSpPr/>
            <p:nvPr/>
          </p:nvSpPr>
          <p:spPr>
            <a:xfrm flipH="false" flipV="false" rot="0">
              <a:off x="719116" y="719116"/>
              <a:ext cx="2169057" cy="2169057"/>
            </a:xfrm>
            <a:custGeom>
              <a:avLst/>
              <a:gdLst/>
              <a:ahLst/>
              <a:cxnLst/>
              <a:rect r="r" b="b" t="t" l="l"/>
              <a:pathLst>
                <a:path h="2169057" w="2169057">
                  <a:moveTo>
                    <a:pt x="0" y="0"/>
                  </a:moveTo>
                  <a:lnTo>
                    <a:pt x="2169057" y="0"/>
                  </a:lnTo>
                  <a:lnTo>
                    <a:pt x="2169057" y="2169057"/>
                  </a:lnTo>
                  <a:lnTo>
                    <a:pt x="0" y="21690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1" id="41"/>
            <p:cNvSpPr/>
            <p:nvPr/>
          </p:nvSpPr>
          <p:spPr>
            <a:xfrm flipH="false" flipV="false" rot="0">
              <a:off x="740159" y="740159"/>
              <a:ext cx="2126972" cy="2126972"/>
            </a:xfrm>
            <a:custGeom>
              <a:avLst/>
              <a:gdLst/>
              <a:ahLst/>
              <a:cxnLst/>
              <a:rect r="r" b="b" t="t" l="l"/>
              <a:pathLst>
                <a:path h="2126972" w="2126972">
                  <a:moveTo>
                    <a:pt x="0" y="0"/>
                  </a:moveTo>
                  <a:lnTo>
                    <a:pt x="2126972" y="0"/>
                  </a:lnTo>
                  <a:lnTo>
                    <a:pt x="2126972" y="2126972"/>
                  </a:lnTo>
                  <a:lnTo>
                    <a:pt x="0" y="21269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42" id="42"/>
            <p:cNvGrpSpPr/>
            <p:nvPr/>
          </p:nvGrpSpPr>
          <p:grpSpPr>
            <a:xfrm rot="-3023822">
              <a:off x="2568731" y="2044157"/>
              <a:ext cx="414484" cy="1070814"/>
              <a:chOff x="0" y="0"/>
              <a:chExt cx="237482" cy="613533"/>
            </a:xfrm>
          </p:grpSpPr>
          <p:sp>
            <p:nvSpPr>
              <p:cNvPr name="Freeform 43" id="43"/>
              <p:cNvSpPr/>
              <p:nvPr/>
            </p:nvSpPr>
            <p:spPr>
              <a:xfrm flipH="false" flipV="false" rot="0">
                <a:off x="0" y="0"/>
                <a:ext cx="237482" cy="613533"/>
              </a:xfrm>
              <a:custGeom>
                <a:avLst/>
                <a:gdLst/>
                <a:ahLst/>
                <a:cxnLst/>
                <a:rect r="r" b="b" t="t" l="l"/>
                <a:pathLst>
                  <a:path h="613533" w="237482">
                    <a:moveTo>
                      <a:pt x="99618" y="0"/>
                    </a:moveTo>
                    <a:lnTo>
                      <a:pt x="137864" y="0"/>
                    </a:lnTo>
                    <a:cubicBezTo>
                      <a:pt x="164284" y="0"/>
                      <a:pt x="189623" y="10495"/>
                      <a:pt x="208305" y="29178"/>
                    </a:cubicBezTo>
                    <a:cubicBezTo>
                      <a:pt x="226987" y="47860"/>
                      <a:pt x="237482" y="73198"/>
                      <a:pt x="237482" y="99618"/>
                    </a:cubicBezTo>
                    <a:lnTo>
                      <a:pt x="237482" y="513915"/>
                    </a:lnTo>
                    <a:cubicBezTo>
                      <a:pt x="237482" y="540335"/>
                      <a:pt x="226987" y="565673"/>
                      <a:pt x="208305" y="584356"/>
                    </a:cubicBezTo>
                    <a:cubicBezTo>
                      <a:pt x="189623" y="603038"/>
                      <a:pt x="164284" y="613533"/>
                      <a:pt x="137864" y="613533"/>
                    </a:cubicBezTo>
                    <a:lnTo>
                      <a:pt x="99618" y="613533"/>
                    </a:lnTo>
                    <a:cubicBezTo>
                      <a:pt x="73198" y="613533"/>
                      <a:pt x="47860" y="603038"/>
                      <a:pt x="29178" y="584356"/>
                    </a:cubicBezTo>
                    <a:cubicBezTo>
                      <a:pt x="10495" y="565673"/>
                      <a:pt x="0" y="540335"/>
                      <a:pt x="0" y="513915"/>
                    </a:cubicBezTo>
                    <a:lnTo>
                      <a:pt x="0" y="99618"/>
                    </a:lnTo>
                    <a:cubicBezTo>
                      <a:pt x="0" y="73198"/>
                      <a:pt x="10495" y="47860"/>
                      <a:pt x="29178" y="29178"/>
                    </a:cubicBezTo>
                    <a:cubicBezTo>
                      <a:pt x="47860" y="10495"/>
                      <a:pt x="73198" y="0"/>
                      <a:pt x="99618" y="0"/>
                    </a:cubicBezTo>
                    <a:close/>
                  </a:path>
                </a:pathLst>
              </a:custGeom>
              <a:solidFill>
                <a:srgbClr val="FCFAF4"/>
              </a:solidFill>
            </p:spPr>
          </p:sp>
          <p:sp>
            <p:nvSpPr>
              <p:cNvPr name="TextBox 44" id="44"/>
              <p:cNvSpPr txBox="true"/>
              <p:nvPr/>
            </p:nvSpPr>
            <p:spPr>
              <a:xfrm>
                <a:off x="0" y="-19050"/>
                <a:ext cx="237482" cy="632583"/>
              </a:xfrm>
              <a:prstGeom prst="rect">
                <a:avLst/>
              </a:prstGeom>
            </p:spPr>
            <p:txBody>
              <a:bodyPr anchor="ctr" rtlCol="false" tIns="32577" lIns="32577" bIns="32577" rIns="32577"/>
              <a:lstStyle/>
              <a:p>
                <a:pPr algn="ctr">
                  <a:lnSpc>
                    <a:spcPts val="717"/>
                  </a:lnSpc>
                </a:pPr>
              </a:p>
            </p:txBody>
          </p:sp>
        </p:grpSp>
        <p:sp>
          <p:nvSpPr>
            <p:cNvPr name="Freeform 45" id="45"/>
            <p:cNvSpPr/>
            <p:nvPr/>
          </p:nvSpPr>
          <p:spPr>
            <a:xfrm flipH="false" flipV="false" rot="0">
              <a:off x="901931" y="1511507"/>
              <a:ext cx="691516" cy="691516"/>
            </a:xfrm>
            <a:custGeom>
              <a:avLst/>
              <a:gdLst/>
              <a:ahLst/>
              <a:cxnLst/>
              <a:rect r="r" b="b" t="t" l="l"/>
              <a:pathLst>
                <a:path h="691516" w="691516">
                  <a:moveTo>
                    <a:pt x="0" y="0"/>
                  </a:moveTo>
                  <a:lnTo>
                    <a:pt x="691516" y="0"/>
                  </a:lnTo>
                  <a:lnTo>
                    <a:pt x="691516" y="691516"/>
                  </a:lnTo>
                  <a:lnTo>
                    <a:pt x="0" y="691516"/>
                  </a:lnTo>
                  <a:lnTo>
                    <a:pt x="0" y="0"/>
                  </a:lnTo>
                  <a:close/>
                </a:path>
              </a:pathLst>
            </a:custGeom>
            <a:blipFill>
              <a:blip r:embed="rId8"/>
              <a:stretch>
                <a:fillRect l="0" t="0" r="0" b="0"/>
              </a:stretch>
            </a:blipFill>
          </p:spPr>
        </p:sp>
      </p:grpSp>
      <p:sp>
        <p:nvSpPr>
          <p:cNvPr name="AutoShape 46" id="46"/>
          <p:cNvSpPr/>
          <p:nvPr/>
        </p:nvSpPr>
        <p:spPr>
          <a:xfrm rot="1688015">
            <a:off x="4215257" y="5034202"/>
            <a:ext cx="3288698" cy="0"/>
          </a:xfrm>
          <a:prstGeom prst="line">
            <a:avLst/>
          </a:prstGeom>
          <a:ln cap="flat" w="114300">
            <a:solidFill>
              <a:srgbClr val="33A659"/>
            </a:solidFill>
            <a:prstDash val="solid"/>
            <a:headEnd type="none" len="sm" w="sm"/>
            <a:tailEnd type="none" len="sm" w="sm"/>
          </a:ln>
        </p:spPr>
      </p:sp>
      <p:sp>
        <p:nvSpPr>
          <p:cNvPr name="AutoShape 47" id="47"/>
          <p:cNvSpPr/>
          <p:nvPr/>
        </p:nvSpPr>
        <p:spPr>
          <a:xfrm rot="1688015">
            <a:off x="7590629" y="5034202"/>
            <a:ext cx="3288698" cy="0"/>
          </a:xfrm>
          <a:prstGeom prst="line">
            <a:avLst/>
          </a:prstGeom>
          <a:ln cap="flat" w="114300">
            <a:solidFill>
              <a:srgbClr val="33A659"/>
            </a:solidFill>
            <a:prstDash val="solid"/>
            <a:headEnd type="none" len="sm" w="sm"/>
            <a:tailEnd type="none" len="sm" w="sm"/>
          </a:ln>
        </p:spPr>
      </p:sp>
      <p:sp>
        <p:nvSpPr>
          <p:cNvPr name="AutoShape 48" id="48"/>
          <p:cNvSpPr/>
          <p:nvPr/>
        </p:nvSpPr>
        <p:spPr>
          <a:xfrm rot="1688015">
            <a:off x="11013797" y="5034202"/>
            <a:ext cx="3288698" cy="0"/>
          </a:xfrm>
          <a:prstGeom prst="line">
            <a:avLst/>
          </a:prstGeom>
          <a:ln cap="flat" w="114300">
            <a:solidFill>
              <a:srgbClr val="33A659"/>
            </a:solidFill>
            <a:prstDash val="solid"/>
            <a:headEnd type="none" len="sm" w="sm"/>
            <a:tailEnd type="none" len="sm" w="sm"/>
          </a:ln>
        </p:spPr>
      </p:sp>
      <p:sp>
        <p:nvSpPr>
          <p:cNvPr name="Freeform 49" id="49"/>
          <p:cNvSpPr/>
          <p:nvPr/>
        </p:nvSpPr>
        <p:spPr>
          <a:xfrm flipH="false" flipV="false" rot="0">
            <a:off x="14986346" y="4119757"/>
            <a:ext cx="1833127" cy="1840849"/>
          </a:xfrm>
          <a:custGeom>
            <a:avLst/>
            <a:gdLst/>
            <a:ahLst/>
            <a:cxnLst/>
            <a:rect r="r" b="b" t="t" l="l"/>
            <a:pathLst>
              <a:path h="1840849" w="1833127">
                <a:moveTo>
                  <a:pt x="0" y="0"/>
                </a:moveTo>
                <a:lnTo>
                  <a:pt x="1833128" y="0"/>
                </a:lnTo>
                <a:lnTo>
                  <a:pt x="1833128" y="1840849"/>
                </a:lnTo>
                <a:lnTo>
                  <a:pt x="0" y="1840849"/>
                </a:lnTo>
                <a:lnTo>
                  <a:pt x="0" y="0"/>
                </a:lnTo>
                <a:close/>
              </a:path>
            </a:pathLst>
          </a:custGeom>
          <a:blipFill>
            <a:blip r:embed="rId3">
              <a:alphaModFix amt="64000"/>
            </a:blip>
            <a:stretch>
              <a:fillRect l="0" t="-10" r="-432" b="0"/>
            </a:stretch>
          </a:blipFill>
        </p:spPr>
      </p:sp>
      <p:sp>
        <p:nvSpPr>
          <p:cNvPr name="AutoShape 50" id="50"/>
          <p:cNvSpPr/>
          <p:nvPr/>
        </p:nvSpPr>
        <p:spPr>
          <a:xfrm rot="1688015">
            <a:off x="14324316" y="5034202"/>
            <a:ext cx="3288698" cy="0"/>
          </a:xfrm>
          <a:prstGeom prst="line">
            <a:avLst/>
          </a:prstGeom>
          <a:ln cap="flat" w="114300">
            <a:solidFill>
              <a:srgbClr val="33A659"/>
            </a:solidFill>
            <a:prstDash val="solid"/>
            <a:headEnd type="none" len="sm" w="sm"/>
            <a:tailEnd type="none" len="sm" w="sm"/>
          </a:ln>
        </p:spPr>
      </p:sp>
      <p:sp>
        <p:nvSpPr>
          <p:cNvPr name="AutoShape 51" id="51"/>
          <p:cNvSpPr/>
          <p:nvPr/>
        </p:nvSpPr>
        <p:spPr>
          <a:xfrm rot="1688015">
            <a:off x="4149502" y="8017640"/>
            <a:ext cx="3288698" cy="0"/>
          </a:xfrm>
          <a:prstGeom prst="line">
            <a:avLst/>
          </a:prstGeom>
          <a:ln cap="flat" w="114300">
            <a:solidFill>
              <a:srgbClr val="33A659"/>
            </a:solidFill>
            <a:prstDash val="solid"/>
            <a:headEnd type="none" len="sm" w="sm"/>
            <a:tailEnd type="none" len="sm" w="sm"/>
          </a:ln>
        </p:spPr>
      </p:sp>
      <p:sp>
        <p:nvSpPr>
          <p:cNvPr name="AutoShape 52" id="52"/>
          <p:cNvSpPr/>
          <p:nvPr/>
        </p:nvSpPr>
        <p:spPr>
          <a:xfrm rot="1688015">
            <a:off x="7524874" y="8017640"/>
            <a:ext cx="3288698" cy="0"/>
          </a:xfrm>
          <a:prstGeom prst="line">
            <a:avLst/>
          </a:prstGeom>
          <a:ln cap="flat" w="114300">
            <a:solidFill>
              <a:srgbClr val="33A659"/>
            </a:solidFill>
            <a:prstDash val="solid"/>
            <a:headEnd type="none" len="sm" w="sm"/>
            <a:tailEnd type="none" len="sm" w="sm"/>
          </a:ln>
        </p:spPr>
      </p:sp>
      <p:sp>
        <p:nvSpPr>
          <p:cNvPr name="Freeform 53" id="53"/>
          <p:cNvSpPr/>
          <p:nvPr/>
        </p:nvSpPr>
        <p:spPr>
          <a:xfrm flipH="false" flipV="false" rot="-2435573">
            <a:off x="11681827" y="7042560"/>
            <a:ext cx="1833127" cy="1840849"/>
          </a:xfrm>
          <a:custGeom>
            <a:avLst/>
            <a:gdLst/>
            <a:ahLst/>
            <a:cxnLst/>
            <a:rect r="r" b="b" t="t" l="l"/>
            <a:pathLst>
              <a:path h="1840849" w="1833127">
                <a:moveTo>
                  <a:pt x="0" y="0"/>
                </a:moveTo>
                <a:lnTo>
                  <a:pt x="1833127" y="0"/>
                </a:lnTo>
                <a:lnTo>
                  <a:pt x="1833127" y="1840849"/>
                </a:lnTo>
                <a:lnTo>
                  <a:pt x="0" y="1840849"/>
                </a:lnTo>
                <a:lnTo>
                  <a:pt x="0" y="0"/>
                </a:lnTo>
                <a:close/>
              </a:path>
            </a:pathLst>
          </a:custGeom>
          <a:blipFill>
            <a:blip r:embed="rId3"/>
            <a:stretch>
              <a:fillRect l="0" t="-10" r="-432" b="0"/>
            </a:stretch>
          </a:blipFill>
        </p:spPr>
      </p:sp>
      <p:sp>
        <p:nvSpPr>
          <p:cNvPr name="AutoShape 54" id="54"/>
          <p:cNvSpPr/>
          <p:nvPr/>
        </p:nvSpPr>
        <p:spPr>
          <a:xfrm rot="1688015">
            <a:off x="10948043" y="8017640"/>
            <a:ext cx="3288698" cy="0"/>
          </a:xfrm>
          <a:prstGeom prst="line">
            <a:avLst/>
          </a:prstGeom>
          <a:ln cap="flat" w="114300">
            <a:solidFill>
              <a:srgbClr val="33A659"/>
            </a:solidFill>
            <a:prstDash val="solid"/>
            <a:headEnd type="none" len="sm" w="sm"/>
            <a:tailEnd type="none" len="sm" w="sm"/>
          </a:ln>
        </p:spPr>
      </p:sp>
      <p:sp>
        <p:nvSpPr>
          <p:cNvPr name="AutoShape 55" id="55"/>
          <p:cNvSpPr/>
          <p:nvPr/>
        </p:nvSpPr>
        <p:spPr>
          <a:xfrm rot="1688015">
            <a:off x="14258561" y="8017640"/>
            <a:ext cx="3288698" cy="0"/>
          </a:xfrm>
          <a:prstGeom prst="line">
            <a:avLst/>
          </a:prstGeom>
          <a:ln cap="flat" w="114300">
            <a:solidFill>
              <a:srgbClr val="33A659"/>
            </a:solidFill>
            <a:prstDash val="solid"/>
            <a:headEnd type="none" len="sm" w="sm"/>
            <a:tailEnd type="none" len="sm" w="sm"/>
          </a:ln>
        </p:spPr>
      </p:sp>
      <p:sp>
        <p:nvSpPr>
          <p:cNvPr name="Freeform 56" id="56"/>
          <p:cNvSpPr/>
          <p:nvPr/>
        </p:nvSpPr>
        <p:spPr>
          <a:xfrm flipH="false" flipV="false" rot="0">
            <a:off x="1539996" y="7202074"/>
            <a:ext cx="1840849" cy="1840849"/>
          </a:xfrm>
          <a:custGeom>
            <a:avLst/>
            <a:gdLst/>
            <a:ahLst/>
            <a:cxnLst/>
            <a:rect r="r" b="b" t="t" l="l"/>
            <a:pathLst>
              <a:path h="1840849" w="1840849">
                <a:moveTo>
                  <a:pt x="0" y="0"/>
                </a:moveTo>
                <a:lnTo>
                  <a:pt x="1840849" y="0"/>
                </a:lnTo>
                <a:lnTo>
                  <a:pt x="1840849" y="1840848"/>
                </a:lnTo>
                <a:lnTo>
                  <a:pt x="0" y="1840848"/>
                </a:lnTo>
                <a:lnTo>
                  <a:pt x="0" y="0"/>
                </a:lnTo>
                <a:close/>
              </a:path>
            </a:pathLst>
          </a:custGeom>
          <a:blipFill>
            <a:blip r:embed="rId9"/>
            <a:stretch>
              <a:fillRect l="0" t="0" r="0" b="0"/>
            </a:stretch>
          </a:blipFill>
        </p:spPr>
      </p:sp>
      <p:sp>
        <p:nvSpPr>
          <p:cNvPr name="AutoShape 57" id="57"/>
          <p:cNvSpPr/>
          <p:nvPr/>
        </p:nvSpPr>
        <p:spPr>
          <a:xfrm rot="1688015">
            <a:off x="882163" y="8017640"/>
            <a:ext cx="3288698" cy="0"/>
          </a:xfrm>
          <a:prstGeom prst="line">
            <a:avLst/>
          </a:prstGeom>
          <a:ln cap="flat" w="114300">
            <a:solidFill>
              <a:srgbClr val="33A659"/>
            </a:solidFill>
            <a:prstDash val="solid"/>
            <a:headEnd type="none" len="sm" w="sm"/>
            <a:tailEnd type="none" len="sm" w="sm"/>
          </a:ln>
        </p:spPr>
      </p:sp>
      <p:grpSp>
        <p:nvGrpSpPr>
          <p:cNvPr name="Group 58" id="58"/>
          <p:cNvGrpSpPr/>
          <p:nvPr/>
        </p:nvGrpSpPr>
        <p:grpSpPr>
          <a:xfrm rot="0">
            <a:off x="10519791" y="975702"/>
            <a:ext cx="10766238" cy="1702586"/>
            <a:chOff x="0" y="0"/>
            <a:chExt cx="14354984" cy="2270115"/>
          </a:xfrm>
        </p:grpSpPr>
        <p:sp>
          <p:nvSpPr>
            <p:cNvPr name="Freeform 59" id="59"/>
            <p:cNvSpPr/>
            <p:nvPr/>
          </p:nvSpPr>
          <p:spPr>
            <a:xfrm flipH="false" flipV="false" rot="0">
              <a:off x="146935" y="333008"/>
              <a:ext cx="1449483" cy="1449483"/>
            </a:xfrm>
            <a:custGeom>
              <a:avLst/>
              <a:gdLst/>
              <a:ahLst/>
              <a:cxnLst/>
              <a:rect r="r" b="b" t="t" l="l"/>
              <a:pathLst>
                <a:path h="1449483" w="1449483">
                  <a:moveTo>
                    <a:pt x="0" y="0"/>
                  </a:moveTo>
                  <a:lnTo>
                    <a:pt x="1449484" y="0"/>
                  </a:lnTo>
                  <a:lnTo>
                    <a:pt x="1449484" y="1449484"/>
                  </a:lnTo>
                  <a:lnTo>
                    <a:pt x="0" y="14494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0" id="60"/>
            <p:cNvSpPr/>
            <p:nvPr/>
          </p:nvSpPr>
          <p:spPr>
            <a:xfrm flipH="false" flipV="false" rot="0">
              <a:off x="228554" y="414627"/>
              <a:ext cx="1286246" cy="1286246"/>
            </a:xfrm>
            <a:custGeom>
              <a:avLst/>
              <a:gdLst/>
              <a:ahLst/>
              <a:cxnLst/>
              <a:rect r="r" b="b" t="t" l="l"/>
              <a:pathLst>
                <a:path h="1286246" w="1286246">
                  <a:moveTo>
                    <a:pt x="0" y="0"/>
                  </a:moveTo>
                  <a:lnTo>
                    <a:pt x="1286246" y="0"/>
                  </a:lnTo>
                  <a:lnTo>
                    <a:pt x="1286246" y="1286246"/>
                  </a:lnTo>
                  <a:lnTo>
                    <a:pt x="0" y="12862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1" id="61"/>
            <p:cNvSpPr/>
            <p:nvPr/>
          </p:nvSpPr>
          <p:spPr>
            <a:xfrm flipH="false" flipV="false" rot="0">
              <a:off x="0" y="186073"/>
              <a:ext cx="1743354" cy="1743354"/>
            </a:xfrm>
            <a:custGeom>
              <a:avLst/>
              <a:gdLst/>
              <a:ahLst/>
              <a:cxnLst/>
              <a:rect r="r" b="b" t="t" l="l"/>
              <a:pathLst>
                <a:path h="1743354" w="1743354">
                  <a:moveTo>
                    <a:pt x="0" y="0"/>
                  </a:moveTo>
                  <a:lnTo>
                    <a:pt x="1743354" y="0"/>
                  </a:lnTo>
                  <a:lnTo>
                    <a:pt x="1743354" y="1743354"/>
                  </a:lnTo>
                  <a:lnTo>
                    <a:pt x="0" y="17433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2" id="62"/>
            <p:cNvSpPr/>
            <p:nvPr/>
          </p:nvSpPr>
          <p:spPr>
            <a:xfrm flipH="false" flipV="false" rot="0">
              <a:off x="16913" y="202986"/>
              <a:ext cx="1709529" cy="1709529"/>
            </a:xfrm>
            <a:custGeom>
              <a:avLst/>
              <a:gdLst/>
              <a:ahLst/>
              <a:cxnLst/>
              <a:rect r="r" b="b" t="t" l="l"/>
              <a:pathLst>
                <a:path h="1709529" w="1709529">
                  <a:moveTo>
                    <a:pt x="0" y="0"/>
                  </a:moveTo>
                  <a:lnTo>
                    <a:pt x="1709528" y="0"/>
                  </a:lnTo>
                  <a:lnTo>
                    <a:pt x="1709528" y="1709528"/>
                  </a:lnTo>
                  <a:lnTo>
                    <a:pt x="0" y="17095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3" id="63"/>
            <p:cNvGrpSpPr/>
            <p:nvPr/>
          </p:nvGrpSpPr>
          <p:grpSpPr>
            <a:xfrm rot="-3023822">
              <a:off x="1486606" y="1251059"/>
              <a:ext cx="333137" cy="860654"/>
              <a:chOff x="0" y="0"/>
              <a:chExt cx="237482" cy="613533"/>
            </a:xfrm>
          </p:grpSpPr>
          <p:sp>
            <p:nvSpPr>
              <p:cNvPr name="Freeform 64" id="64"/>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65" id="65"/>
              <p:cNvSpPr txBox="true"/>
              <p:nvPr/>
            </p:nvSpPr>
            <p:spPr>
              <a:xfrm>
                <a:off x="0" y="-19050"/>
                <a:ext cx="237482" cy="632583"/>
              </a:xfrm>
              <a:prstGeom prst="rect">
                <a:avLst/>
              </a:prstGeom>
            </p:spPr>
            <p:txBody>
              <a:bodyPr anchor="ctr" rtlCol="false" tIns="16469" lIns="16469" bIns="16469" rIns="16469"/>
              <a:lstStyle/>
              <a:p>
                <a:pPr algn="ctr">
                  <a:lnSpc>
                    <a:spcPts val="717"/>
                  </a:lnSpc>
                </a:pPr>
              </a:p>
            </p:txBody>
          </p:sp>
        </p:grpSp>
        <p:sp>
          <p:nvSpPr>
            <p:cNvPr name="Freeform 66" id="66"/>
            <p:cNvSpPr/>
            <p:nvPr/>
          </p:nvSpPr>
          <p:spPr>
            <a:xfrm flipH="false" flipV="false" rot="0">
              <a:off x="593778" y="779851"/>
              <a:ext cx="555798" cy="555798"/>
            </a:xfrm>
            <a:custGeom>
              <a:avLst/>
              <a:gdLst/>
              <a:ahLst/>
              <a:cxnLst/>
              <a:rect r="r" b="b" t="t" l="l"/>
              <a:pathLst>
                <a:path h="555798" w="555798">
                  <a:moveTo>
                    <a:pt x="0" y="0"/>
                  </a:moveTo>
                  <a:lnTo>
                    <a:pt x="555798" y="0"/>
                  </a:lnTo>
                  <a:lnTo>
                    <a:pt x="555798" y="555798"/>
                  </a:lnTo>
                  <a:lnTo>
                    <a:pt x="0" y="555798"/>
                  </a:lnTo>
                  <a:lnTo>
                    <a:pt x="0" y="0"/>
                  </a:lnTo>
                  <a:close/>
                </a:path>
              </a:pathLst>
            </a:custGeom>
            <a:blipFill>
              <a:blip r:embed="rId8"/>
              <a:stretch>
                <a:fillRect l="0" t="0" r="0" b="0"/>
              </a:stretch>
            </a:blipFill>
          </p:spPr>
        </p:sp>
        <p:sp>
          <p:nvSpPr>
            <p:cNvPr name="AutoShape 67" id="67"/>
            <p:cNvSpPr/>
            <p:nvPr/>
          </p:nvSpPr>
          <p:spPr>
            <a:xfrm>
              <a:off x="2381233" y="186073"/>
              <a:ext cx="0" cy="1897969"/>
            </a:xfrm>
            <a:prstGeom prst="line">
              <a:avLst/>
            </a:prstGeom>
            <a:ln cap="flat" w="60573">
              <a:solidFill>
                <a:srgbClr val="FFFFFF"/>
              </a:solidFill>
              <a:prstDash val="solid"/>
              <a:headEnd type="none" len="sm" w="sm"/>
              <a:tailEnd type="none" len="sm" w="sm"/>
            </a:ln>
          </p:spPr>
        </p:sp>
        <p:sp>
          <p:nvSpPr>
            <p:cNvPr name="TextBox 68" id="68"/>
            <p:cNvSpPr txBox="true"/>
            <p:nvPr/>
          </p:nvSpPr>
          <p:spPr>
            <a:xfrm rot="0">
              <a:off x="2752499" y="0"/>
              <a:ext cx="11602485" cy="2270115"/>
            </a:xfrm>
            <a:prstGeom prst="rect">
              <a:avLst/>
            </a:prstGeom>
          </p:spPr>
          <p:txBody>
            <a:bodyPr anchor="t" rtlCol="false" tIns="0" lIns="0" bIns="0" rIns="0">
              <a:spAutoFit/>
            </a:bodyPr>
            <a:lstStyle/>
            <a:p>
              <a:pPr algn="l">
                <a:lnSpc>
                  <a:spcPts val="6744"/>
                </a:lnSpc>
              </a:pPr>
              <a:r>
                <a:rPr lang="en-US" b="true" sz="5620" spc="1124">
                  <a:solidFill>
                    <a:srgbClr val="FFFFFF"/>
                  </a:solidFill>
                  <a:latin typeface="Glacial Indifference Bold"/>
                  <a:ea typeface="Glacial Indifference Bold"/>
                  <a:cs typeface="Glacial Indifference Bold"/>
                  <a:sym typeface="Glacial Indifference Bold"/>
                </a:rPr>
                <a:t>THE </a:t>
              </a:r>
            </a:p>
            <a:p>
              <a:pPr algn="l">
                <a:lnSpc>
                  <a:spcPts val="6744"/>
                </a:lnSpc>
              </a:pPr>
              <a:r>
                <a:rPr lang="en-US" b="true" sz="5620" spc="1124">
                  <a:solidFill>
                    <a:srgbClr val="FFFFFF"/>
                  </a:solidFill>
                  <a:latin typeface="Glacial Indifference Bold"/>
                  <a:ea typeface="Glacial Indifference Bold"/>
                  <a:cs typeface="Glacial Indifference Bold"/>
                  <a:sym typeface="Glacial Indifference Bold"/>
                </a:rPr>
                <a:t>BLAC  LIST</a:t>
              </a:r>
            </a:p>
          </p:txBody>
        </p:sp>
        <p:sp>
          <p:nvSpPr>
            <p:cNvPr name="Freeform 69" id="69"/>
            <p:cNvSpPr/>
            <p:nvPr/>
          </p:nvSpPr>
          <p:spPr>
            <a:xfrm flipH="false" flipV="false" rot="0">
              <a:off x="5886741" y="1411495"/>
              <a:ext cx="559217" cy="559217"/>
            </a:xfrm>
            <a:custGeom>
              <a:avLst/>
              <a:gdLst/>
              <a:ahLst/>
              <a:cxnLst/>
              <a:rect r="r" b="b" t="t" l="l"/>
              <a:pathLst>
                <a:path h="559217" w="559217">
                  <a:moveTo>
                    <a:pt x="0" y="0"/>
                  </a:moveTo>
                  <a:lnTo>
                    <a:pt x="559217" y="0"/>
                  </a:lnTo>
                  <a:lnTo>
                    <a:pt x="559217" y="559217"/>
                  </a:lnTo>
                  <a:lnTo>
                    <a:pt x="0" y="559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0" id="70"/>
            <p:cNvSpPr/>
            <p:nvPr/>
          </p:nvSpPr>
          <p:spPr>
            <a:xfrm flipH="false" flipV="false" rot="0">
              <a:off x="5836578" y="1361332"/>
              <a:ext cx="659544" cy="659544"/>
            </a:xfrm>
            <a:custGeom>
              <a:avLst/>
              <a:gdLst/>
              <a:ahLst/>
              <a:cxnLst/>
              <a:rect r="r" b="b" t="t" l="l"/>
              <a:pathLst>
                <a:path h="659544" w="659544">
                  <a:moveTo>
                    <a:pt x="0" y="0"/>
                  </a:moveTo>
                  <a:lnTo>
                    <a:pt x="659543" y="0"/>
                  </a:lnTo>
                  <a:lnTo>
                    <a:pt x="659543" y="659543"/>
                  </a:lnTo>
                  <a:lnTo>
                    <a:pt x="0" y="6595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1" id="71"/>
            <p:cNvSpPr/>
            <p:nvPr/>
          </p:nvSpPr>
          <p:spPr>
            <a:xfrm flipH="false" flipV="false" rot="0">
              <a:off x="5918230" y="1442984"/>
              <a:ext cx="496240" cy="496240"/>
            </a:xfrm>
            <a:custGeom>
              <a:avLst/>
              <a:gdLst/>
              <a:ahLst/>
              <a:cxnLst/>
              <a:rect r="r" b="b" t="t" l="l"/>
              <a:pathLst>
                <a:path h="496240" w="496240">
                  <a:moveTo>
                    <a:pt x="0" y="0"/>
                  </a:moveTo>
                  <a:lnTo>
                    <a:pt x="496239" y="0"/>
                  </a:lnTo>
                  <a:lnTo>
                    <a:pt x="496239" y="496239"/>
                  </a:lnTo>
                  <a:lnTo>
                    <a:pt x="0" y="4962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2" id="72"/>
            <p:cNvSpPr/>
            <p:nvPr/>
          </p:nvSpPr>
          <p:spPr>
            <a:xfrm flipH="false" flipV="false" rot="0">
              <a:off x="5830053" y="1354807"/>
              <a:ext cx="672594" cy="672594"/>
            </a:xfrm>
            <a:custGeom>
              <a:avLst/>
              <a:gdLst/>
              <a:ahLst/>
              <a:cxnLst/>
              <a:rect r="r" b="b" t="t" l="l"/>
              <a:pathLst>
                <a:path h="672594" w="672594">
                  <a:moveTo>
                    <a:pt x="0" y="0"/>
                  </a:moveTo>
                  <a:lnTo>
                    <a:pt x="672593" y="0"/>
                  </a:lnTo>
                  <a:lnTo>
                    <a:pt x="672593" y="672593"/>
                  </a:lnTo>
                  <a:lnTo>
                    <a:pt x="0" y="6725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3" id="73"/>
            <p:cNvSpPr/>
            <p:nvPr/>
          </p:nvSpPr>
          <p:spPr>
            <a:xfrm flipH="false" flipV="false" rot="0">
              <a:off x="6059263" y="1584017"/>
              <a:ext cx="214173" cy="214173"/>
            </a:xfrm>
            <a:custGeom>
              <a:avLst/>
              <a:gdLst/>
              <a:ahLst/>
              <a:cxnLst/>
              <a:rect r="r" b="b" t="t" l="l"/>
              <a:pathLst>
                <a:path h="214173" w="214173">
                  <a:moveTo>
                    <a:pt x="0" y="0"/>
                  </a:moveTo>
                  <a:lnTo>
                    <a:pt x="214173" y="0"/>
                  </a:lnTo>
                  <a:lnTo>
                    <a:pt x="214173" y="214173"/>
                  </a:lnTo>
                  <a:lnTo>
                    <a:pt x="0" y="214173"/>
                  </a:lnTo>
                  <a:lnTo>
                    <a:pt x="0" y="0"/>
                  </a:lnTo>
                  <a:close/>
                </a:path>
              </a:pathLst>
            </a:custGeom>
            <a:blipFill>
              <a:blip r:embed="rId8"/>
              <a:stretch>
                <a:fillRect l="0" t="0" r="0" b="0"/>
              </a:stretch>
            </a:blipFill>
          </p:spPr>
        </p:sp>
        <p:grpSp>
          <p:nvGrpSpPr>
            <p:cNvPr name="Group 74" id="74"/>
            <p:cNvGrpSpPr/>
            <p:nvPr/>
          </p:nvGrpSpPr>
          <p:grpSpPr>
            <a:xfrm rot="-3023822">
              <a:off x="6403592" y="1765683"/>
              <a:ext cx="128526" cy="332044"/>
              <a:chOff x="0" y="0"/>
              <a:chExt cx="237482" cy="613533"/>
            </a:xfrm>
          </p:grpSpPr>
          <p:sp>
            <p:nvSpPr>
              <p:cNvPr name="Freeform 75" id="75"/>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76" id="76"/>
              <p:cNvSpPr txBox="true"/>
              <p:nvPr/>
            </p:nvSpPr>
            <p:spPr>
              <a:xfrm>
                <a:off x="0" y="-19050"/>
                <a:ext cx="237482" cy="632583"/>
              </a:xfrm>
              <a:prstGeom prst="rect">
                <a:avLst/>
              </a:prstGeom>
            </p:spPr>
            <p:txBody>
              <a:bodyPr anchor="ctr" rtlCol="false" tIns="6354" lIns="6354" bIns="6354" rIns="6354"/>
              <a:lstStyle/>
              <a:p>
                <a:pPr algn="ctr">
                  <a:lnSpc>
                    <a:spcPts val="717"/>
                  </a:lnSpc>
                </a:pPr>
              </a:p>
            </p:txBody>
          </p:sp>
        </p:grpSp>
      </p:grpSp>
      <p:sp>
        <p:nvSpPr>
          <p:cNvPr name="TextBox 77" id="77"/>
          <p:cNvSpPr txBox="true"/>
          <p:nvPr/>
        </p:nvSpPr>
        <p:spPr>
          <a:xfrm rot="0">
            <a:off x="1028700" y="893545"/>
            <a:ext cx="8240938" cy="628650"/>
          </a:xfrm>
          <a:prstGeom prst="rect">
            <a:avLst/>
          </a:prstGeom>
        </p:spPr>
        <p:txBody>
          <a:bodyPr anchor="t" rtlCol="false" tIns="0" lIns="0" bIns="0" rIns="0">
            <a:spAutoFit/>
          </a:bodyPr>
          <a:lstStyle/>
          <a:p>
            <a:pPr algn="l" marL="0" indent="0" lvl="0">
              <a:lnSpc>
                <a:spcPts val="4800"/>
              </a:lnSpc>
              <a:spcBef>
                <a:spcPct val="0"/>
              </a:spcBef>
            </a:pPr>
            <a:r>
              <a:rPr lang="en-US" b="true" sz="4000" spc="800" strike="noStrike" u="none">
                <a:solidFill>
                  <a:srgbClr val="FFFFFF"/>
                </a:solidFill>
                <a:latin typeface="Glacial Indifference Bold"/>
                <a:ea typeface="Glacial Indifference Bold"/>
                <a:cs typeface="Glacial Indifference Bold"/>
                <a:sym typeface="Glacial Indifference Bold"/>
              </a:rPr>
              <a:t>IMPROPER USE OF LOGO</a:t>
            </a:r>
          </a:p>
        </p:txBody>
      </p:sp>
      <p:sp>
        <p:nvSpPr>
          <p:cNvPr name="TextBox 78" id="78"/>
          <p:cNvSpPr txBox="true"/>
          <p:nvPr/>
        </p:nvSpPr>
        <p:spPr>
          <a:xfrm rot="0">
            <a:off x="1028700" y="1512670"/>
            <a:ext cx="5956784" cy="314325"/>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What Not to Do</a:t>
            </a:r>
          </a:p>
        </p:txBody>
      </p:sp>
      <p:sp>
        <p:nvSpPr>
          <p:cNvPr name="TextBox 79" id="79"/>
          <p:cNvSpPr txBox="true"/>
          <p:nvPr/>
        </p:nvSpPr>
        <p:spPr>
          <a:xfrm rot="0">
            <a:off x="1028700" y="2059561"/>
            <a:ext cx="8421981" cy="1495287"/>
          </a:xfrm>
          <a:prstGeom prst="rect">
            <a:avLst/>
          </a:prstGeom>
        </p:spPr>
        <p:txBody>
          <a:bodyPr anchor="t" rtlCol="false" tIns="0" lIns="0" bIns="0" rIns="0">
            <a:spAutoFit/>
          </a:bodyPr>
          <a:lstStyle/>
          <a:p>
            <a:pPr algn="just" marL="0" indent="0" lvl="0">
              <a:lnSpc>
                <a:spcPts val="3005"/>
              </a:lnSpc>
              <a:spcBef>
                <a:spcPct val="0"/>
              </a:spcBef>
            </a:pPr>
            <a:r>
              <a:rPr lang="en-US" sz="2003" strike="noStrike" u="none">
                <a:solidFill>
                  <a:srgbClr val="FFFFFF"/>
                </a:solidFill>
                <a:latin typeface="Quicksand"/>
                <a:ea typeface="Quicksand"/>
                <a:cs typeface="Quicksand"/>
                <a:sym typeface="Quicksand"/>
              </a:rPr>
              <a:t>The guidelines below will help ensure that your new brand assets remain consistent across all media. Please refer to this document whenever you are creating new printed material or merchandise. These simple rules apply to all brand assets showcased in this document.</a:t>
            </a:r>
          </a:p>
        </p:txBody>
      </p:sp>
      <p:sp>
        <p:nvSpPr>
          <p:cNvPr name="TextBox 80" id="80"/>
          <p:cNvSpPr txBox="true"/>
          <p:nvPr/>
        </p:nvSpPr>
        <p:spPr>
          <a:xfrm rot="0">
            <a:off x="1169785" y="6000306"/>
            <a:ext cx="2581271" cy="314634"/>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Clear Space  </a:t>
            </a:r>
          </a:p>
        </p:txBody>
      </p:sp>
      <p:sp>
        <p:nvSpPr>
          <p:cNvPr name="TextBox 81" id="81"/>
          <p:cNvSpPr txBox="true"/>
          <p:nvPr/>
        </p:nvSpPr>
        <p:spPr>
          <a:xfrm rot="0">
            <a:off x="1169785" y="6417797"/>
            <a:ext cx="2581271" cy="584252"/>
          </a:xfrm>
          <a:prstGeom prst="rect">
            <a:avLst/>
          </a:prstGeom>
        </p:spPr>
        <p:txBody>
          <a:bodyPr anchor="t" rtlCol="false" tIns="0" lIns="0" bIns="0" rIns="0">
            <a:spAutoFit/>
          </a:bodyPr>
          <a:lstStyle/>
          <a:p>
            <a:pPr algn="l">
              <a:lnSpc>
                <a:spcPts val="1517"/>
              </a:lnSpc>
            </a:pPr>
            <a:r>
              <a:rPr lang="en-US" sz="1472">
                <a:solidFill>
                  <a:srgbClr val="FFFFFF"/>
                </a:solidFill>
                <a:latin typeface="Quicksand"/>
                <a:ea typeface="Quicksand"/>
                <a:cs typeface="Quicksand"/>
                <a:sym typeface="Quicksand"/>
              </a:rPr>
              <a:t>As a design rule of thumb, </a:t>
            </a:r>
            <a:r>
              <a:rPr lang="en-US" sz="1472">
                <a:solidFill>
                  <a:srgbClr val="FFFFFF"/>
                </a:solidFill>
                <a:latin typeface="Quicksand"/>
                <a:ea typeface="Quicksand"/>
                <a:cs typeface="Quicksand"/>
                <a:sym typeface="Quicksand"/>
              </a:rPr>
              <a:t>keep a buffer of space around brand graphics.</a:t>
            </a:r>
          </a:p>
        </p:txBody>
      </p:sp>
      <p:grpSp>
        <p:nvGrpSpPr>
          <p:cNvPr name="Group 82" id="82"/>
          <p:cNvGrpSpPr/>
          <p:nvPr/>
        </p:nvGrpSpPr>
        <p:grpSpPr>
          <a:xfrm rot="0">
            <a:off x="7924075" y="6009831"/>
            <a:ext cx="2581271" cy="1003661"/>
            <a:chOff x="0" y="0"/>
            <a:chExt cx="3441694" cy="1338215"/>
          </a:xfrm>
        </p:grpSpPr>
        <p:sp>
          <p:nvSpPr>
            <p:cNvPr name="TextBox 83" id="83"/>
            <p:cNvSpPr txBox="true"/>
            <p:nvPr/>
          </p:nvSpPr>
          <p:spPr>
            <a:xfrm rot="0">
              <a:off x="0" y="-9525"/>
              <a:ext cx="3441694" cy="416337"/>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Obstruction</a:t>
              </a:r>
            </a:p>
          </p:txBody>
        </p:sp>
        <p:sp>
          <p:nvSpPr>
            <p:cNvPr name="TextBox 84" id="84"/>
            <p:cNvSpPr txBox="true"/>
            <p:nvPr/>
          </p:nvSpPr>
          <p:spPr>
            <a:xfrm rot="0">
              <a:off x="0" y="552862"/>
              <a:ext cx="3441694" cy="785352"/>
            </a:xfrm>
            <a:prstGeom prst="rect">
              <a:avLst/>
            </a:prstGeom>
          </p:spPr>
          <p:txBody>
            <a:bodyPr anchor="t" rtlCol="false" tIns="0" lIns="0" bIns="0" rIns="0">
              <a:spAutoFit/>
            </a:bodyPr>
            <a:lstStyle/>
            <a:p>
              <a:pPr algn="l" marL="0" indent="0" lvl="0">
                <a:lnSpc>
                  <a:spcPts val="1517"/>
                </a:lnSpc>
                <a:spcBef>
                  <a:spcPct val="0"/>
                </a:spcBef>
              </a:pPr>
              <a:r>
                <a:rPr lang="en-US" sz="1472" strike="noStrike" u="none">
                  <a:solidFill>
                    <a:srgbClr val="FFFFFF"/>
                  </a:solidFill>
                  <a:latin typeface="Quicksand"/>
                  <a:ea typeface="Quicksand"/>
                  <a:cs typeface="Quicksand"/>
                  <a:sym typeface="Quicksand"/>
                </a:rPr>
                <a:t>Never add-too or cover a brand graphic asset with another object.</a:t>
              </a:r>
            </a:p>
          </p:txBody>
        </p:sp>
      </p:grpSp>
      <p:grpSp>
        <p:nvGrpSpPr>
          <p:cNvPr name="Group 85" id="85"/>
          <p:cNvGrpSpPr/>
          <p:nvPr/>
        </p:nvGrpSpPr>
        <p:grpSpPr>
          <a:xfrm rot="0">
            <a:off x="14697079" y="6009831"/>
            <a:ext cx="2581271" cy="1003661"/>
            <a:chOff x="0" y="0"/>
            <a:chExt cx="3441694" cy="1338215"/>
          </a:xfrm>
        </p:grpSpPr>
        <p:sp>
          <p:nvSpPr>
            <p:cNvPr name="TextBox 86" id="86"/>
            <p:cNvSpPr txBox="true"/>
            <p:nvPr/>
          </p:nvSpPr>
          <p:spPr>
            <a:xfrm rot="0">
              <a:off x="0" y="-9525"/>
              <a:ext cx="3441694" cy="416337"/>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Transparency</a:t>
              </a:r>
            </a:p>
          </p:txBody>
        </p:sp>
        <p:sp>
          <p:nvSpPr>
            <p:cNvPr name="TextBox 87" id="87"/>
            <p:cNvSpPr txBox="true"/>
            <p:nvPr/>
          </p:nvSpPr>
          <p:spPr>
            <a:xfrm rot="0">
              <a:off x="0" y="552862"/>
              <a:ext cx="3441694" cy="785352"/>
            </a:xfrm>
            <a:prstGeom prst="rect">
              <a:avLst/>
            </a:prstGeom>
          </p:spPr>
          <p:txBody>
            <a:bodyPr anchor="t" rtlCol="false" tIns="0" lIns="0" bIns="0" rIns="0">
              <a:spAutoFit/>
            </a:bodyPr>
            <a:lstStyle/>
            <a:p>
              <a:pPr algn="l" marL="0" indent="0" lvl="0">
                <a:lnSpc>
                  <a:spcPts val="1517"/>
                </a:lnSpc>
                <a:spcBef>
                  <a:spcPct val="0"/>
                </a:spcBef>
              </a:pPr>
              <a:r>
                <a:rPr lang="en-US" sz="1472" strike="noStrike" u="none">
                  <a:solidFill>
                    <a:srgbClr val="FFFFFF"/>
                  </a:solidFill>
                  <a:latin typeface="Quicksand"/>
                  <a:ea typeface="Quicksand"/>
                  <a:cs typeface="Quicksand"/>
                  <a:sym typeface="Quicksand"/>
                </a:rPr>
                <a:t>Never apply transparency</a:t>
              </a:r>
            </a:p>
            <a:p>
              <a:pPr algn="l" marL="0" indent="0" lvl="0">
                <a:lnSpc>
                  <a:spcPts val="1517"/>
                </a:lnSpc>
                <a:spcBef>
                  <a:spcPct val="0"/>
                </a:spcBef>
              </a:pPr>
              <a:r>
                <a:rPr lang="en-US" sz="1472" strike="noStrike" u="none">
                  <a:solidFill>
                    <a:srgbClr val="FFFFFF"/>
                  </a:solidFill>
                  <a:latin typeface="Quicksand"/>
                  <a:ea typeface="Quicksand"/>
                  <a:cs typeface="Quicksand"/>
                  <a:sym typeface="Quicksand"/>
                </a:rPr>
                <a:t>to any unsanctioned brand asset.</a:t>
              </a:r>
            </a:p>
          </p:txBody>
        </p:sp>
      </p:grpSp>
      <p:grpSp>
        <p:nvGrpSpPr>
          <p:cNvPr name="Group 88" id="88"/>
          <p:cNvGrpSpPr/>
          <p:nvPr/>
        </p:nvGrpSpPr>
        <p:grpSpPr>
          <a:xfrm rot="0">
            <a:off x="4601736" y="8988645"/>
            <a:ext cx="2581271" cy="813161"/>
            <a:chOff x="0" y="0"/>
            <a:chExt cx="3441694" cy="1084215"/>
          </a:xfrm>
        </p:grpSpPr>
        <p:sp>
          <p:nvSpPr>
            <p:cNvPr name="TextBox 89" id="89"/>
            <p:cNvSpPr txBox="true"/>
            <p:nvPr/>
          </p:nvSpPr>
          <p:spPr>
            <a:xfrm rot="0">
              <a:off x="0" y="-9525"/>
              <a:ext cx="3441694" cy="416337"/>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Added Type</a:t>
              </a:r>
            </a:p>
          </p:txBody>
        </p:sp>
        <p:sp>
          <p:nvSpPr>
            <p:cNvPr name="TextBox 90" id="90"/>
            <p:cNvSpPr txBox="true"/>
            <p:nvPr/>
          </p:nvSpPr>
          <p:spPr>
            <a:xfrm rot="0">
              <a:off x="0" y="552862"/>
              <a:ext cx="3441694" cy="531352"/>
            </a:xfrm>
            <a:prstGeom prst="rect">
              <a:avLst/>
            </a:prstGeom>
          </p:spPr>
          <p:txBody>
            <a:bodyPr anchor="t" rtlCol="false" tIns="0" lIns="0" bIns="0" rIns="0">
              <a:spAutoFit/>
            </a:bodyPr>
            <a:lstStyle/>
            <a:p>
              <a:pPr algn="l" marL="0" indent="0" lvl="0">
                <a:lnSpc>
                  <a:spcPts val="1517"/>
                </a:lnSpc>
                <a:spcBef>
                  <a:spcPct val="0"/>
                </a:spcBef>
              </a:pPr>
              <a:r>
                <a:rPr lang="en-US" sz="1472" strike="noStrike" u="none">
                  <a:solidFill>
                    <a:srgbClr val="FFFFFF"/>
                  </a:solidFill>
                  <a:latin typeface="Quicksand"/>
                  <a:ea typeface="Quicksand"/>
                  <a:cs typeface="Quicksand"/>
                  <a:sym typeface="Quicksand"/>
                </a:rPr>
                <a:t>Never add any additional text to a brand asset.</a:t>
              </a:r>
            </a:p>
          </p:txBody>
        </p:sp>
      </p:grpSp>
      <p:grpSp>
        <p:nvGrpSpPr>
          <p:cNvPr name="Group 91" id="91"/>
          <p:cNvGrpSpPr/>
          <p:nvPr/>
        </p:nvGrpSpPr>
        <p:grpSpPr>
          <a:xfrm rot="0">
            <a:off x="7905025" y="8988645"/>
            <a:ext cx="2581271" cy="1003661"/>
            <a:chOff x="0" y="0"/>
            <a:chExt cx="3441694" cy="1338215"/>
          </a:xfrm>
        </p:grpSpPr>
        <p:sp>
          <p:nvSpPr>
            <p:cNvPr name="TextBox 92" id="92"/>
            <p:cNvSpPr txBox="true"/>
            <p:nvPr/>
          </p:nvSpPr>
          <p:spPr>
            <a:xfrm rot="0">
              <a:off x="0" y="-9525"/>
              <a:ext cx="3441694" cy="416337"/>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Alterations</a:t>
              </a:r>
            </a:p>
          </p:txBody>
        </p:sp>
        <p:sp>
          <p:nvSpPr>
            <p:cNvPr name="TextBox 93" id="93"/>
            <p:cNvSpPr txBox="true"/>
            <p:nvPr/>
          </p:nvSpPr>
          <p:spPr>
            <a:xfrm rot="0">
              <a:off x="0" y="552862"/>
              <a:ext cx="3441694" cy="785352"/>
            </a:xfrm>
            <a:prstGeom prst="rect">
              <a:avLst/>
            </a:prstGeom>
          </p:spPr>
          <p:txBody>
            <a:bodyPr anchor="t" rtlCol="false" tIns="0" lIns="0" bIns="0" rIns="0">
              <a:spAutoFit/>
            </a:bodyPr>
            <a:lstStyle/>
            <a:p>
              <a:pPr algn="l" marL="0" indent="0" lvl="0">
                <a:lnSpc>
                  <a:spcPts val="1517"/>
                </a:lnSpc>
                <a:spcBef>
                  <a:spcPct val="0"/>
                </a:spcBef>
              </a:pPr>
              <a:r>
                <a:rPr lang="en-US" sz="1472" strike="noStrike" u="none">
                  <a:solidFill>
                    <a:srgbClr val="FFFFFF"/>
                  </a:solidFill>
                  <a:latin typeface="Quicksand"/>
                  <a:ea typeface="Quicksand"/>
                  <a:cs typeface="Quicksand"/>
                  <a:sym typeface="Quicksand"/>
                </a:rPr>
                <a:t>Never alter existing brand assets by adding outlines or applying more color.</a:t>
              </a:r>
            </a:p>
          </p:txBody>
        </p:sp>
      </p:grpSp>
      <p:grpSp>
        <p:nvGrpSpPr>
          <p:cNvPr name="Group 94" id="94"/>
          <p:cNvGrpSpPr/>
          <p:nvPr/>
        </p:nvGrpSpPr>
        <p:grpSpPr>
          <a:xfrm rot="0">
            <a:off x="14678029" y="8988645"/>
            <a:ext cx="2581271" cy="1003661"/>
            <a:chOff x="0" y="0"/>
            <a:chExt cx="3441694" cy="1338215"/>
          </a:xfrm>
        </p:grpSpPr>
        <p:sp>
          <p:nvSpPr>
            <p:cNvPr name="TextBox 95" id="95"/>
            <p:cNvSpPr txBox="true"/>
            <p:nvPr/>
          </p:nvSpPr>
          <p:spPr>
            <a:xfrm rot="0">
              <a:off x="0" y="-9525"/>
              <a:ext cx="3441694" cy="416337"/>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Editing</a:t>
              </a:r>
            </a:p>
          </p:txBody>
        </p:sp>
        <p:sp>
          <p:nvSpPr>
            <p:cNvPr name="TextBox 96" id="96"/>
            <p:cNvSpPr txBox="true"/>
            <p:nvPr/>
          </p:nvSpPr>
          <p:spPr>
            <a:xfrm rot="0">
              <a:off x="0" y="552862"/>
              <a:ext cx="3441694" cy="785352"/>
            </a:xfrm>
            <a:prstGeom prst="rect">
              <a:avLst/>
            </a:prstGeom>
          </p:spPr>
          <p:txBody>
            <a:bodyPr anchor="t" rtlCol="false" tIns="0" lIns="0" bIns="0" rIns="0">
              <a:spAutoFit/>
            </a:bodyPr>
            <a:lstStyle/>
            <a:p>
              <a:pPr algn="l" marL="0" indent="0" lvl="0">
                <a:lnSpc>
                  <a:spcPts val="1517"/>
                </a:lnSpc>
                <a:spcBef>
                  <a:spcPct val="0"/>
                </a:spcBef>
              </a:pPr>
              <a:r>
                <a:rPr lang="en-US" sz="1472" strike="noStrike" u="none">
                  <a:solidFill>
                    <a:srgbClr val="FFFFFF"/>
                  </a:solidFill>
                  <a:latin typeface="Quicksand"/>
                  <a:ea typeface="Quicksand"/>
                  <a:cs typeface="Quicksand"/>
                  <a:sym typeface="Quicksand"/>
                </a:rPr>
                <a:t>Never delete or change any elements within a brand graphic.</a:t>
              </a:r>
            </a:p>
          </p:txBody>
        </p:sp>
      </p:grpSp>
      <p:grpSp>
        <p:nvGrpSpPr>
          <p:cNvPr name="Group 97" id="97"/>
          <p:cNvGrpSpPr/>
          <p:nvPr/>
        </p:nvGrpSpPr>
        <p:grpSpPr>
          <a:xfrm rot="0">
            <a:off x="1260816" y="8988645"/>
            <a:ext cx="2581271" cy="1003661"/>
            <a:chOff x="0" y="0"/>
            <a:chExt cx="3441694" cy="1338215"/>
          </a:xfrm>
        </p:grpSpPr>
        <p:sp>
          <p:nvSpPr>
            <p:cNvPr name="TextBox 98" id="98"/>
            <p:cNvSpPr txBox="true"/>
            <p:nvPr/>
          </p:nvSpPr>
          <p:spPr>
            <a:xfrm rot="0">
              <a:off x="0" y="-9525"/>
              <a:ext cx="3441694" cy="416337"/>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Distortion</a:t>
              </a:r>
            </a:p>
          </p:txBody>
        </p:sp>
        <p:sp>
          <p:nvSpPr>
            <p:cNvPr name="TextBox 99" id="99"/>
            <p:cNvSpPr txBox="true"/>
            <p:nvPr/>
          </p:nvSpPr>
          <p:spPr>
            <a:xfrm rot="0">
              <a:off x="0" y="552862"/>
              <a:ext cx="3441694" cy="785352"/>
            </a:xfrm>
            <a:prstGeom prst="rect">
              <a:avLst/>
            </a:prstGeom>
          </p:spPr>
          <p:txBody>
            <a:bodyPr anchor="t" rtlCol="false" tIns="0" lIns="0" bIns="0" rIns="0">
              <a:spAutoFit/>
            </a:bodyPr>
            <a:lstStyle/>
            <a:p>
              <a:pPr algn="l" marL="0" indent="0" lvl="0">
                <a:lnSpc>
                  <a:spcPts val="1517"/>
                </a:lnSpc>
                <a:spcBef>
                  <a:spcPct val="0"/>
                </a:spcBef>
              </a:pPr>
              <a:r>
                <a:rPr lang="en-US" sz="1472" strike="noStrike" u="none">
                  <a:solidFill>
                    <a:srgbClr val="FFFFFF"/>
                  </a:solidFill>
                  <a:latin typeface="Quicksand"/>
                  <a:ea typeface="Quicksand"/>
                  <a:cs typeface="Quicksand"/>
                  <a:sym typeface="Quicksand"/>
                </a:rPr>
                <a:t>Never distort any brand graphic asset. Size all brand assets proportioanately.</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989" r="-3979" b="-1989"/>
            </a:stretch>
          </a:blipFill>
        </p:spPr>
      </p:sp>
      <p:sp>
        <p:nvSpPr>
          <p:cNvPr name="Freeform 3" id="3"/>
          <p:cNvSpPr/>
          <p:nvPr/>
        </p:nvSpPr>
        <p:spPr>
          <a:xfrm flipH="false" flipV="false" rot="0">
            <a:off x="10888977" y="1028700"/>
            <a:ext cx="6855275" cy="7234043"/>
          </a:xfrm>
          <a:custGeom>
            <a:avLst/>
            <a:gdLst/>
            <a:ahLst/>
            <a:cxnLst/>
            <a:rect r="r" b="b" t="t" l="l"/>
            <a:pathLst>
              <a:path h="7234043" w="6855275">
                <a:moveTo>
                  <a:pt x="0" y="0"/>
                </a:moveTo>
                <a:lnTo>
                  <a:pt x="6855275" y="0"/>
                </a:lnTo>
                <a:lnTo>
                  <a:pt x="6855275" y="7234043"/>
                </a:lnTo>
                <a:lnTo>
                  <a:pt x="0" y="7234043"/>
                </a:lnTo>
                <a:lnTo>
                  <a:pt x="0" y="0"/>
                </a:lnTo>
                <a:close/>
              </a:path>
            </a:pathLst>
          </a:custGeom>
          <a:blipFill>
            <a:blip r:embed="rId3"/>
            <a:stretch>
              <a:fillRect l="-52786" t="-4213" r="-23142" b="-6862"/>
            </a:stretch>
          </a:blipFill>
        </p:spPr>
      </p:sp>
      <p:sp>
        <p:nvSpPr>
          <p:cNvPr name="TextBox 4" id="4"/>
          <p:cNvSpPr txBox="true"/>
          <p:nvPr/>
        </p:nvSpPr>
        <p:spPr>
          <a:xfrm rot="0">
            <a:off x="903062" y="704850"/>
            <a:ext cx="8769581" cy="628650"/>
          </a:xfrm>
          <a:prstGeom prst="rect">
            <a:avLst/>
          </a:prstGeom>
        </p:spPr>
        <p:txBody>
          <a:bodyPr anchor="t" rtlCol="false" tIns="0" lIns="0" bIns="0" rIns="0">
            <a:spAutoFit/>
          </a:bodyPr>
          <a:lstStyle/>
          <a:p>
            <a:pPr algn="l" marL="0" indent="0" lvl="0">
              <a:lnSpc>
                <a:spcPts val="4800"/>
              </a:lnSpc>
              <a:spcBef>
                <a:spcPct val="0"/>
              </a:spcBef>
            </a:pPr>
            <a:r>
              <a:rPr lang="en-US" b="true" sz="4000" spc="800" strike="noStrike" u="none">
                <a:solidFill>
                  <a:srgbClr val="FFFFFF"/>
                </a:solidFill>
                <a:latin typeface="Glacial Indifference Bold"/>
                <a:ea typeface="Glacial Indifference Bold"/>
                <a:cs typeface="Glacial Indifference Bold"/>
                <a:sym typeface="Glacial Indifference Bold"/>
              </a:rPr>
              <a:t>PRIMARY BRAND IMAGERY</a:t>
            </a:r>
          </a:p>
        </p:txBody>
      </p:sp>
      <p:sp>
        <p:nvSpPr>
          <p:cNvPr name="TextBox 5" id="5"/>
          <p:cNvSpPr txBox="true"/>
          <p:nvPr/>
        </p:nvSpPr>
        <p:spPr>
          <a:xfrm rot="0">
            <a:off x="903062" y="1323975"/>
            <a:ext cx="5956784" cy="314325"/>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Brand Voice and Imagery</a:t>
            </a:r>
          </a:p>
        </p:txBody>
      </p:sp>
      <p:sp>
        <p:nvSpPr>
          <p:cNvPr name="TextBox 6" id="6"/>
          <p:cNvSpPr txBox="true"/>
          <p:nvPr/>
        </p:nvSpPr>
        <p:spPr>
          <a:xfrm rot="0">
            <a:off x="903062" y="1979956"/>
            <a:ext cx="8623356" cy="1479065"/>
          </a:xfrm>
          <a:prstGeom prst="rect">
            <a:avLst/>
          </a:prstGeom>
        </p:spPr>
        <p:txBody>
          <a:bodyPr anchor="t" rtlCol="false" tIns="0" lIns="0" bIns="0" rIns="0">
            <a:spAutoFit/>
          </a:bodyPr>
          <a:lstStyle/>
          <a:p>
            <a:pPr algn="just" marL="0" indent="0" lvl="0">
              <a:lnSpc>
                <a:spcPts val="3005"/>
              </a:lnSpc>
              <a:spcBef>
                <a:spcPct val="0"/>
              </a:spcBef>
            </a:pPr>
            <a:r>
              <a:rPr lang="en-US" sz="2003" strike="noStrike" u="none">
                <a:solidFill>
                  <a:srgbClr val="FFFFFF"/>
                </a:solidFill>
                <a:latin typeface="Quicksand"/>
                <a:ea typeface="Quicksand"/>
                <a:cs typeface="Quicksand"/>
                <a:sym typeface="Quicksand"/>
              </a:rPr>
              <a:t>Brand Imagery is one tool within this Brand Identity kit that defines the aesthetic appearance of your brand's core messaging. Brand imagery is one visual story-telling component of The BLACQList Brand Identity, and must be adhered to in order to maintain the brand's integrity.</a:t>
            </a:r>
          </a:p>
        </p:txBody>
      </p:sp>
      <p:sp>
        <p:nvSpPr>
          <p:cNvPr name="TextBox 7" id="7"/>
          <p:cNvSpPr txBox="true"/>
          <p:nvPr/>
        </p:nvSpPr>
        <p:spPr>
          <a:xfrm rot="0">
            <a:off x="855437" y="7639523"/>
            <a:ext cx="9193353" cy="1618777"/>
          </a:xfrm>
          <a:prstGeom prst="rect">
            <a:avLst/>
          </a:prstGeom>
        </p:spPr>
        <p:txBody>
          <a:bodyPr anchor="t" rtlCol="false" tIns="0" lIns="0" bIns="0" rIns="0">
            <a:spAutoFit/>
          </a:bodyPr>
          <a:lstStyle/>
          <a:p>
            <a:pPr algn="l">
              <a:lnSpc>
                <a:spcPts val="13011"/>
              </a:lnSpc>
            </a:pPr>
            <a:r>
              <a:rPr lang="en-US" sz="9294" b="true">
                <a:solidFill>
                  <a:srgbClr val="FFFFFF">
                    <a:alpha val="34902"/>
                  </a:srgbClr>
                </a:solidFill>
                <a:latin typeface="Uberlin"/>
                <a:ea typeface="Uberlin"/>
                <a:cs typeface="Uberlin"/>
                <a:sym typeface="Uberlin"/>
              </a:rPr>
              <a:t>Imagery</a:t>
            </a:r>
          </a:p>
        </p:txBody>
      </p:sp>
      <p:grpSp>
        <p:nvGrpSpPr>
          <p:cNvPr name="Group 8" id="8"/>
          <p:cNvGrpSpPr/>
          <p:nvPr/>
        </p:nvGrpSpPr>
        <p:grpSpPr>
          <a:xfrm rot="0">
            <a:off x="10355708" y="8429229"/>
            <a:ext cx="7513683" cy="738447"/>
            <a:chOff x="0" y="0"/>
            <a:chExt cx="10018244" cy="984595"/>
          </a:xfrm>
        </p:grpSpPr>
        <p:sp>
          <p:nvSpPr>
            <p:cNvPr name="TextBox 9" id="9"/>
            <p:cNvSpPr txBox="true"/>
            <p:nvPr/>
          </p:nvSpPr>
          <p:spPr>
            <a:xfrm rot="0">
              <a:off x="0" y="0"/>
              <a:ext cx="10018244" cy="984595"/>
            </a:xfrm>
            <a:prstGeom prst="rect">
              <a:avLst/>
            </a:prstGeom>
          </p:spPr>
          <p:txBody>
            <a:bodyPr anchor="t" rtlCol="false" tIns="0" lIns="0" bIns="0" rIns="0">
              <a:spAutoFit/>
            </a:bodyPr>
            <a:lstStyle/>
            <a:p>
              <a:pPr algn="ctr">
                <a:lnSpc>
                  <a:spcPts val="5823"/>
                </a:lnSpc>
              </a:pPr>
              <a:r>
                <a:rPr lang="en-US" b="true" sz="4852" spc="970">
                  <a:solidFill>
                    <a:srgbClr val="FFFFFF"/>
                  </a:solidFill>
                  <a:latin typeface="Glacial Indifference Bold"/>
                  <a:ea typeface="Glacial Indifference Bold"/>
                  <a:cs typeface="Glacial Indifference Bold"/>
                  <a:sym typeface="Glacial Indifference Bold"/>
                </a:rPr>
                <a:t>THE BLAC  LIST</a:t>
              </a:r>
            </a:p>
          </p:txBody>
        </p:sp>
        <p:sp>
          <p:nvSpPr>
            <p:cNvPr name="Freeform 10" id="10"/>
            <p:cNvSpPr/>
            <p:nvPr/>
          </p:nvSpPr>
          <p:spPr>
            <a:xfrm flipH="false" flipV="false" rot="0">
              <a:off x="6106222" y="248932"/>
              <a:ext cx="482860" cy="482860"/>
            </a:xfrm>
            <a:custGeom>
              <a:avLst/>
              <a:gdLst/>
              <a:ahLst/>
              <a:cxnLst/>
              <a:rect r="r" b="b" t="t" l="l"/>
              <a:pathLst>
                <a:path h="482860" w="482860">
                  <a:moveTo>
                    <a:pt x="0" y="0"/>
                  </a:moveTo>
                  <a:lnTo>
                    <a:pt x="482860" y="0"/>
                  </a:lnTo>
                  <a:lnTo>
                    <a:pt x="482860" y="482860"/>
                  </a:lnTo>
                  <a:lnTo>
                    <a:pt x="0" y="482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6062908" y="205618"/>
              <a:ext cx="569488" cy="569488"/>
            </a:xfrm>
            <a:custGeom>
              <a:avLst/>
              <a:gdLst/>
              <a:ahLst/>
              <a:cxnLst/>
              <a:rect r="r" b="b" t="t" l="l"/>
              <a:pathLst>
                <a:path h="569488" w="569488">
                  <a:moveTo>
                    <a:pt x="0" y="0"/>
                  </a:moveTo>
                  <a:lnTo>
                    <a:pt x="569488" y="0"/>
                  </a:lnTo>
                  <a:lnTo>
                    <a:pt x="569488" y="569488"/>
                  </a:lnTo>
                  <a:lnTo>
                    <a:pt x="0" y="5694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133411" y="276121"/>
              <a:ext cx="428481" cy="428481"/>
            </a:xfrm>
            <a:custGeom>
              <a:avLst/>
              <a:gdLst/>
              <a:ahLst/>
              <a:cxnLst/>
              <a:rect r="r" b="b" t="t" l="l"/>
              <a:pathLst>
                <a:path h="428481" w="428481">
                  <a:moveTo>
                    <a:pt x="0" y="0"/>
                  </a:moveTo>
                  <a:lnTo>
                    <a:pt x="428482" y="0"/>
                  </a:lnTo>
                  <a:lnTo>
                    <a:pt x="428482" y="428481"/>
                  </a:lnTo>
                  <a:lnTo>
                    <a:pt x="0" y="428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6057274" y="199984"/>
              <a:ext cx="580756" cy="580756"/>
            </a:xfrm>
            <a:custGeom>
              <a:avLst/>
              <a:gdLst/>
              <a:ahLst/>
              <a:cxnLst/>
              <a:rect r="r" b="b" t="t" l="l"/>
              <a:pathLst>
                <a:path h="580756" w="580756">
                  <a:moveTo>
                    <a:pt x="0" y="0"/>
                  </a:moveTo>
                  <a:lnTo>
                    <a:pt x="580756" y="0"/>
                  </a:lnTo>
                  <a:lnTo>
                    <a:pt x="580756" y="580756"/>
                  </a:lnTo>
                  <a:lnTo>
                    <a:pt x="0" y="5807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255187" y="397897"/>
              <a:ext cx="184929" cy="184929"/>
            </a:xfrm>
            <a:custGeom>
              <a:avLst/>
              <a:gdLst/>
              <a:ahLst/>
              <a:cxnLst/>
              <a:rect r="r" b="b" t="t" l="l"/>
              <a:pathLst>
                <a:path h="184929" w="184929">
                  <a:moveTo>
                    <a:pt x="0" y="0"/>
                  </a:moveTo>
                  <a:lnTo>
                    <a:pt x="184930" y="0"/>
                  </a:lnTo>
                  <a:lnTo>
                    <a:pt x="184930" y="184929"/>
                  </a:lnTo>
                  <a:lnTo>
                    <a:pt x="0" y="184929"/>
                  </a:lnTo>
                  <a:lnTo>
                    <a:pt x="0" y="0"/>
                  </a:lnTo>
                  <a:close/>
                </a:path>
              </a:pathLst>
            </a:custGeom>
            <a:blipFill>
              <a:blip r:embed="rId6"/>
              <a:stretch>
                <a:fillRect l="0" t="0" r="0" b="0"/>
              </a:stretch>
            </a:blipFill>
            <a:ln cap="sq">
              <a:noFill/>
              <a:prstDash val="solid"/>
              <a:miter/>
            </a:ln>
          </p:spPr>
        </p:sp>
        <p:grpSp>
          <p:nvGrpSpPr>
            <p:cNvPr name="Group 15" id="15"/>
            <p:cNvGrpSpPr/>
            <p:nvPr/>
          </p:nvGrpSpPr>
          <p:grpSpPr>
            <a:xfrm rot="-3023822">
              <a:off x="6552500" y="554758"/>
              <a:ext cx="110976" cy="286706"/>
              <a:chOff x="0" y="0"/>
              <a:chExt cx="237482" cy="613533"/>
            </a:xfrm>
          </p:grpSpPr>
          <p:sp>
            <p:nvSpPr>
              <p:cNvPr name="Freeform 16" id="16"/>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17" id="17"/>
              <p:cNvSpPr txBox="true"/>
              <p:nvPr/>
            </p:nvSpPr>
            <p:spPr>
              <a:xfrm>
                <a:off x="0" y="-19050"/>
                <a:ext cx="237482" cy="632583"/>
              </a:xfrm>
              <a:prstGeom prst="rect">
                <a:avLst/>
              </a:prstGeom>
            </p:spPr>
            <p:txBody>
              <a:bodyPr anchor="ctr" rtlCol="false" tIns="15538" lIns="15538" bIns="15538" rIns="15538"/>
              <a:lstStyle/>
              <a:p>
                <a:pPr algn="ctr">
                  <a:lnSpc>
                    <a:spcPts val="717"/>
                  </a:lnSpc>
                </a:pPr>
              </a:p>
            </p:txBody>
          </p:sp>
        </p:gr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4739886" cy="6734162"/>
            <a:chOff x="0" y="0"/>
            <a:chExt cx="6319849" cy="8978883"/>
          </a:xfrm>
        </p:grpSpPr>
        <p:pic>
          <p:nvPicPr>
            <p:cNvPr name="Picture 3" id="3"/>
            <p:cNvPicPr>
              <a:picLocks noChangeAspect="true"/>
            </p:cNvPicPr>
            <p:nvPr/>
          </p:nvPicPr>
          <p:blipFill>
            <a:blip r:embed="rId2"/>
            <a:srcRect l="26552" t="0" r="26552" b="0"/>
            <a:stretch>
              <a:fillRect/>
            </a:stretch>
          </p:blipFill>
          <p:spPr>
            <a:xfrm flipH="false" flipV="false">
              <a:off x="0" y="0"/>
              <a:ext cx="6319849" cy="8978883"/>
            </a:xfrm>
            <a:prstGeom prst="rect">
              <a:avLst/>
            </a:prstGeom>
          </p:spPr>
        </p:pic>
      </p:grpSp>
      <p:grpSp>
        <p:nvGrpSpPr>
          <p:cNvPr name="Group 4" id="4"/>
          <p:cNvGrpSpPr/>
          <p:nvPr/>
        </p:nvGrpSpPr>
        <p:grpSpPr>
          <a:xfrm rot="0">
            <a:off x="0" y="6749838"/>
            <a:ext cx="4739886" cy="3537162"/>
            <a:chOff x="0" y="0"/>
            <a:chExt cx="6319849" cy="4716216"/>
          </a:xfrm>
        </p:grpSpPr>
        <p:pic>
          <p:nvPicPr>
            <p:cNvPr name="Picture 5" id="5"/>
            <p:cNvPicPr>
              <a:picLocks noChangeAspect="true"/>
            </p:cNvPicPr>
            <p:nvPr/>
          </p:nvPicPr>
          <p:blipFill>
            <a:blip r:embed="rId3"/>
            <a:srcRect l="5360" t="0" r="5360" b="0"/>
            <a:stretch>
              <a:fillRect/>
            </a:stretch>
          </p:blipFill>
          <p:spPr>
            <a:xfrm flipH="false" flipV="false">
              <a:off x="0" y="0"/>
              <a:ext cx="6319849" cy="4716216"/>
            </a:xfrm>
            <a:prstGeom prst="rect">
              <a:avLst/>
            </a:prstGeom>
          </p:spPr>
        </p:pic>
      </p:grpSp>
      <p:grpSp>
        <p:nvGrpSpPr>
          <p:cNvPr name="Group 6" id="6"/>
          <p:cNvGrpSpPr/>
          <p:nvPr/>
        </p:nvGrpSpPr>
        <p:grpSpPr>
          <a:xfrm rot="0">
            <a:off x="4739886" y="6749838"/>
            <a:ext cx="4275950" cy="3537162"/>
            <a:chOff x="0" y="0"/>
            <a:chExt cx="5701267" cy="4716216"/>
          </a:xfrm>
        </p:grpSpPr>
        <p:sp>
          <p:nvSpPr>
            <p:cNvPr name="AutoShape 7" id="7"/>
            <p:cNvSpPr/>
            <p:nvPr/>
          </p:nvSpPr>
          <p:spPr>
            <a:xfrm>
              <a:off x="0" y="0"/>
              <a:ext cx="5701267" cy="4716216"/>
            </a:xfrm>
            <a:prstGeom prst="rect">
              <a:avLst/>
            </a:prstGeom>
            <a:solidFill>
              <a:srgbClr val="E2A428"/>
            </a:solidFill>
          </p:spPr>
        </p:sp>
      </p:grpSp>
      <p:grpSp>
        <p:nvGrpSpPr>
          <p:cNvPr name="Group 8" id="8"/>
          <p:cNvGrpSpPr/>
          <p:nvPr/>
        </p:nvGrpSpPr>
        <p:grpSpPr>
          <a:xfrm rot="0">
            <a:off x="9015837" y="6749838"/>
            <a:ext cx="4444290" cy="3537162"/>
            <a:chOff x="0" y="0"/>
            <a:chExt cx="5925719" cy="4716216"/>
          </a:xfrm>
        </p:grpSpPr>
        <p:sp>
          <p:nvSpPr>
            <p:cNvPr name="AutoShape 9" id="9"/>
            <p:cNvSpPr/>
            <p:nvPr/>
          </p:nvSpPr>
          <p:spPr>
            <a:xfrm>
              <a:off x="0" y="0"/>
              <a:ext cx="5925719" cy="4716216"/>
            </a:xfrm>
            <a:prstGeom prst="rect">
              <a:avLst/>
            </a:prstGeom>
            <a:solidFill>
              <a:srgbClr val="FFFFFF"/>
            </a:solidFill>
          </p:spPr>
        </p:sp>
      </p:grpSp>
      <p:grpSp>
        <p:nvGrpSpPr>
          <p:cNvPr name="Group 10" id="10"/>
          <p:cNvGrpSpPr/>
          <p:nvPr/>
        </p:nvGrpSpPr>
        <p:grpSpPr>
          <a:xfrm rot="0">
            <a:off x="13460126" y="3525551"/>
            <a:ext cx="4827874" cy="6761449"/>
            <a:chOff x="0" y="0"/>
            <a:chExt cx="6437165" cy="9015265"/>
          </a:xfrm>
        </p:grpSpPr>
        <p:pic>
          <p:nvPicPr>
            <p:cNvPr name="Picture 11" id="11"/>
            <p:cNvPicPr>
              <a:picLocks noChangeAspect="true"/>
            </p:cNvPicPr>
            <p:nvPr/>
          </p:nvPicPr>
          <p:blipFill>
            <a:blip r:embed="rId4"/>
            <a:srcRect l="21600" t="0" r="30827" b="0"/>
            <a:stretch>
              <a:fillRect/>
            </a:stretch>
          </p:blipFill>
          <p:spPr>
            <a:xfrm flipH="false" flipV="false">
              <a:off x="0" y="0"/>
              <a:ext cx="6437165" cy="9015265"/>
            </a:xfrm>
            <a:prstGeom prst="rect">
              <a:avLst/>
            </a:prstGeom>
          </p:spPr>
        </p:pic>
      </p:grpSp>
      <p:grpSp>
        <p:nvGrpSpPr>
          <p:cNvPr name="Group 12" id="12"/>
          <p:cNvGrpSpPr/>
          <p:nvPr/>
        </p:nvGrpSpPr>
        <p:grpSpPr>
          <a:xfrm rot="0">
            <a:off x="13460126" y="0"/>
            <a:ext cx="4827874" cy="3525551"/>
            <a:chOff x="0" y="0"/>
            <a:chExt cx="6437165" cy="4700735"/>
          </a:xfrm>
        </p:grpSpPr>
        <p:pic>
          <p:nvPicPr>
            <p:cNvPr name="Picture 13" id="13"/>
            <p:cNvPicPr>
              <a:picLocks noChangeAspect="true"/>
            </p:cNvPicPr>
            <p:nvPr/>
          </p:nvPicPr>
          <p:blipFill>
            <a:blip r:embed="rId5"/>
            <a:srcRect l="0" t="7122" r="0" b="44224"/>
            <a:stretch>
              <a:fillRect/>
            </a:stretch>
          </p:blipFill>
          <p:spPr>
            <a:xfrm flipH="false" flipV="false">
              <a:off x="0" y="0"/>
              <a:ext cx="6437165" cy="4700735"/>
            </a:xfrm>
            <a:prstGeom prst="rect">
              <a:avLst/>
            </a:prstGeom>
          </p:spPr>
        </p:pic>
      </p:grpSp>
      <p:grpSp>
        <p:nvGrpSpPr>
          <p:cNvPr name="Group 14" id="14"/>
          <p:cNvGrpSpPr/>
          <p:nvPr/>
        </p:nvGrpSpPr>
        <p:grpSpPr>
          <a:xfrm rot="0">
            <a:off x="4739886" y="0"/>
            <a:ext cx="8720240" cy="4171950"/>
            <a:chOff x="0" y="0"/>
            <a:chExt cx="11626987" cy="5562600"/>
          </a:xfrm>
        </p:grpSpPr>
        <p:pic>
          <p:nvPicPr>
            <p:cNvPr name="Picture 15" id="15"/>
            <p:cNvPicPr>
              <a:picLocks noChangeAspect="true"/>
            </p:cNvPicPr>
            <p:nvPr/>
          </p:nvPicPr>
          <p:blipFill>
            <a:blip r:embed="rId6"/>
            <a:srcRect l="0" t="2197" r="0" b="25994"/>
            <a:stretch>
              <a:fillRect/>
            </a:stretch>
          </p:blipFill>
          <p:spPr>
            <a:xfrm flipH="false" flipV="false">
              <a:off x="0" y="0"/>
              <a:ext cx="11626987" cy="5562600"/>
            </a:xfrm>
            <a:prstGeom prst="rect">
              <a:avLst/>
            </a:prstGeom>
          </p:spPr>
        </p:pic>
      </p:grpSp>
      <p:sp>
        <p:nvSpPr>
          <p:cNvPr name="TextBox 16" id="16"/>
          <p:cNvSpPr txBox="true"/>
          <p:nvPr/>
        </p:nvSpPr>
        <p:spPr>
          <a:xfrm rot="0">
            <a:off x="10433302" y="7302475"/>
            <a:ext cx="1531293" cy="2508006"/>
          </a:xfrm>
          <a:prstGeom prst="rect">
            <a:avLst/>
          </a:prstGeom>
        </p:spPr>
        <p:txBody>
          <a:bodyPr anchor="t" rtlCol="false" tIns="0" lIns="0" bIns="0" rIns="0">
            <a:spAutoFit/>
          </a:bodyPr>
          <a:lstStyle/>
          <a:p>
            <a:pPr algn="ctr">
              <a:lnSpc>
                <a:spcPts val="4038"/>
              </a:lnSpc>
            </a:pPr>
            <a:r>
              <a:rPr lang="en-US" sz="2884">
                <a:solidFill>
                  <a:srgbClr val="000000"/>
                </a:solidFill>
                <a:latin typeface="Lato"/>
                <a:ea typeface="Lato"/>
                <a:cs typeface="Lato"/>
                <a:sym typeface="Lato"/>
              </a:rPr>
              <a:t>Coarse</a:t>
            </a:r>
          </a:p>
          <a:p>
            <a:pPr algn="ctr">
              <a:lnSpc>
                <a:spcPts val="4038"/>
              </a:lnSpc>
            </a:pPr>
            <a:r>
              <a:rPr lang="en-US" sz="2884">
                <a:solidFill>
                  <a:srgbClr val="000000"/>
                </a:solidFill>
                <a:latin typeface="Lato"/>
                <a:ea typeface="Lato"/>
                <a:cs typeface="Lato"/>
                <a:sym typeface="Lato"/>
              </a:rPr>
              <a:t>Dry</a:t>
            </a:r>
          </a:p>
          <a:p>
            <a:pPr algn="ctr">
              <a:lnSpc>
                <a:spcPts val="4038"/>
              </a:lnSpc>
            </a:pPr>
            <a:r>
              <a:rPr lang="en-US" sz="2884">
                <a:solidFill>
                  <a:srgbClr val="000000"/>
                </a:solidFill>
                <a:latin typeface="Lato"/>
                <a:ea typeface="Lato"/>
                <a:cs typeface="Lato"/>
                <a:sym typeface="Lato"/>
              </a:rPr>
              <a:t>Romantic</a:t>
            </a:r>
          </a:p>
          <a:p>
            <a:pPr algn="ctr">
              <a:lnSpc>
                <a:spcPts val="4038"/>
              </a:lnSpc>
            </a:pPr>
            <a:r>
              <a:rPr lang="en-US" sz="2884">
                <a:solidFill>
                  <a:srgbClr val="000000"/>
                </a:solidFill>
                <a:latin typeface="Lato"/>
                <a:ea typeface="Lato"/>
                <a:cs typeface="Lato"/>
                <a:sym typeface="Lato"/>
              </a:rPr>
              <a:t>Sarcastic</a:t>
            </a:r>
          </a:p>
          <a:p>
            <a:pPr algn="ctr">
              <a:lnSpc>
                <a:spcPts val="4038"/>
              </a:lnSpc>
            </a:pPr>
            <a:r>
              <a:rPr lang="en-US" sz="2884">
                <a:solidFill>
                  <a:srgbClr val="000000"/>
                </a:solidFill>
                <a:latin typeface="Lato"/>
                <a:ea typeface="Lato"/>
                <a:cs typeface="Lato"/>
                <a:sym typeface="Lato"/>
              </a:rPr>
              <a:t>Snarky</a:t>
            </a:r>
          </a:p>
        </p:txBody>
      </p:sp>
      <p:sp>
        <p:nvSpPr>
          <p:cNvPr name="AutoShape 17" id="17"/>
          <p:cNvSpPr/>
          <p:nvPr/>
        </p:nvSpPr>
        <p:spPr>
          <a:xfrm rot="2441070">
            <a:off x="8466490" y="8664202"/>
            <a:ext cx="5949587" cy="0"/>
          </a:xfrm>
          <a:prstGeom prst="line">
            <a:avLst/>
          </a:prstGeom>
          <a:ln cap="flat" w="76200">
            <a:solidFill>
              <a:srgbClr val="33A659"/>
            </a:solidFill>
            <a:prstDash val="solid"/>
            <a:headEnd type="none" len="sm" w="sm"/>
            <a:tailEnd type="none" len="sm" w="sm"/>
          </a:ln>
        </p:spPr>
      </p:sp>
      <p:sp>
        <p:nvSpPr>
          <p:cNvPr name="TextBox 18" id="18"/>
          <p:cNvSpPr txBox="true"/>
          <p:nvPr/>
        </p:nvSpPr>
        <p:spPr>
          <a:xfrm rot="0">
            <a:off x="5476845" y="4757731"/>
            <a:ext cx="7077983" cy="1381125"/>
          </a:xfrm>
          <a:prstGeom prst="rect">
            <a:avLst/>
          </a:prstGeom>
        </p:spPr>
        <p:txBody>
          <a:bodyPr anchor="t" rtlCol="false" tIns="0" lIns="0" bIns="0" rIns="0">
            <a:spAutoFit/>
          </a:bodyPr>
          <a:lstStyle/>
          <a:p>
            <a:pPr algn="ctr" marL="0" indent="0" lvl="0">
              <a:lnSpc>
                <a:spcPts val="5400"/>
              </a:lnSpc>
              <a:spcBef>
                <a:spcPct val="0"/>
              </a:spcBef>
            </a:pPr>
            <a:r>
              <a:rPr lang="en-US" b="true" sz="4500" spc="900" strike="noStrike" u="none">
                <a:solidFill>
                  <a:srgbClr val="FFFFFF"/>
                </a:solidFill>
                <a:latin typeface="Glacial Indifference Bold"/>
                <a:ea typeface="Glacial Indifference Bold"/>
                <a:cs typeface="Glacial Indifference Bold"/>
                <a:sym typeface="Glacial Indifference Bold"/>
              </a:rPr>
              <a:t>PRIMARY BRAND </a:t>
            </a:r>
          </a:p>
          <a:p>
            <a:pPr algn="ctr" marL="0" indent="0" lvl="0">
              <a:lnSpc>
                <a:spcPts val="5400"/>
              </a:lnSpc>
              <a:spcBef>
                <a:spcPct val="0"/>
              </a:spcBef>
            </a:pPr>
            <a:r>
              <a:rPr lang="en-US" b="true" sz="4500" spc="900" strike="noStrike" u="none">
                <a:solidFill>
                  <a:srgbClr val="FFFFFF"/>
                </a:solidFill>
                <a:latin typeface="Glacial Indifference Bold"/>
                <a:ea typeface="Glacial Indifference Bold"/>
                <a:cs typeface="Glacial Indifference Bold"/>
                <a:sym typeface="Glacial Indifference Bold"/>
              </a:rPr>
              <a:t>VOICE</a:t>
            </a:r>
          </a:p>
        </p:txBody>
      </p:sp>
      <p:sp>
        <p:nvSpPr>
          <p:cNvPr name="TextBox 19" id="19"/>
          <p:cNvSpPr txBox="true"/>
          <p:nvPr/>
        </p:nvSpPr>
        <p:spPr>
          <a:xfrm rot="0">
            <a:off x="5885483" y="7143399"/>
            <a:ext cx="2153096" cy="3236767"/>
          </a:xfrm>
          <a:prstGeom prst="rect">
            <a:avLst/>
          </a:prstGeom>
        </p:spPr>
        <p:txBody>
          <a:bodyPr anchor="t" rtlCol="false" tIns="0" lIns="0" bIns="0" rIns="0">
            <a:spAutoFit/>
          </a:bodyPr>
          <a:lstStyle/>
          <a:p>
            <a:pPr algn="ctr">
              <a:lnSpc>
                <a:spcPts val="4295"/>
              </a:lnSpc>
            </a:pPr>
            <a:r>
              <a:rPr lang="en-US" sz="3068">
                <a:solidFill>
                  <a:srgbClr val="FFFFFF"/>
                </a:solidFill>
                <a:latin typeface="Lato"/>
                <a:ea typeface="Lato"/>
                <a:cs typeface="Lato"/>
                <a:sym typeface="Lato"/>
              </a:rPr>
              <a:t>Empowering</a:t>
            </a:r>
          </a:p>
          <a:p>
            <a:pPr algn="ctr">
              <a:lnSpc>
                <a:spcPts val="4295"/>
              </a:lnSpc>
            </a:pPr>
            <a:r>
              <a:rPr lang="en-US" sz="3068">
                <a:solidFill>
                  <a:srgbClr val="FFFFFF"/>
                </a:solidFill>
                <a:latin typeface="Lato"/>
                <a:ea typeface="Lato"/>
                <a:cs typeface="Lato"/>
                <a:sym typeface="Lato"/>
              </a:rPr>
              <a:t>Informed</a:t>
            </a:r>
          </a:p>
          <a:p>
            <a:pPr algn="ctr">
              <a:lnSpc>
                <a:spcPts val="4295"/>
              </a:lnSpc>
            </a:pPr>
            <a:r>
              <a:rPr lang="en-US" sz="3068">
                <a:solidFill>
                  <a:srgbClr val="FFFFFF"/>
                </a:solidFill>
                <a:latin typeface="Lato"/>
                <a:ea typeface="Lato"/>
                <a:cs typeface="Lato"/>
                <a:sym typeface="Lato"/>
              </a:rPr>
              <a:t>Energetic</a:t>
            </a:r>
          </a:p>
          <a:p>
            <a:pPr algn="ctr">
              <a:lnSpc>
                <a:spcPts val="4295"/>
              </a:lnSpc>
            </a:pPr>
            <a:r>
              <a:rPr lang="en-US" sz="3068">
                <a:solidFill>
                  <a:srgbClr val="FFFFFF"/>
                </a:solidFill>
                <a:latin typeface="Lato"/>
                <a:ea typeface="Lato"/>
                <a:cs typeface="Lato"/>
                <a:sym typeface="Lato"/>
              </a:rPr>
              <a:t>Supportive</a:t>
            </a:r>
          </a:p>
          <a:p>
            <a:pPr algn="ctr">
              <a:lnSpc>
                <a:spcPts val="4295"/>
              </a:lnSpc>
            </a:pPr>
            <a:r>
              <a:rPr lang="en-US" sz="3068">
                <a:solidFill>
                  <a:srgbClr val="FFFFFF"/>
                </a:solidFill>
                <a:latin typeface="Lato"/>
                <a:ea typeface="Lato"/>
                <a:cs typeface="Lato"/>
                <a:sym typeface="Lato"/>
              </a:rPr>
              <a:t>Progressive</a:t>
            </a:r>
          </a:p>
          <a:p>
            <a:pPr algn="ctr">
              <a:lnSpc>
                <a:spcPts val="4295"/>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4739886" cy="6749838"/>
            <a:chOff x="0" y="0"/>
            <a:chExt cx="6319849" cy="8999784"/>
          </a:xfrm>
        </p:grpSpPr>
        <p:pic>
          <p:nvPicPr>
            <p:cNvPr name="Picture 3" id="3"/>
            <p:cNvPicPr>
              <a:picLocks noChangeAspect="true"/>
            </p:cNvPicPr>
            <p:nvPr/>
          </p:nvPicPr>
          <p:blipFill>
            <a:blip r:embed="rId2"/>
            <a:srcRect l="26563" t="0" r="26563" b="0"/>
            <a:stretch>
              <a:fillRect/>
            </a:stretch>
          </p:blipFill>
          <p:spPr>
            <a:xfrm flipH="false" flipV="false">
              <a:off x="0" y="0"/>
              <a:ext cx="6319849" cy="8999784"/>
            </a:xfrm>
            <a:prstGeom prst="rect">
              <a:avLst/>
            </a:prstGeom>
          </p:spPr>
        </p:pic>
      </p:grpSp>
      <p:grpSp>
        <p:nvGrpSpPr>
          <p:cNvPr name="Group 4" id="4"/>
          <p:cNvGrpSpPr/>
          <p:nvPr/>
        </p:nvGrpSpPr>
        <p:grpSpPr>
          <a:xfrm rot="0">
            <a:off x="0" y="6749838"/>
            <a:ext cx="4739886" cy="3537162"/>
            <a:chOff x="0" y="0"/>
            <a:chExt cx="6319849" cy="4716216"/>
          </a:xfrm>
        </p:grpSpPr>
        <p:pic>
          <p:nvPicPr>
            <p:cNvPr name="Picture 5" id="5"/>
            <p:cNvPicPr>
              <a:picLocks noChangeAspect="true"/>
            </p:cNvPicPr>
            <p:nvPr/>
          </p:nvPicPr>
          <p:blipFill>
            <a:blip r:embed="rId3"/>
            <a:srcRect l="5360" t="0" r="5360" b="0"/>
            <a:stretch>
              <a:fillRect/>
            </a:stretch>
          </p:blipFill>
          <p:spPr>
            <a:xfrm flipH="false" flipV="false">
              <a:off x="0" y="0"/>
              <a:ext cx="6319849" cy="4716216"/>
            </a:xfrm>
            <a:prstGeom prst="rect">
              <a:avLst/>
            </a:prstGeom>
          </p:spPr>
        </p:pic>
      </p:grpSp>
      <p:grpSp>
        <p:nvGrpSpPr>
          <p:cNvPr name="Group 6" id="6"/>
          <p:cNvGrpSpPr/>
          <p:nvPr/>
        </p:nvGrpSpPr>
        <p:grpSpPr>
          <a:xfrm rot="0">
            <a:off x="4739886" y="6749838"/>
            <a:ext cx="4444290" cy="3537162"/>
            <a:chOff x="0" y="0"/>
            <a:chExt cx="5925719" cy="4716216"/>
          </a:xfrm>
        </p:grpSpPr>
        <p:pic>
          <p:nvPicPr>
            <p:cNvPr name="Picture 7" id="7"/>
            <p:cNvPicPr>
              <a:picLocks noChangeAspect="true"/>
            </p:cNvPicPr>
            <p:nvPr/>
          </p:nvPicPr>
          <p:blipFill>
            <a:blip r:embed="rId4"/>
            <a:srcRect l="8144" t="0" r="8144" b="0"/>
            <a:stretch>
              <a:fillRect/>
            </a:stretch>
          </p:blipFill>
          <p:spPr>
            <a:xfrm flipH="false" flipV="false">
              <a:off x="0" y="0"/>
              <a:ext cx="5925719" cy="4716216"/>
            </a:xfrm>
            <a:prstGeom prst="rect">
              <a:avLst/>
            </a:prstGeom>
          </p:spPr>
        </p:pic>
      </p:grpSp>
      <p:grpSp>
        <p:nvGrpSpPr>
          <p:cNvPr name="Group 8" id="8"/>
          <p:cNvGrpSpPr/>
          <p:nvPr/>
        </p:nvGrpSpPr>
        <p:grpSpPr>
          <a:xfrm rot="0">
            <a:off x="9184176" y="6749838"/>
            <a:ext cx="4275950" cy="3537162"/>
            <a:chOff x="0" y="0"/>
            <a:chExt cx="5701267" cy="4716216"/>
          </a:xfrm>
        </p:grpSpPr>
        <p:pic>
          <p:nvPicPr>
            <p:cNvPr name="Picture 9" id="9"/>
            <p:cNvPicPr>
              <a:picLocks noChangeAspect="true"/>
            </p:cNvPicPr>
            <p:nvPr/>
          </p:nvPicPr>
          <p:blipFill>
            <a:blip r:embed="rId5"/>
            <a:srcRect l="9729" t="0" r="9729" b="0"/>
            <a:stretch>
              <a:fillRect/>
            </a:stretch>
          </p:blipFill>
          <p:spPr>
            <a:xfrm flipH="false" flipV="false">
              <a:off x="0" y="0"/>
              <a:ext cx="5701267" cy="4716216"/>
            </a:xfrm>
            <a:prstGeom prst="rect">
              <a:avLst/>
            </a:prstGeom>
          </p:spPr>
        </p:pic>
      </p:grpSp>
      <p:grpSp>
        <p:nvGrpSpPr>
          <p:cNvPr name="Group 10" id="10"/>
          <p:cNvGrpSpPr/>
          <p:nvPr/>
        </p:nvGrpSpPr>
        <p:grpSpPr>
          <a:xfrm rot="0">
            <a:off x="13460126" y="3708418"/>
            <a:ext cx="4827874" cy="6578582"/>
            <a:chOff x="0" y="0"/>
            <a:chExt cx="6437165" cy="8771442"/>
          </a:xfrm>
        </p:grpSpPr>
        <p:pic>
          <p:nvPicPr>
            <p:cNvPr name="Picture 11" id="11"/>
            <p:cNvPicPr>
              <a:picLocks noChangeAspect="true"/>
            </p:cNvPicPr>
            <p:nvPr/>
          </p:nvPicPr>
          <p:blipFill>
            <a:blip r:embed="rId6"/>
            <a:srcRect l="4132" t="0" r="4132" b="0"/>
            <a:stretch>
              <a:fillRect/>
            </a:stretch>
          </p:blipFill>
          <p:spPr>
            <a:xfrm flipH="false" flipV="false">
              <a:off x="0" y="0"/>
              <a:ext cx="6437165" cy="8771442"/>
            </a:xfrm>
            <a:prstGeom prst="rect">
              <a:avLst/>
            </a:prstGeom>
          </p:spPr>
        </p:pic>
      </p:grpSp>
      <p:grpSp>
        <p:nvGrpSpPr>
          <p:cNvPr name="Group 12" id="12"/>
          <p:cNvGrpSpPr/>
          <p:nvPr/>
        </p:nvGrpSpPr>
        <p:grpSpPr>
          <a:xfrm rot="0">
            <a:off x="13460126" y="0"/>
            <a:ext cx="4827874" cy="3708418"/>
            <a:chOff x="0" y="0"/>
            <a:chExt cx="6437165" cy="4944558"/>
          </a:xfrm>
        </p:grpSpPr>
        <p:pic>
          <p:nvPicPr>
            <p:cNvPr name="Picture 13" id="13"/>
            <p:cNvPicPr>
              <a:picLocks noChangeAspect="true"/>
            </p:cNvPicPr>
            <p:nvPr/>
          </p:nvPicPr>
          <p:blipFill>
            <a:blip r:embed="rId7"/>
            <a:srcRect l="11013" t="0" r="2249" b="0"/>
            <a:stretch>
              <a:fillRect/>
            </a:stretch>
          </p:blipFill>
          <p:spPr>
            <a:xfrm flipH="false" flipV="false">
              <a:off x="0" y="0"/>
              <a:ext cx="6437165" cy="4944558"/>
            </a:xfrm>
            <a:prstGeom prst="rect">
              <a:avLst/>
            </a:prstGeom>
          </p:spPr>
        </p:pic>
      </p:grpSp>
      <p:grpSp>
        <p:nvGrpSpPr>
          <p:cNvPr name="Group 14" id="14"/>
          <p:cNvGrpSpPr/>
          <p:nvPr/>
        </p:nvGrpSpPr>
        <p:grpSpPr>
          <a:xfrm rot="0">
            <a:off x="4739886" y="0"/>
            <a:ext cx="8720240" cy="3833282"/>
            <a:chOff x="0" y="0"/>
            <a:chExt cx="11626987" cy="5111043"/>
          </a:xfrm>
        </p:grpSpPr>
        <p:pic>
          <p:nvPicPr>
            <p:cNvPr name="Picture 15" id="15"/>
            <p:cNvPicPr>
              <a:picLocks noChangeAspect="true"/>
            </p:cNvPicPr>
            <p:nvPr/>
          </p:nvPicPr>
          <p:blipFill>
            <a:blip r:embed="rId8"/>
            <a:srcRect l="0" t="9372" r="0" b="12479"/>
            <a:stretch>
              <a:fillRect/>
            </a:stretch>
          </p:blipFill>
          <p:spPr>
            <a:xfrm flipH="false" flipV="false">
              <a:off x="0" y="0"/>
              <a:ext cx="11626987" cy="5111043"/>
            </a:xfrm>
            <a:prstGeom prst="rect">
              <a:avLst/>
            </a:prstGeom>
          </p:spPr>
        </p:pic>
      </p:grpSp>
      <p:sp>
        <p:nvSpPr>
          <p:cNvPr name="TextBox 16" id="16"/>
          <p:cNvSpPr txBox="true"/>
          <p:nvPr/>
        </p:nvSpPr>
        <p:spPr>
          <a:xfrm rot="0">
            <a:off x="5605009" y="4448175"/>
            <a:ext cx="7077983" cy="1381125"/>
          </a:xfrm>
          <a:prstGeom prst="rect">
            <a:avLst/>
          </a:prstGeom>
        </p:spPr>
        <p:txBody>
          <a:bodyPr anchor="t" rtlCol="false" tIns="0" lIns="0" bIns="0" rIns="0">
            <a:spAutoFit/>
          </a:bodyPr>
          <a:lstStyle/>
          <a:p>
            <a:pPr algn="ctr" marL="0" indent="0" lvl="0">
              <a:lnSpc>
                <a:spcPts val="5400"/>
              </a:lnSpc>
              <a:spcBef>
                <a:spcPct val="0"/>
              </a:spcBef>
            </a:pPr>
            <a:r>
              <a:rPr lang="en-US" b="true" sz="4500" spc="900" strike="noStrike" u="none">
                <a:solidFill>
                  <a:srgbClr val="FFFFFF"/>
                </a:solidFill>
                <a:latin typeface="Glacial Indifference Bold"/>
                <a:ea typeface="Glacial Indifference Bold"/>
                <a:cs typeface="Glacial Indifference Bold"/>
                <a:sym typeface="Glacial Indifference Bold"/>
              </a:rPr>
              <a:t>PRIMARY BRAND </a:t>
            </a:r>
          </a:p>
          <a:p>
            <a:pPr algn="ctr" marL="0" indent="0" lvl="0">
              <a:lnSpc>
                <a:spcPts val="5400"/>
              </a:lnSpc>
              <a:spcBef>
                <a:spcPct val="0"/>
              </a:spcBef>
            </a:pPr>
            <a:r>
              <a:rPr lang="en-US" b="true" sz="4500" spc="900" strike="noStrike" u="none">
                <a:solidFill>
                  <a:srgbClr val="FFFFFF"/>
                </a:solidFill>
                <a:latin typeface="Glacial Indifference Bold"/>
                <a:ea typeface="Glacial Indifference Bold"/>
                <a:cs typeface="Glacial Indifference Bold"/>
                <a:sym typeface="Glacial Indifference Bold"/>
              </a:rPr>
              <a:t>IMAGERY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6129938" y="761372"/>
            <a:ext cx="6028124" cy="1304925"/>
          </a:xfrm>
          <a:prstGeom prst="rect">
            <a:avLst/>
          </a:prstGeom>
        </p:spPr>
        <p:txBody>
          <a:bodyPr anchor="t" rtlCol="false" tIns="0" lIns="0" bIns="0" rIns="0">
            <a:spAutoFit/>
          </a:bodyPr>
          <a:lstStyle/>
          <a:p>
            <a:pPr algn="ctr" marL="0" indent="0" lvl="0">
              <a:lnSpc>
                <a:spcPts val="5111"/>
              </a:lnSpc>
              <a:spcBef>
                <a:spcPct val="0"/>
              </a:spcBef>
            </a:pPr>
            <a:r>
              <a:rPr lang="en-US" b="true" sz="4259" spc="851">
                <a:solidFill>
                  <a:srgbClr val="FFFFFF"/>
                </a:solidFill>
                <a:latin typeface="Glacial Indifference Bold"/>
                <a:ea typeface="Glacial Indifference Bold"/>
                <a:cs typeface="Glacial Indifference Bold"/>
                <a:sym typeface="Glacial Indifference Bold"/>
              </a:rPr>
              <a:t>CATEGORICAL</a:t>
            </a:r>
          </a:p>
          <a:p>
            <a:pPr algn="ctr" marL="0" indent="0" lvl="0">
              <a:lnSpc>
                <a:spcPts val="5111"/>
              </a:lnSpc>
              <a:spcBef>
                <a:spcPct val="0"/>
              </a:spcBef>
            </a:pPr>
            <a:r>
              <a:rPr lang="en-US" b="true" sz="4259" spc="851" strike="noStrike" u="none">
                <a:solidFill>
                  <a:srgbClr val="FFFFFF"/>
                </a:solidFill>
                <a:latin typeface="Glacial Indifference Bold"/>
                <a:ea typeface="Glacial Indifference Bold"/>
                <a:cs typeface="Glacial Indifference Bold"/>
                <a:sym typeface="Glacial Indifference Bold"/>
              </a:rPr>
              <a:t>ICONOGRAPHY</a:t>
            </a:r>
          </a:p>
        </p:txBody>
      </p:sp>
      <p:grpSp>
        <p:nvGrpSpPr>
          <p:cNvPr name="Group 3" id="3"/>
          <p:cNvGrpSpPr/>
          <p:nvPr/>
        </p:nvGrpSpPr>
        <p:grpSpPr>
          <a:xfrm rot="0">
            <a:off x="3314734" y="2856906"/>
            <a:ext cx="11658532" cy="6401394"/>
            <a:chOff x="0" y="0"/>
            <a:chExt cx="15544710" cy="8535191"/>
          </a:xfrm>
        </p:grpSpPr>
        <p:grpSp>
          <p:nvGrpSpPr>
            <p:cNvPr name="Group 4" id="4"/>
            <p:cNvGrpSpPr/>
            <p:nvPr/>
          </p:nvGrpSpPr>
          <p:grpSpPr>
            <a:xfrm rot="0">
              <a:off x="863867" y="0"/>
              <a:ext cx="3175802" cy="3175802"/>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2A428"/>
              </a:solidFill>
            </p:spPr>
          </p:sp>
        </p:grpSp>
        <p:sp>
          <p:nvSpPr>
            <p:cNvPr name="Freeform 6" id="6"/>
            <p:cNvSpPr/>
            <p:nvPr/>
          </p:nvSpPr>
          <p:spPr>
            <a:xfrm flipH="false" flipV="false" rot="0">
              <a:off x="1469743" y="605876"/>
              <a:ext cx="1964049" cy="1964049"/>
            </a:xfrm>
            <a:custGeom>
              <a:avLst/>
              <a:gdLst/>
              <a:ahLst/>
              <a:cxnLst/>
              <a:rect r="r" b="b" t="t" l="l"/>
              <a:pathLst>
                <a:path h="1964049" w="1964049">
                  <a:moveTo>
                    <a:pt x="0" y="0"/>
                  </a:moveTo>
                  <a:lnTo>
                    <a:pt x="1964049" y="0"/>
                  </a:lnTo>
                  <a:lnTo>
                    <a:pt x="1964049" y="1964049"/>
                  </a:lnTo>
                  <a:lnTo>
                    <a:pt x="0" y="19640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182405" y="0"/>
              <a:ext cx="3175802" cy="3175802"/>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2779"/>
              </a:solidFill>
            </p:spPr>
          </p:sp>
        </p:grpSp>
        <p:sp>
          <p:nvSpPr>
            <p:cNvPr name="Freeform 9" id="9"/>
            <p:cNvSpPr/>
            <p:nvPr/>
          </p:nvSpPr>
          <p:spPr>
            <a:xfrm flipH="false" flipV="false" rot="0">
              <a:off x="6791083" y="608678"/>
              <a:ext cx="1958445" cy="1958445"/>
            </a:xfrm>
            <a:custGeom>
              <a:avLst/>
              <a:gdLst/>
              <a:ahLst/>
              <a:cxnLst/>
              <a:rect r="r" b="b" t="t" l="l"/>
              <a:pathLst>
                <a:path h="1958445" w="1958445">
                  <a:moveTo>
                    <a:pt x="0" y="0"/>
                  </a:moveTo>
                  <a:lnTo>
                    <a:pt x="1958446" y="0"/>
                  </a:lnTo>
                  <a:lnTo>
                    <a:pt x="1958446" y="1958446"/>
                  </a:lnTo>
                  <a:lnTo>
                    <a:pt x="0" y="19584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1505041" y="0"/>
              <a:ext cx="3175802" cy="3175802"/>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0CCB5"/>
              </a:solidFill>
            </p:spPr>
          </p:sp>
        </p:grpSp>
        <p:sp>
          <p:nvSpPr>
            <p:cNvPr name="Freeform 12" id="12"/>
            <p:cNvSpPr/>
            <p:nvPr/>
          </p:nvSpPr>
          <p:spPr>
            <a:xfrm flipH="false" flipV="false" rot="0">
              <a:off x="12111127" y="808585"/>
              <a:ext cx="1963630" cy="1558631"/>
            </a:xfrm>
            <a:custGeom>
              <a:avLst/>
              <a:gdLst/>
              <a:ahLst/>
              <a:cxnLst/>
              <a:rect r="r" b="b" t="t" l="l"/>
              <a:pathLst>
                <a:path h="1558631" w="1963630">
                  <a:moveTo>
                    <a:pt x="0" y="0"/>
                  </a:moveTo>
                  <a:lnTo>
                    <a:pt x="1963630" y="0"/>
                  </a:lnTo>
                  <a:lnTo>
                    <a:pt x="1963630" y="1558631"/>
                  </a:lnTo>
                  <a:lnTo>
                    <a:pt x="0" y="15586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3" id="13"/>
            <p:cNvGrpSpPr/>
            <p:nvPr/>
          </p:nvGrpSpPr>
          <p:grpSpPr>
            <a:xfrm rot="0">
              <a:off x="863867" y="4490440"/>
              <a:ext cx="3175802" cy="3175802"/>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747FF"/>
              </a:solidFill>
            </p:spPr>
          </p:sp>
        </p:grpSp>
        <p:sp>
          <p:nvSpPr>
            <p:cNvPr name="Freeform 15" id="15"/>
            <p:cNvSpPr/>
            <p:nvPr/>
          </p:nvSpPr>
          <p:spPr>
            <a:xfrm flipH="false" flipV="false" rot="0">
              <a:off x="1475347" y="5101920"/>
              <a:ext cx="1952842" cy="1952842"/>
            </a:xfrm>
            <a:custGeom>
              <a:avLst/>
              <a:gdLst/>
              <a:ahLst/>
              <a:cxnLst/>
              <a:rect r="r" b="b" t="t" l="l"/>
              <a:pathLst>
                <a:path h="1952842" w="1952842">
                  <a:moveTo>
                    <a:pt x="0" y="0"/>
                  </a:moveTo>
                  <a:lnTo>
                    <a:pt x="1952842" y="0"/>
                  </a:lnTo>
                  <a:lnTo>
                    <a:pt x="1952842" y="1952842"/>
                  </a:lnTo>
                  <a:lnTo>
                    <a:pt x="0" y="19528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16" id="16"/>
            <p:cNvSpPr/>
            <p:nvPr/>
          </p:nvSpPr>
          <p:spPr>
            <a:xfrm flipV="true">
              <a:off x="2451768" y="5381399"/>
              <a:ext cx="641239" cy="553424"/>
            </a:xfrm>
            <a:prstGeom prst="line">
              <a:avLst/>
            </a:prstGeom>
            <a:ln cap="flat" w="152522">
              <a:solidFill>
                <a:srgbClr val="FFFFFF"/>
              </a:solidFill>
              <a:prstDash val="solid"/>
              <a:headEnd type="none" len="sm" w="sm"/>
              <a:tailEnd type="none" len="sm" w="sm"/>
            </a:ln>
          </p:spPr>
        </p:sp>
        <p:grpSp>
          <p:nvGrpSpPr>
            <p:cNvPr name="Group 17" id="17"/>
            <p:cNvGrpSpPr/>
            <p:nvPr/>
          </p:nvGrpSpPr>
          <p:grpSpPr>
            <a:xfrm rot="0">
              <a:off x="6093945" y="4401981"/>
              <a:ext cx="3264262" cy="3264262"/>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392F1"/>
              </a:solidFill>
            </p:spPr>
          </p:sp>
        </p:grpSp>
        <p:sp>
          <p:nvSpPr>
            <p:cNvPr name="Freeform 19" id="19"/>
            <p:cNvSpPr/>
            <p:nvPr/>
          </p:nvSpPr>
          <p:spPr>
            <a:xfrm flipH="false" flipV="false" rot="0">
              <a:off x="6774109" y="5018680"/>
              <a:ext cx="1903935" cy="2030864"/>
            </a:xfrm>
            <a:custGeom>
              <a:avLst/>
              <a:gdLst/>
              <a:ahLst/>
              <a:cxnLst/>
              <a:rect r="r" b="b" t="t" l="l"/>
              <a:pathLst>
                <a:path h="2030864" w="1903935">
                  <a:moveTo>
                    <a:pt x="0" y="0"/>
                  </a:moveTo>
                  <a:lnTo>
                    <a:pt x="1903935" y="0"/>
                  </a:lnTo>
                  <a:lnTo>
                    <a:pt x="1903935" y="2030863"/>
                  </a:lnTo>
                  <a:lnTo>
                    <a:pt x="0" y="203086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0" id="20"/>
            <p:cNvGrpSpPr/>
            <p:nvPr/>
          </p:nvGrpSpPr>
          <p:grpSpPr>
            <a:xfrm rot="0">
              <a:off x="11460811" y="4401981"/>
              <a:ext cx="3264262" cy="3264262"/>
              <a:chOff x="0" y="0"/>
              <a:chExt cx="6350000" cy="6350000"/>
            </a:xfrm>
          </p:grpSpPr>
          <p:sp>
            <p:nvSpPr>
              <p:cNvPr name="Freeform 21" id="2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1B1C4"/>
              </a:solidFill>
            </p:spPr>
          </p:sp>
        </p:grpSp>
        <p:sp>
          <p:nvSpPr>
            <p:cNvPr name="Freeform 22" id="22"/>
            <p:cNvSpPr/>
            <p:nvPr/>
          </p:nvSpPr>
          <p:spPr>
            <a:xfrm flipH="false" flipV="false" rot="0">
              <a:off x="12087243" y="5144068"/>
              <a:ext cx="2011398" cy="1780088"/>
            </a:xfrm>
            <a:custGeom>
              <a:avLst/>
              <a:gdLst/>
              <a:ahLst/>
              <a:cxnLst/>
              <a:rect r="r" b="b" t="t" l="l"/>
              <a:pathLst>
                <a:path h="1780088" w="2011398">
                  <a:moveTo>
                    <a:pt x="0" y="0"/>
                  </a:moveTo>
                  <a:lnTo>
                    <a:pt x="2011398" y="0"/>
                  </a:lnTo>
                  <a:lnTo>
                    <a:pt x="2011398" y="1780087"/>
                  </a:lnTo>
                  <a:lnTo>
                    <a:pt x="0" y="178008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3" id="23"/>
            <p:cNvSpPr txBox="true"/>
            <p:nvPr/>
          </p:nvSpPr>
          <p:spPr>
            <a:xfrm rot="0">
              <a:off x="0" y="3317458"/>
              <a:ext cx="4903536" cy="415925"/>
            </a:xfrm>
            <a:prstGeom prst="rect">
              <a:avLst/>
            </a:prstGeom>
          </p:spPr>
          <p:txBody>
            <a:bodyPr anchor="t" rtlCol="false" tIns="0" lIns="0" bIns="0" rIns="0">
              <a:spAutoFit/>
            </a:bodyPr>
            <a:lstStyle/>
            <a:p>
              <a:pPr algn="ctr" marL="0" indent="0" lvl="0">
                <a:lnSpc>
                  <a:spcPts val="2415"/>
                </a:lnSpc>
                <a:spcBef>
                  <a:spcPct val="0"/>
                </a:spcBef>
              </a:pPr>
              <a:r>
                <a:rPr lang="en-US" sz="2013" spc="402">
                  <a:solidFill>
                    <a:srgbClr val="FFFFFF"/>
                  </a:solidFill>
                  <a:latin typeface="Lato"/>
                  <a:ea typeface="Lato"/>
                  <a:cs typeface="Lato"/>
                  <a:sym typeface="Lato"/>
                </a:rPr>
                <a:t>Brick &amp; Mortar</a:t>
              </a:r>
            </a:p>
          </p:txBody>
        </p:sp>
        <p:sp>
          <p:nvSpPr>
            <p:cNvPr name="TextBox 24" id="24"/>
            <p:cNvSpPr txBox="true"/>
            <p:nvPr/>
          </p:nvSpPr>
          <p:spPr>
            <a:xfrm rot="0">
              <a:off x="5318538" y="3317458"/>
              <a:ext cx="4903536" cy="415925"/>
            </a:xfrm>
            <a:prstGeom prst="rect">
              <a:avLst/>
            </a:prstGeom>
          </p:spPr>
          <p:txBody>
            <a:bodyPr anchor="t" rtlCol="false" tIns="0" lIns="0" bIns="0" rIns="0">
              <a:spAutoFit/>
            </a:bodyPr>
            <a:lstStyle/>
            <a:p>
              <a:pPr algn="ctr" marL="0" indent="0" lvl="0">
                <a:lnSpc>
                  <a:spcPts val="2415"/>
                </a:lnSpc>
                <a:spcBef>
                  <a:spcPct val="0"/>
                </a:spcBef>
              </a:pPr>
              <a:r>
                <a:rPr lang="en-US" sz="2013" spc="402">
                  <a:solidFill>
                    <a:srgbClr val="FFFFFF"/>
                  </a:solidFill>
                  <a:latin typeface="Lato"/>
                  <a:ea typeface="Lato"/>
                  <a:cs typeface="Lato"/>
                  <a:sym typeface="Lato"/>
                </a:rPr>
                <a:t>Products &amp; Services</a:t>
              </a:r>
            </a:p>
          </p:txBody>
        </p:sp>
        <p:sp>
          <p:nvSpPr>
            <p:cNvPr name="TextBox 25" id="25"/>
            <p:cNvSpPr txBox="true"/>
            <p:nvPr/>
          </p:nvSpPr>
          <p:spPr>
            <a:xfrm rot="0">
              <a:off x="10641174" y="3317458"/>
              <a:ext cx="4903536" cy="415925"/>
            </a:xfrm>
            <a:prstGeom prst="rect">
              <a:avLst/>
            </a:prstGeom>
          </p:spPr>
          <p:txBody>
            <a:bodyPr anchor="t" rtlCol="false" tIns="0" lIns="0" bIns="0" rIns="0">
              <a:spAutoFit/>
            </a:bodyPr>
            <a:lstStyle/>
            <a:p>
              <a:pPr algn="ctr" marL="0" indent="0" lvl="0">
                <a:lnSpc>
                  <a:spcPts val="2415"/>
                </a:lnSpc>
                <a:spcBef>
                  <a:spcPct val="0"/>
                </a:spcBef>
              </a:pPr>
              <a:r>
                <a:rPr lang="en-US" sz="2013" spc="402">
                  <a:solidFill>
                    <a:srgbClr val="FFFFFF"/>
                  </a:solidFill>
                  <a:latin typeface="Lato"/>
                  <a:ea typeface="Lato"/>
                  <a:cs typeface="Lato"/>
                  <a:sym typeface="Lato"/>
                </a:rPr>
                <a:t>Professionals</a:t>
              </a:r>
            </a:p>
          </p:txBody>
        </p:sp>
        <p:sp>
          <p:nvSpPr>
            <p:cNvPr name="TextBox 26" id="26"/>
            <p:cNvSpPr txBox="true"/>
            <p:nvPr/>
          </p:nvSpPr>
          <p:spPr>
            <a:xfrm rot="0">
              <a:off x="0" y="8119266"/>
              <a:ext cx="4903536" cy="415925"/>
            </a:xfrm>
            <a:prstGeom prst="rect">
              <a:avLst/>
            </a:prstGeom>
          </p:spPr>
          <p:txBody>
            <a:bodyPr anchor="t" rtlCol="false" tIns="0" lIns="0" bIns="0" rIns="0">
              <a:spAutoFit/>
            </a:bodyPr>
            <a:lstStyle/>
            <a:p>
              <a:pPr algn="ctr" marL="0" indent="0" lvl="0">
                <a:lnSpc>
                  <a:spcPts val="2415"/>
                </a:lnSpc>
                <a:spcBef>
                  <a:spcPct val="0"/>
                </a:spcBef>
              </a:pPr>
              <a:r>
                <a:rPr lang="en-US" sz="2013" spc="402">
                  <a:solidFill>
                    <a:srgbClr val="FFFFFF"/>
                  </a:solidFill>
                  <a:latin typeface="Lato"/>
                  <a:ea typeface="Lato"/>
                  <a:cs typeface="Lato"/>
                  <a:sym typeface="Lato"/>
                </a:rPr>
                <a:t>Creatives</a:t>
              </a:r>
            </a:p>
          </p:txBody>
        </p:sp>
        <p:sp>
          <p:nvSpPr>
            <p:cNvPr name="TextBox 27" id="27"/>
            <p:cNvSpPr txBox="true"/>
            <p:nvPr/>
          </p:nvSpPr>
          <p:spPr>
            <a:xfrm rot="0">
              <a:off x="5274308" y="8119266"/>
              <a:ext cx="4903536" cy="415925"/>
            </a:xfrm>
            <a:prstGeom prst="rect">
              <a:avLst/>
            </a:prstGeom>
          </p:spPr>
          <p:txBody>
            <a:bodyPr anchor="t" rtlCol="false" tIns="0" lIns="0" bIns="0" rIns="0">
              <a:spAutoFit/>
            </a:bodyPr>
            <a:lstStyle/>
            <a:p>
              <a:pPr algn="ctr" marL="0" indent="0" lvl="0">
                <a:lnSpc>
                  <a:spcPts val="2415"/>
                </a:lnSpc>
                <a:spcBef>
                  <a:spcPct val="0"/>
                </a:spcBef>
              </a:pPr>
              <a:r>
                <a:rPr lang="en-US" sz="2013" spc="402">
                  <a:solidFill>
                    <a:srgbClr val="FFFFFF"/>
                  </a:solidFill>
                  <a:latin typeface="Lato"/>
                  <a:ea typeface="Lato"/>
                  <a:cs typeface="Lato"/>
                  <a:sym typeface="Lato"/>
                </a:rPr>
                <a:t>Events</a:t>
              </a:r>
            </a:p>
          </p:txBody>
        </p:sp>
        <p:sp>
          <p:nvSpPr>
            <p:cNvPr name="TextBox 28" id="28"/>
            <p:cNvSpPr txBox="true"/>
            <p:nvPr/>
          </p:nvSpPr>
          <p:spPr>
            <a:xfrm rot="0">
              <a:off x="10641174" y="8119266"/>
              <a:ext cx="4903536" cy="415925"/>
            </a:xfrm>
            <a:prstGeom prst="rect">
              <a:avLst/>
            </a:prstGeom>
          </p:spPr>
          <p:txBody>
            <a:bodyPr anchor="t" rtlCol="false" tIns="0" lIns="0" bIns="0" rIns="0">
              <a:spAutoFit/>
            </a:bodyPr>
            <a:lstStyle/>
            <a:p>
              <a:pPr algn="ctr" marL="0" indent="0" lvl="0">
                <a:lnSpc>
                  <a:spcPts val="2415"/>
                </a:lnSpc>
                <a:spcBef>
                  <a:spcPct val="0"/>
                </a:spcBef>
              </a:pPr>
              <a:r>
                <a:rPr lang="en-US" sz="2013" spc="402">
                  <a:solidFill>
                    <a:srgbClr val="FFFFFF"/>
                  </a:solidFill>
                  <a:latin typeface="Lato"/>
                  <a:ea typeface="Lato"/>
                  <a:cs typeface="Lato"/>
                  <a:sym typeface="Lato"/>
                </a:rPr>
                <a:t>Jobs</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903062" y="704850"/>
            <a:ext cx="8240938" cy="628650"/>
          </a:xfrm>
          <a:prstGeom prst="rect">
            <a:avLst/>
          </a:prstGeom>
        </p:spPr>
        <p:txBody>
          <a:bodyPr anchor="t" rtlCol="false" tIns="0" lIns="0" bIns="0" rIns="0">
            <a:spAutoFit/>
          </a:bodyPr>
          <a:lstStyle/>
          <a:p>
            <a:pPr algn="l" marL="0" indent="0" lvl="0">
              <a:lnSpc>
                <a:spcPts val="4800"/>
              </a:lnSpc>
              <a:spcBef>
                <a:spcPct val="0"/>
              </a:spcBef>
            </a:pPr>
            <a:r>
              <a:rPr lang="en-US" b="true" sz="4000" spc="800" strike="noStrike" u="none">
                <a:solidFill>
                  <a:srgbClr val="FFFFFF"/>
                </a:solidFill>
                <a:latin typeface="Glacial Indifference Bold"/>
                <a:ea typeface="Glacial Indifference Bold"/>
                <a:cs typeface="Glacial Indifference Bold"/>
                <a:sym typeface="Glacial Indifference Bold"/>
              </a:rPr>
              <a:t>DIGITAL PRESENCE</a:t>
            </a:r>
          </a:p>
        </p:txBody>
      </p:sp>
      <p:sp>
        <p:nvSpPr>
          <p:cNvPr name="TextBox 3" id="3"/>
          <p:cNvSpPr txBox="true"/>
          <p:nvPr/>
        </p:nvSpPr>
        <p:spPr>
          <a:xfrm rot="0">
            <a:off x="903062" y="1323975"/>
            <a:ext cx="5956784" cy="314325"/>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Hashtags, Music, &amp; Playlists</a:t>
            </a:r>
          </a:p>
        </p:txBody>
      </p:sp>
      <p:sp>
        <p:nvSpPr>
          <p:cNvPr name="TextBox 4" id="4"/>
          <p:cNvSpPr txBox="true"/>
          <p:nvPr/>
        </p:nvSpPr>
        <p:spPr>
          <a:xfrm rot="0">
            <a:off x="903062" y="2019400"/>
            <a:ext cx="8623356" cy="1952920"/>
          </a:xfrm>
          <a:prstGeom prst="rect">
            <a:avLst/>
          </a:prstGeom>
        </p:spPr>
        <p:txBody>
          <a:bodyPr anchor="t" rtlCol="false" tIns="0" lIns="0" bIns="0" rIns="0">
            <a:spAutoFit/>
          </a:bodyPr>
          <a:lstStyle/>
          <a:p>
            <a:pPr algn="just" marL="0" indent="0" lvl="0">
              <a:lnSpc>
                <a:spcPts val="3155"/>
              </a:lnSpc>
              <a:spcBef>
                <a:spcPct val="0"/>
              </a:spcBef>
            </a:pPr>
            <a:r>
              <a:rPr lang="en-US" sz="2103" strike="noStrike" u="none">
                <a:solidFill>
                  <a:srgbClr val="FFFFFF"/>
                </a:solidFill>
                <a:latin typeface="Quicksand"/>
                <a:ea typeface="Quicksand"/>
                <a:cs typeface="Quicksand"/>
                <a:sym typeface="Quicksand"/>
              </a:rPr>
              <a:t>Brand Imagery is one tool within your Brand Identity kit that defines the aesthetic appearance of your brand's core messaging. Brand imagery is one visual story-telling component of the E-22 Brand Identity, and must be adhered to in order to maintain the  brand's integrity.</a:t>
            </a:r>
          </a:p>
        </p:txBody>
      </p:sp>
      <p:sp>
        <p:nvSpPr>
          <p:cNvPr name="TextBox 5" id="5"/>
          <p:cNvSpPr txBox="true"/>
          <p:nvPr/>
        </p:nvSpPr>
        <p:spPr>
          <a:xfrm rot="0">
            <a:off x="855437" y="8083985"/>
            <a:ext cx="10966469" cy="929879"/>
          </a:xfrm>
          <a:prstGeom prst="rect">
            <a:avLst/>
          </a:prstGeom>
        </p:spPr>
        <p:txBody>
          <a:bodyPr anchor="t" rtlCol="false" tIns="0" lIns="0" bIns="0" rIns="0">
            <a:spAutoFit/>
          </a:bodyPr>
          <a:lstStyle/>
          <a:p>
            <a:pPr algn="l" marL="0" indent="0" lvl="0">
              <a:lnSpc>
                <a:spcPts val="7200"/>
              </a:lnSpc>
              <a:spcBef>
                <a:spcPct val="0"/>
              </a:spcBef>
            </a:pPr>
            <a:r>
              <a:rPr lang="en-US" b="true" sz="6000" spc="1200" strike="noStrike" u="none">
                <a:solidFill>
                  <a:srgbClr val="FFFFFF">
                    <a:alpha val="34902"/>
                  </a:srgbClr>
                </a:solidFill>
                <a:latin typeface="Glacial Indifference Bold"/>
                <a:ea typeface="Glacial Indifference Bold"/>
                <a:cs typeface="Glacial Indifference Bold"/>
                <a:sym typeface="Glacial Indifference Bold"/>
              </a:rPr>
              <a:t>DIGITAL PRESENCE</a:t>
            </a:r>
          </a:p>
        </p:txBody>
      </p:sp>
      <p:grpSp>
        <p:nvGrpSpPr>
          <p:cNvPr name="Group 6" id="6"/>
          <p:cNvGrpSpPr/>
          <p:nvPr/>
        </p:nvGrpSpPr>
        <p:grpSpPr>
          <a:xfrm rot="0">
            <a:off x="12840897" y="3764487"/>
            <a:ext cx="2476098" cy="2476098"/>
            <a:chOff x="0" y="0"/>
            <a:chExt cx="3301464" cy="3301464"/>
          </a:xfrm>
        </p:grpSpPr>
        <p:grpSp>
          <p:nvGrpSpPr>
            <p:cNvPr name="Group 7" id="7"/>
            <p:cNvGrpSpPr/>
            <p:nvPr/>
          </p:nvGrpSpPr>
          <p:grpSpPr>
            <a:xfrm rot="0">
              <a:off x="0" y="0"/>
              <a:ext cx="3301464" cy="330146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9" id="9"/>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10" id="10"/>
            <p:cNvSpPr/>
            <p:nvPr/>
          </p:nvSpPr>
          <p:spPr>
            <a:xfrm flipH="false" flipV="false" rot="0">
              <a:off x="825465" y="825465"/>
              <a:ext cx="1650533" cy="1650533"/>
            </a:xfrm>
            <a:custGeom>
              <a:avLst/>
              <a:gdLst/>
              <a:ahLst/>
              <a:cxnLst/>
              <a:rect r="r" b="b" t="t" l="l"/>
              <a:pathLst>
                <a:path h="1650533" w="1650533">
                  <a:moveTo>
                    <a:pt x="0" y="0"/>
                  </a:moveTo>
                  <a:lnTo>
                    <a:pt x="1650533" y="0"/>
                  </a:lnTo>
                  <a:lnTo>
                    <a:pt x="1650533" y="1650533"/>
                  </a:lnTo>
                  <a:lnTo>
                    <a:pt x="0" y="1650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918405" y="918405"/>
              <a:ext cx="1464654" cy="1464654"/>
            </a:xfrm>
            <a:custGeom>
              <a:avLst/>
              <a:gdLst/>
              <a:ahLst/>
              <a:cxnLst/>
              <a:rect r="r" b="b" t="t" l="l"/>
              <a:pathLst>
                <a:path h="1464654" w="1464654">
                  <a:moveTo>
                    <a:pt x="0" y="0"/>
                  </a:moveTo>
                  <a:lnTo>
                    <a:pt x="1464654" y="0"/>
                  </a:lnTo>
                  <a:lnTo>
                    <a:pt x="1464654" y="1464654"/>
                  </a:lnTo>
                  <a:lnTo>
                    <a:pt x="0" y="14646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58150" y="658150"/>
              <a:ext cx="1985164" cy="1985164"/>
            </a:xfrm>
            <a:custGeom>
              <a:avLst/>
              <a:gdLst/>
              <a:ahLst/>
              <a:cxnLst/>
              <a:rect r="r" b="b" t="t" l="l"/>
              <a:pathLst>
                <a:path h="1985164" w="1985164">
                  <a:moveTo>
                    <a:pt x="0" y="0"/>
                  </a:moveTo>
                  <a:lnTo>
                    <a:pt x="1985164" y="0"/>
                  </a:lnTo>
                  <a:lnTo>
                    <a:pt x="1985164" y="1985164"/>
                  </a:lnTo>
                  <a:lnTo>
                    <a:pt x="0" y="19851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677408" y="677408"/>
              <a:ext cx="1946647" cy="1946647"/>
            </a:xfrm>
            <a:custGeom>
              <a:avLst/>
              <a:gdLst/>
              <a:ahLst/>
              <a:cxnLst/>
              <a:rect r="r" b="b" t="t" l="l"/>
              <a:pathLst>
                <a:path h="1946647" w="1946647">
                  <a:moveTo>
                    <a:pt x="0" y="0"/>
                  </a:moveTo>
                  <a:lnTo>
                    <a:pt x="1946648" y="0"/>
                  </a:lnTo>
                  <a:lnTo>
                    <a:pt x="1946648" y="1946648"/>
                  </a:lnTo>
                  <a:lnTo>
                    <a:pt x="0" y="19466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3023822">
              <a:off x="2350954" y="1870854"/>
              <a:ext cx="379344" cy="980031"/>
              <a:chOff x="0" y="0"/>
              <a:chExt cx="237482" cy="613533"/>
            </a:xfrm>
          </p:grpSpPr>
          <p:sp>
            <p:nvSpPr>
              <p:cNvPr name="Freeform 15" id="15"/>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16" id="16"/>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17" id="17"/>
            <p:cNvSpPr/>
            <p:nvPr/>
          </p:nvSpPr>
          <p:spPr>
            <a:xfrm flipH="false" flipV="false" rot="0">
              <a:off x="1334287" y="1334287"/>
              <a:ext cx="632890" cy="632890"/>
            </a:xfrm>
            <a:custGeom>
              <a:avLst/>
              <a:gdLst/>
              <a:ahLst/>
              <a:cxnLst/>
              <a:rect r="r" b="b" t="t" l="l"/>
              <a:pathLst>
                <a:path h="632890" w="632890">
                  <a:moveTo>
                    <a:pt x="0" y="0"/>
                  </a:moveTo>
                  <a:lnTo>
                    <a:pt x="632890" y="0"/>
                  </a:lnTo>
                  <a:lnTo>
                    <a:pt x="632890" y="632890"/>
                  </a:lnTo>
                  <a:lnTo>
                    <a:pt x="0" y="632890"/>
                  </a:lnTo>
                  <a:lnTo>
                    <a:pt x="0" y="0"/>
                  </a:lnTo>
                  <a:close/>
                </a:path>
              </a:pathLst>
            </a:custGeom>
            <a:blipFill>
              <a:blip r:embed="rId4"/>
              <a:stretch>
                <a:fillRect l="0" t="0" r="0" b="0"/>
              </a:stretch>
            </a:blipFill>
            <a:ln cap="sq">
              <a:noFill/>
              <a:prstDash val="solid"/>
              <a:miter/>
            </a:ln>
          </p:spPr>
        </p:sp>
      </p:grpSp>
      <p:grpSp>
        <p:nvGrpSpPr>
          <p:cNvPr name="Group 18" id="18"/>
          <p:cNvGrpSpPr/>
          <p:nvPr/>
        </p:nvGrpSpPr>
        <p:grpSpPr>
          <a:xfrm rot="0">
            <a:off x="10177657" y="6266279"/>
            <a:ext cx="7802578" cy="766839"/>
            <a:chOff x="0" y="0"/>
            <a:chExt cx="10403437" cy="1022452"/>
          </a:xfrm>
        </p:grpSpPr>
        <p:sp>
          <p:nvSpPr>
            <p:cNvPr name="TextBox 19" id="19"/>
            <p:cNvSpPr txBox="true"/>
            <p:nvPr/>
          </p:nvSpPr>
          <p:spPr>
            <a:xfrm rot="0">
              <a:off x="0" y="-9525"/>
              <a:ext cx="10403437" cy="1031977"/>
            </a:xfrm>
            <a:prstGeom prst="rect">
              <a:avLst/>
            </a:prstGeom>
          </p:spPr>
          <p:txBody>
            <a:bodyPr anchor="t" rtlCol="false" tIns="0" lIns="0" bIns="0" rIns="0">
              <a:spAutoFit/>
            </a:bodyPr>
            <a:lstStyle/>
            <a:p>
              <a:pPr algn="ctr">
                <a:lnSpc>
                  <a:spcPts val="6047"/>
                </a:lnSpc>
              </a:pPr>
              <a:r>
                <a:rPr lang="en-US" b="true" sz="5039" spc="1007">
                  <a:solidFill>
                    <a:srgbClr val="FFFFFF"/>
                  </a:solidFill>
                  <a:latin typeface="Glacial Indifference Bold"/>
                  <a:ea typeface="Glacial Indifference Bold"/>
                  <a:cs typeface="Glacial Indifference Bold"/>
                  <a:sym typeface="Glacial Indifference Bold"/>
                </a:rPr>
                <a:t>THE BLAC  LIST</a:t>
              </a:r>
            </a:p>
          </p:txBody>
        </p:sp>
        <p:sp>
          <p:nvSpPr>
            <p:cNvPr name="Freeform 20" id="20"/>
            <p:cNvSpPr/>
            <p:nvPr/>
          </p:nvSpPr>
          <p:spPr>
            <a:xfrm flipH="false" flipV="false" rot="0">
              <a:off x="6341001" y="258503"/>
              <a:ext cx="501425" cy="501425"/>
            </a:xfrm>
            <a:custGeom>
              <a:avLst/>
              <a:gdLst/>
              <a:ahLst/>
              <a:cxnLst/>
              <a:rect r="r" b="b" t="t" l="l"/>
              <a:pathLst>
                <a:path h="501425" w="501425">
                  <a:moveTo>
                    <a:pt x="0" y="0"/>
                  </a:moveTo>
                  <a:lnTo>
                    <a:pt x="501425" y="0"/>
                  </a:lnTo>
                  <a:lnTo>
                    <a:pt x="501425" y="501425"/>
                  </a:lnTo>
                  <a:lnTo>
                    <a:pt x="0" y="5014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6296022" y="213524"/>
              <a:ext cx="591384" cy="591384"/>
            </a:xfrm>
            <a:custGeom>
              <a:avLst/>
              <a:gdLst/>
              <a:ahLst/>
              <a:cxnLst/>
              <a:rect r="r" b="b" t="t" l="l"/>
              <a:pathLst>
                <a:path h="591384" w="591384">
                  <a:moveTo>
                    <a:pt x="0" y="0"/>
                  </a:moveTo>
                  <a:lnTo>
                    <a:pt x="591383" y="0"/>
                  </a:lnTo>
                  <a:lnTo>
                    <a:pt x="591383" y="591384"/>
                  </a:lnTo>
                  <a:lnTo>
                    <a:pt x="0" y="5913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0">
              <a:off x="6369235" y="286738"/>
              <a:ext cx="444956" cy="444956"/>
            </a:xfrm>
            <a:custGeom>
              <a:avLst/>
              <a:gdLst/>
              <a:ahLst/>
              <a:cxnLst/>
              <a:rect r="r" b="b" t="t" l="l"/>
              <a:pathLst>
                <a:path h="444956" w="444956">
                  <a:moveTo>
                    <a:pt x="0" y="0"/>
                  </a:moveTo>
                  <a:lnTo>
                    <a:pt x="444957" y="0"/>
                  </a:lnTo>
                  <a:lnTo>
                    <a:pt x="444957" y="444956"/>
                  </a:lnTo>
                  <a:lnTo>
                    <a:pt x="0" y="4449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0">
              <a:off x="6290171" y="207673"/>
              <a:ext cx="603085" cy="603085"/>
            </a:xfrm>
            <a:custGeom>
              <a:avLst/>
              <a:gdLst/>
              <a:ahLst/>
              <a:cxnLst/>
              <a:rect r="r" b="b" t="t" l="l"/>
              <a:pathLst>
                <a:path h="603085" w="603085">
                  <a:moveTo>
                    <a:pt x="0" y="0"/>
                  </a:moveTo>
                  <a:lnTo>
                    <a:pt x="603085" y="0"/>
                  </a:lnTo>
                  <a:lnTo>
                    <a:pt x="603085" y="603085"/>
                  </a:lnTo>
                  <a:lnTo>
                    <a:pt x="0" y="6030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6495694" y="413196"/>
              <a:ext cx="192040" cy="192040"/>
            </a:xfrm>
            <a:custGeom>
              <a:avLst/>
              <a:gdLst/>
              <a:ahLst/>
              <a:cxnLst/>
              <a:rect r="r" b="b" t="t" l="l"/>
              <a:pathLst>
                <a:path h="192040" w="192040">
                  <a:moveTo>
                    <a:pt x="0" y="0"/>
                  </a:moveTo>
                  <a:lnTo>
                    <a:pt x="192039" y="0"/>
                  </a:lnTo>
                  <a:lnTo>
                    <a:pt x="192039" y="192040"/>
                  </a:lnTo>
                  <a:lnTo>
                    <a:pt x="0" y="192040"/>
                  </a:lnTo>
                  <a:lnTo>
                    <a:pt x="0" y="0"/>
                  </a:lnTo>
                  <a:close/>
                </a:path>
              </a:pathLst>
            </a:custGeom>
            <a:blipFill>
              <a:blip r:embed="rId4"/>
              <a:stretch>
                <a:fillRect l="0" t="0" r="0" b="0"/>
              </a:stretch>
            </a:blipFill>
            <a:ln cap="sq">
              <a:noFill/>
              <a:prstDash val="solid"/>
              <a:miter/>
            </a:ln>
          </p:spPr>
        </p:sp>
        <p:grpSp>
          <p:nvGrpSpPr>
            <p:cNvPr name="Group 25" id="25"/>
            <p:cNvGrpSpPr/>
            <p:nvPr/>
          </p:nvGrpSpPr>
          <p:grpSpPr>
            <a:xfrm rot="-3023822">
              <a:off x="6804438" y="576088"/>
              <a:ext cx="115243" cy="297729"/>
              <a:chOff x="0" y="0"/>
              <a:chExt cx="237482" cy="613533"/>
            </a:xfrm>
          </p:grpSpPr>
          <p:sp>
            <p:nvSpPr>
              <p:cNvPr name="Freeform 26" id="26"/>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27" id="27"/>
              <p:cNvSpPr txBox="true"/>
              <p:nvPr/>
            </p:nvSpPr>
            <p:spPr>
              <a:xfrm>
                <a:off x="0" y="-19050"/>
                <a:ext cx="237482" cy="632583"/>
              </a:xfrm>
              <a:prstGeom prst="rect">
                <a:avLst/>
              </a:prstGeom>
            </p:spPr>
            <p:txBody>
              <a:bodyPr anchor="ctr" rtlCol="false" tIns="15538" lIns="15538" bIns="15538" rIns="15538"/>
              <a:lstStyle/>
              <a:p>
                <a:pPr algn="ctr">
                  <a:lnSpc>
                    <a:spcPts val="717"/>
                  </a:lnSpc>
                </a:pPr>
              </a:p>
            </p:txBody>
          </p:sp>
        </p:grpSp>
      </p:grpSp>
      <p:sp>
        <p:nvSpPr>
          <p:cNvPr name="TextBox 28" id="28"/>
          <p:cNvSpPr txBox="true"/>
          <p:nvPr/>
        </p:nvSpPr>
        <p:spPr>
          <a:xfrm rot="0">
            <a:off x="12008022" y="7273061"/>
            <a:ext cx="4141848" cy="399770"/>
          </a:xfrm>
          <a:prstGeom prst="rect">
            <a:avLst/>
          </a:prstGeom>
        </p:spPr>
        <p:txBody>
          <a:bodyPr anchor="t" rtlCol="false" tIns="0" lIns="0" bIns="0" rIns="0">
            <a:spAutoFit/>
          </a:bodyPr>
          <a:lstStyle/>
          <a:p>
            <a:pPr algn="ctr">
              <a:lnSpc>
                <a:spcPts val="3164"/>
              </a:lnSpc>
            </a:pPr>
            <a:r>
              <a:rPr lang="en-US" sz="2637" spc="527">
                <a:solidFill>
                  <a:srgbClr val="FFFFFF"/>
                </a:solidFill>
                <a:latin typeface="Lato"/>
                <a:ea typeface="Lato"/>
                <a:cs typeface="Lato"/>
                <a:sym typeface="Lato"/>
              </a:rPr>
              <a:t>Find and Be Found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254146" y="4222829"/>
          <a:ext cx="15779709" cy="5036799"/>
        </p:xfrm>
        <a:graphic>
          <a:graphicData uri="http://schemas.openxmlformats.org/drawingml/2006/table">
            <a:tbl>
              <a:tblPr/>
              <a:tblGrid>
                <a:gridCol w="3955002"/>
                <a:gridCol w="11824707"/>
              </a:tblGrid>
              <a:tr h="721217">
                <a:tc>
                  <a:txBody>
                    <a:bodyPr anchor="t" rtlCol="false"/>
                    <a:lstStyle/>
                    <a:p>
                      <a:pPr algn="ctr">
                        <a:lnSpc>
                          <a:spcPts val="2090"/>
                        </a:lnSpc>
                        <a:defRPr/>
                      </a:pPr>
                      <a:r>
                        <a:rPr lang="en-US" sz="1493" spc="128">
                          <a:solidFill>
                            <a:srgbClr val="19191E"/>
                          </a:solidFill>
                          <a:latin typeface="Lato"/>
                          <a:ea typeface="Lato"/>
                          <a:cs typeface="Lato"/>
                          <a:sym typeface="Lato"/>
                        </a:rPr>
                        <a:t>PLATFORM</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E2A428"/>
                    </a:solidFill>
                  </a:tcPr>
                </a:tc>
                <a:tc>
                  <a:txBody>
                    <a:bodyPr anchor="t" rtlCol="false"/>
                    <a:lstStyle/>
                    <a:p>
                      <a:pPr algn="ctr">
                        <a:lnSpc>
                          <a:spcPts val="1882"/>
                        </a:lnSpc>
                        <a:defRPr/>
                      </a:pPr>
                      <a:r>
                        <a:rPr lang="en-US" sz="1793">
                          <a:solidFill>
                            <a:srgbClr val="19191E"/>
                          </a:solidFill>
                          <a:latin typeface="Lato"/>
                          <a:ea typeface="Lato"/>
                          <a:cs typeface="Lato"/>
                          <a:sym typeface="Lato"/>
                        </a:rPr>
                        <a:t>Instagram</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E2A428"/>
                    </a:solidFill>
                  </a:tcPr>
                </a:tc>
              </a:tr>
              <a:tr h="955125">
                <a:tc>
                  <a:txBody>
                    <a:bodyPr anchor="t" rtlCol="false"/>
                    <a:lstStyle/>
                    <a:p>
                      <a:pPr algn="ctr">
                        <a:lnSpc>
                          <a:spcPts val="2090"/>
                        </a:lnSpc>
                        <a:defRPr/>
                      </a:pPr>
                      <a:r>
                        <a:rPr lang="en-US" b="true" sz="1493" spc="128">
                          <a:solidFill>
                            <a:srgbClr val="19191E"/>
                          </a:solidFill>
                          <a:latin typeface="Glacial Indifference Bold"/>
                          <a:ea typeface="Glacial Indifference Bold"/>
                          <a:cs typeface="Glacial Indifference Bold"/>
                          <a:sym typeface="Glacial Indifference Bold"/>
                        </a:rPr>
                        <a:t>IMAGE/PICTURE RELEVANT/CONTENT SPECIFIC</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D9D9D9"/>
                    </a:solidFill>
                  </a:tcPr>
                </a:tc>
                <a:tc>
                  <a:txBody>
                    <a:bodyPr anchor="t" rtlCol="false"/>
                    <a:lstStyle/>
                    <a:p>
                      <a:pPr algn="l">
                        <a:lnSpc>
                          <a:spcPts val="1679"/>
                        </a:lnSpc>
                        <a:defRPr/>
                      </a:pPr>
                      <a:r>
                        <a:rPr lang="en-US" sz="1599">
                          <a:solidFill>
                            <a:srgbClr val="19191E"/>
                          </a:solidFill>
                          <a:latin typeface="Quicksand"/>
                          <a:ea typeface="Quicksand"/>
                          <a:cs typeface="Quicksand"/>
                          <a:sym typeface="Quicksand"/>
                        </a:rPr>
                        <a:t>#BlackGirlMagic, #BlackCreatives, #BlackBoyJoy, #BlackExcellence, #BlackBeauty, #BlackInnovators, #BlackTalent, #BlackCraftsmanship, #BlackArtistry, #BlackVisionary</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FCFAF4"/>
                    </a:solidFill>
                  </a:tcPr>
                </a:tc>
              </a:tr>
              <a:tr h="1450209">
                <a:tc>
                  <a:txBody>
                    <a:bodyPr anchor="t" rtlCol="false"/>
                    <a:lstStyle/>
                    <a:p>
                      <a:pPr algn="ctr">
                        <a:lnSpc>
                          <a:spcPts val="2090"/>
                        </a:lnSpc>
                        <a:defRPr/>
                      </a:pPr>
                      <a:r>
                        <a:rPr lang="en-US" b="true" sz="1493" spc="128">
                          <a:solidFill>
                            <a:srgbClr val="19191E"/>
                          </a:solidFill>
                          <a:latin typeface="Glacial Indifference Bold"/>
                          <a:ea typeface="Glacial Indifference Bold"/>
                          <a:cs typeface="Glacial Indifference Bold"/>
                          <a:sym typeface="Glacial Indifference Bold"/>
                        </a:rPr>
                        <a:t>COMMUNITY BASED</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D9D9D9"/>
                    </a:solidFill>
                  </a:tcPr>
                </a:tc>
                <a:tc>
                  <a:txBody>
                    <a:bodyPr anchor="t" rtlCol="false"/>
                    <a:lstStyle/>
                    <a:p>
                      <a:pPr algn="l">
                        <a:lnSpc>
                          <a:spcPts val="1679"/>
                        </a:lnSpc>
                        <a:defRPr/>
                      </a:pPr>
                      <a:r>
                        <a:rPr lang="en-US" sz="1599">
                          <a:solidFill>
                            <a:srgbClr val="19191E"/>
                          </a:solidFill>
                          <a:latin typeface="Quicksand"/>
                          <a:ea typeface="Quicksand"/>
                          <a:cs typeface="Quicksand"/>
                          <a:sym typeface="Quicksand"/>
                        </a:rPr>
                        <a:t>#SupportBlackBusinesses, #BlackOwnedBusiness, #BlackOwnedBusinesses, #BlackDollar, #BlackCommunity, #BuyBlack, #BlackVoices, #BlackEmpowerment, #BlackSolidarity, #BlackLivesMatter</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FCFAF4"/>
                    </a:solidFill>
                  </a:tcPr>
                </a:tc>
              </a:tr>
              <a:tr h="955125">
                <a:tc>
                  <a:txBody>
                    <a:bodyPr anchor="t" rtlCol="false"/>
                    <a:lstStyle/>
                    <a:p>
                      <a:pPr algn="ctr">
                        <a:lnSpc>
                          <a:spcPts val="2090"/>
                        </a:lnSpc>
                        <a:defRPr/>
                      </a:pPr>
                      <a:r>
                        <a:rPr lang="en-US" b="true" sz="1493" spc="189">
                          <a:solidFill>
                            <a:srgbClr val="19191E"/>
                          </a:solidFill>
                          <a:latin typeface="Glacial Indifference Bold"/>
                          <a:ea typeface="Glacial Indifference Bold"/>
                          <a:cs typeface="Glacial Indifference Bold"/>
                          <a:sym typeface="Glacial Indifference Bold"/>
                        </a:rPr>
                        <a:t>OWN BRAND</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D9D9D9"/>
                    </a:solidFill>
                  </a:tcPr>
                </a:tc>
                <a:tc>
                  <a:txBody>
                    <a:bodyPr anchor="t" rtlCol="false"/>
                    <a:lstStyle/>
                    <a:p>
                      <a:pPr algn="l">
                        <a:lnSpc>
                          <a:spcPts val="1679"/>
                        </a:lnSpc>
                        <a:defRPr/>
                      </a:pPr>
                      <a:r>
                        <a:rPr lang="en-US" sz="1599">
                          <a:solidFill>
                            <a:srgbClr val="19191E"/>
                          </a:solidFill>
                          <a:latin typeface="Quicksand"/>
                          <a:ea typeface="Quicksand"/>
                          <a:cs typeface="Quicksand"/>
                          <a:sym typeface="Quicksand"/>
                        </a:rPr>
                        <a:t>#TheBLACQList, #BLACQListed, #BLACQBusinesses, #BLACQProfessionals, #BLACQCreatives, #BLACQEvents, #BLACQJobs, #BLACQListExplore</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FCFAF4"/>
                    </a:solidFill>
                  </a:tcPr>
                </a:tc>
              </a:tr>
              <a:tr h="955125">
                <a:tc>
                  <a:txBody>
                    <a:bodyPr anchor="t" rtlCol="false"/>
                    <a:lstStyle/>
                    <a:p>
                      <a:pPr algn="ctr">
                        <a:lnSpc>
                          <a:spcPts val="2090"/>
                        </a:lnSpc>
                        <a:defRPr/>
                      </a:pPr>
                      <a:r>
                        <a:rPr lang="en-US" b="true" sz="1493" spc="189">
                          <a:solidFill>
                            <a:srgbClr val="19191E"/>
                          </a:solidFill>
                          <a:latin typeface="Glacial Indifference Bold"/>
                          <a:ea typeface="Glacial Indifference Bold"/>
                          <a:cs typeface="Glacial Indifference Bold"/>
                          <a:sym typeface="Glacial Indifference Bold"/>
                        </a:rPr>
                        <a:t>DAILY HASHTAGS</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D9D9D9"/>
                    </a:solidFill>
                  </a:tcPr>
                </a:tc>
                <a:tc>
                  <a:txBody>
                    <a:bodyPr anchor="t" rtlCol="false"/>
                    <a:lstStyle/>
                    <a:p>
                      <a:pPr algn="l">
                        <a:lnSpc>
                          <a:spcPts val="1679"/>
                        </a:lnSpc>
                        <a:defRPr/>
                      </a:pPr>
                      <a:r>
                        <a:rPr lang="en-US" sz="1599">
                          <a:solidFill>
                            <a:srgbClr val="19191E"/>
                          </a:solidFill>
                          <a:latin typeface="Quicksand"/>
                          <a:ea typeface="Quicksand"/>
                          <a:cs typeface="Quicksand"/>
                          <a:sym typeface="Quicksand"/>
                        </a:rPr>
                        <a:t>#MondayMotivation, #TuesdayTalents, #WednesdayWins, #ThursdayThoughts, #FridayFeeling, #SaturdayShoutout, #SundaySpotlight, #WeekendVibes, #MidweekMomentum, #FridayFavorites</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FCFAF4"/>
                    </a:solidFill>
                  </a:tcPr>
                </a:tc>
              </a:tr>
            </a:tbl>
          </a:graphicData>
        </a:graphic>
      </p:graphicFrame>
      <p:grpSp>
        <p:nvGrpSpPr>
          <p:cNvPr name="Group 3" id="3"/>
          <p:cNvGrpSpPr/>
          <p:nvPr/>
        </p:nvGrpSpPr>
        <p:grpSpPr>
          <a:xfrm rot="0">
            <a:off x="4932192" y="3400666"/>
            <a:ext cx="8423617" cy="403063"/>
            <a:chOff x="0" y="0"/>
            <a:chExt cx="11231489" cy="537418"/>
          </a:xfrm>
        </p:grpSpPr>
        <p:sp>
          <p:nvSpPr>
            <p:cNvPr name="TextBox 4" id="4"/>
            <p:cNvSpPr txBox="true"/>
            <p:nvPr/>
          </p:nvSpPr>
          <p:spPr>
            <a:xfrm rot="0">
              <a:off x="4947279" y="121493"/>
              <a:ext cx="2761438" cy="415925"/>
            </a:xfrm>
            <a:prstGeom prst="rect">
              <a:avLst/>
            </a:prstGeom>
          </p:spPr>
          <p:txBody>
            <a:bodyPr anchor="t" rtlCol="false" tIns="0" lIns="0" bIns="0" rIns="0">
              <a:spAutoFit/>
            </a:bodyPr>
            <a:lstStyle/>
            <a:p>
              <a:pPr algn="l" marL="0" indent="0" lvl="0">
                <a:lnSpc>
                  <a:spcPts val="2415"/>
                </a:lnSpc>
                <a:spcBef>
                  <a:spcPct val="0"/>
                </a:spcBef>
              </a:pPr>
              <a:r>
                <a:rPr lang="en-US" sz="2013" spc="402">
                  <a:solidFill>
                    <a:srgbClr val="FFFFFF"/>
                  </a:solidFill>
                  <a:latin typeface="Lato"/>
                  <a:ea typeface="Lato"/>
                  <a:cs typeface="Lato"/>
                  <a:sym typeface="Lato"/>
                </a:rPr>
                <a:t>theblacqlist</a:t>
              </a:r>
            </a:p>
          </p:txBody>
        </p:sp>
        <p:sp>
          <p:nvSpPr>
            <p:cNvPr name="Freeform 5" id="5"/>
            <p:cNvSpPr/>
            <p:nvPr/>
          </p:nvSpPr>
          <p:spPr>
            <a:xfrm flipH="false" flipV="false" rot="0">
              <a:off x="4266017" y="2205"/>
              <a:ext cx="535213" cy="535213"/>
            </a:xfrm>
            <a:custGeom>
              <a:avLst/>
              <a:gdLst/>
              <a:ahLst/>
              <a:cxnLst/>
              <a:rect r="r" b="b" t="t" l="l"/>
              <a:pathLst>
                <a:path h="535213" w="535213">
                  <a:moveTo>
                    <a:pt x="0" y="0"/>
                  </a:moveTo>
                  <a:lnTo>
                    <a:pt x="535212" y="0"/>
                  </a:lnTo>
                  <a:lnTo>
                    <a:pt x="535212" y="535213"/>
                  </a:lnTo>
                  <a:lnTo>
                    <a:pt x="0" y="5352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0"/>
              <a:ext cx="539379" cy="537418"/>
            </a:xfrm>
            <a:custGeom>
              <a:avLst/>
              <a:gdLst/>
              <a:ahLst/>
              <a:cxnLst/>
              <a:rect r="r" b="b" t="t" l="l"/>
              <a:pathLst>
                <a:path h="537418" w="539379">
                  <a:moveTo>
                    <a:pt x="0" y="0"/>
                  </a:moveTo>
                  <a:lnTo>
                    <a:pt x="539379" y="0"/>
                  </a:lnTo>
                  <a:lnTo>
                    <a:pt x="539379" y="537418"/>
                  </a:lnTo>
                  <a:lnTo>
                    <a:pt x="0" y="5374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639166" y="121493"/>
              <a:ext cx="3626850" cy="415925"/>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The BLACQList</a:t>
              </a:r>
            </a:p>
          </p:txBody>
        </p:sp>
        <p:sp>
          <p:nvSpPr>
            <p:cNvPr name="Freeform 8" id="8"/>
            <p:cNvSpPr/>
            <p:nvPr/>
          </p:nvSpPr>
          <p:spPr>
            <a:xfrm flipH="false" flipV="false" rot="0">
              <a:off x="7810317" y="18627"/>
              <a:ext cx="502369" cy="502369"/>
            </a:xfrm>
            <a:custGeom>
              <a:avLst/>
              <a:gdLst/>
              <a:ahLst/>
              <a:cxnLst/>
              <a:rect r="r" b="b" t="t" l="l"/>
              <a:pathLst>
                <a:path h="502369" w="502369">
                  <a:moveTo>
                    <a:pt x="0" y="0"/>
                  </a:moveTo>
                  <a:lnTo>
                    <a:pt x="502369" y="0"/>
                  </a:lnTo>
                  <a:lnTo>
                    <a:pt x="502369" y="502369"/>
                  </a:lnTo>
                  <a:lnTo>
                    <a:pt x="0" y="5023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8470052" y="121493"/>
              <a:ext cx="2761438" cy="415925"/>
            </a:xfrm>
            <a:prstGeom prst="rect">
              <a:avLst/>
            </a:prstGeom>
          </p:spPr>
          <p:txBody>
            <a:bodyPr anchor="t" rtlCol="false" tIns="0" lIns="0" bIns="0" rIns="0">
              <a:spAutoFit/>
            </a:bodyPr>
            <a:lstStyle/>
            <a:p>
              <a:pPr algn="l" marL="0" indent="0" lvl="0">
                <a:lnSpc>
                  <a:spcPts val="2415"/>
                </a:lnSpc>
                <a:spcBef>
                  <a:spcPct val="0"/>
                </a:spcBef>
              </a:pPr>
              <a:r>
                <a:rPr lang="en-US" sz="2013" spc="402">
                  <a:solidFill>
                    <a:srgbClr val="FFFFFF"/>
                  </a:solidFill>
                  <a:latin typeface="Lato"/>
                  <a:ea typeface="Lato"/>
                  <a:cs typeface="Lato"/>
                  <a:sym typeface="Lato"/>
                </a:rPr>
                <a:t>theblacqlist</a:t>
              </a:r>
            </a:p>
          </p:txBody>
        </p:sp>
      </p:grpSp>
      <p:sp>
        <p:nvSpPr>
          <p:cNvPr name="TextBox 10" id="10"/>
          <p:cNvSpPr txBox="true"/>
          <p:nvPr/>
        </p:nvSpPr>
        <p:spPr>
          <a:xfrm rot="0">
            <a:off x="1028700" y="1009650"/>
            <a:ext cx="4430938" cy="628650"/>
          </a:xfrm>
          <a:prstGeom prst="rect">
            <a:avLst/>
          </a:prstGeom>
        </p:spPr>
        <p:txBody>
          <a:bodyPr anchor="t" rtlCol="false" tIns="0" lIns="0" bIns="0" rIns="0">
            <a:spAutoFit/>
          </a:bodyPr>
          <a:lstStyle/>
          <a:p>
            <a:pPr algn="l" marL="0" indent="0" lvl="0">
              <a:lnSpc>
                <a:spcPts val="4800"/>
              </a:lnSpc>
              <a:spcBef>
                <a:spcPct val="0"/>
              </a:spcBef>
            </a:pPr>
            <a:r>
              <a:rPr lang="en-US" b="true" sz="4000" spc="800" strike="noStrike" u="none">
                <a:solidFill>
                  <a:srgbClr val="FFFFFF"/>
                </a:solidFill>
                <a:latin typeface="Glacial Indifference Bold"/>
                <a:ea typeface="Glacial Indifference Bold"/>
                <a:cs typeface="Glacial Indifference Bold"/>
                <a:sym typeface="Glacial Indifference Bold"/>
              </a:rPr>
              <a:t>HASHTAGS</a:t>
            </a:r>
          </a:p>
        </p:txBody>
      </p:sp>
      <p:sp>
        <p:nvSpPr>
          <p:cNvPr name="TextBox 11" id="11"/>
          <p:cNvSpPr txBox="true"/>
          <p:nvPr/>
        </p:nvSpPr>
        <p:spPr>
          <a:xfrm rot="0">
            <a:off x="1028700" y="1880774"/>
            <a:ext cx="6555846" cy="1102120"/>
          </a:xfrm>
          <a:prstGeom prst="rect">
            <a:avLst/>
          </a:prstGeom>
        </p:spPr>
        <p:txBody>
          <a:bodyPr anchor="t" rtlCol="false" tIns="0" lIns="0" bIns="0" rIns="0">
            <a:spAutoFit/>
          </a:bodyPr>
          <a:lstStyle/>
          <a:p>
            <a:pPr algn="just" marL="0" indent="0" lvl="0">
              <a:lnSpc>
                <a:spcPts val="3005"/>
              </a:lnSpc>
              <a:spcBef>
                <a:spcPct val="0"/>
              </a:spcBef>
            </a:pPr>
            <a:r>
              <a:rPr lang="en-US" sz="2003" strike="noStrike" u="none">
                <a:solidFill>
                  <a:srgbClr val="FFFFFF"/>
                </a:solidFill>
                <a:latin typeface="Quicksand"/>
                <a:ea typeface="Quicksand"/>
                <a:cs typeface="Quicksand"/>
                <a:sym typeface="Quicksand"/>
              </a:rPr>
              <a:t>We recommend utilizing at least 1 brand-approved hashtag from each row for the appropriate social media platform.</a:t>
            </a:r>
          </a:p>
        </p:txBody>
      </p:sp>
      <p:grpSp>
        <p:nvGrpSpPr>
          <p:cNvPr name="Group 12" id="12"/>
          <p:cNvGrpSpPr/>
          <p:nvPr/>
        </p:nvGrpSpPr>
        <p:grpSpPr>
          <a:xfrm rot="0">
            <a:off x="11083172" y="1028700"/>
            <a:ext cx="6718321" cy="660278"/>
            <a:chOff x="0" y="0"/>
            <a:chExt cx="8957761" cy="880371"/>
          </a:xfrm>
        </p:grpSpPr>
        <p:sp>
          <p:nvSpPr>
            <p:cNvPr name="TextBox 13" id="13"/>
            <p:cNvSpPr txBox="true"/>
            <p:nvPr/>
          </p:nvSpPr>
          <p:spPr>
            <a:xfrm rot="0">
              <a:off x="0" y="-9525"/>
              <a:ext cx="8957761" cy="889896"/>
            </a:xfrm>
            <a:prstGeom prst="rect">
              <a:avLst/>
            </a:prstGeom>
          </p:spPr>
          <p:txBody>
            <a:bodyPr anchor="t" rtlCol="false" tIns="0" lIns="0" bIns="0" rIns="0">
              <a:spAutoFit/>
            </a:bodyPr>
            <a:lstStyle/>
            <a:p>
              <a:pPr algn="ctr">
                <a:lnSpc>
                  <a:spcPts val="5206"/>
                </a:lnSpc>
              </a:pPr>
              <a:r>
                <a:rPr lang="en-US" b="true" sz="4339" spc="867">
                  <a:solidFill>
                    <a:srgbClr val="FFFFFF"/>
                  </a:solidFill>
                  <a:latin typeface="Glacial Indifference Bold"/>
                  <a:ea typeface="Glacial Indifference Bold"/>
                  <a:cs typeface="Glacial Indifference Bold"/>
                  <a:sym typeface="Glacial Indifference Bold"/>
                </a:rPr>
                <a:t>THE BLAC  LIST</a:t>
              </a:r>
            </a:p>
          </p:txBody>
        </p:sp>
        <p:sp>
          <p:nvSpPr>
            <p:cNvPr name="Freeform 14" id="14"/>
            <p:cNvSpPr/>
            <p:nvPr/>
          </p:nvSpPr>
          <p:spPr>
            <a:xfrm flipH="false" flipV="false" rot="0">
              <a:off x="5459846" y="222581"/>
              <a:ext cx="431747" cy="431747"/>
            </a:xfrm>
            <a:custGeom>
              <a:avLst/>
              <a:gdLst/>
              <a:ahLst/>
              <a:cxnLst/>
              <a:rect r="r" b="b" t="t" l="l"/>
              <a:pathLst>
                <a:path h="431747" w="431747">
                  <a:moveTo>
                    <a:pt x="0" y="0"/>
                  </a:moveTo>
                  <a:lnTo>
                    <a:pt x="431747" y="0"/>
                  </a:lnTo>
                  <a:lnTo>
                    <a:pt x="431747" y="431747"/>
                  </a:lnTo>
                  <a:lnTo>
                    <a:pt x="0" y="4317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5421118" y="183852"/>
              <a:ext cx="509204" cy="509204"/>
            </a:xfrm>
            <a:custGeom>
              <a:avLst/>
              <a:gdLst/>
              <a:ahLst/>
              <a:cxnLst/>
              <a:rect r="r" b="b" t="t" l="l"/>
              <a:pathLst>
                <a:path h="509204" w="509204">
                  <a:moveTo>
                    <a:pt x="0" y="0"/>
                  </a:moveTo>
                  <a:lnTo>
                    <a:pt x="509204" y="0"/>
                  </a:lnTo>
                  <a:lnTo>
                    <a:pt x="509204" y="509205"/>
                  </a:lnTo>
                  <a:lnTo>
                    <a:pt x="0" y="5092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5484158" y="246892"/>
              <a:ext cx="383124" cy="383124"/>
            </a:xfrm>
            <a:custGeom>
              <a:avLst/>
              <a:gdLst/>
              <a:ahLst/>
              <a:cxnLst/>
              <a:rect r="r" b="b" t="t" l="l"/>
              <a:pathLst>
                <a:path h="383124" w="383124">
                  <a:moveTo>
                    <a:pt x="0" y="0"/>
                  </a:moveTo>
                  <a:lnTo>
                    <a:pt x="383124" y="0"/>
                  </a:lnTo>
                  <a:lnTo>
                    <a:pt x="383124" y="383125"/>
                  </a:lnTo>
                  <a:lnTo>
                    <a:pt x="0" y="3831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5416080" y="178815"/>
              <a:ext cx="519280" cy="519280"/>
            </a:xfrm>
            <a:custGeom>
              <a:avLst/>
              <a:gdLst/>
              <a:ahLst/>
              <a:cxnLst/>
              <a:rect r="r" b="b" t="t" l="l"/>
              <a:pathLst>
                <a:path h="519280" w="519280">
                  <a:moveTo>
                    <a:pt x="0" y="0"/>
                  </a:moveTo>
                  <a:lnTo>
                    <a:pt x="519280" y="0"/>
                  </a:lnTo>
                  <a:lnTo>
                    <a:pt x="519280" y="519279"/>
                  </a:lnTo>
                  <a:lnTo>
                    <a:pt x="0" y="5192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5593043" y="355778"/>
              <a:ext cx="165354" cy="165354"/>
            </a:xfrm>
            <a:custGeom>
              <a:avLst/>
              <a:gdLst/>
              <a:ahLst/>
              <a:cxnLst/>
              <a:rect r="r" b="b" t="t" l="l"/>
              <a:pathLst>
                <a:path h="165354" w="165354">
                  <a:moveTo>
                    <a:pt x="0" y="0"/>
                  </a:moveTo>
                  <a:lnTo>
                    <a:pt x="165354" y="0"/>
                  </a:lnTo>
                  <a:lnTo>
                    <a:pt x="165354" y="165353"/>
                  </a:lnTo>
                  <a:lnTo>
                    <a:pt x="0" y="165353"/>
                  </a:lnTo>
                  <a:lnTo>
                    <a:pt x="0" y="0"/>
                  </a:lnTo>
                  <a:close/>
                </a:path>
              </a:pathLst>
            </a:custGeom>
            <a:blipFill>
              <a:blip r:embed="rId10"/>
              <a:stretch>
                <a:fillRect l="0" t="0" r="0" b="0"/>
              </a:stretch>
            </a:blipFill>
            <a:ln cap="sq">
              <a:noFill/>
              <a:prstDash val="solid"/>
              <a:miter/>
            </a:ln>
          </p:spPr>
        </p:sp>
        <p:grpSp>
          <p:nvGrpSpPr>
            <p:cNvPr name="Group 19" id="19"/>
            <p:cNvGrpSpPr/>
            <p:nvPr/>
          </p:nvGrpSpPr>
          <p:grpSpPr>
            <a:xfrm rot="-3023822">
              <a:off x="5858884" y="496034"/>
              <a:ext cx="99229" cy="256357"/>
              <a:chOff x="0" y="0"/>
              <a:chExt cx="237482" cy="613533"/>
            </a:xfrm>
          </p:grpSpPr>
          <p:sp>
            <p:nvSpPr>
              <p:cNvPr name="Freeform 20" id="20"/>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21" id="21"/>
              <p:cNvSpPr txBox="true"/>
              <p:nvPr/>
            </p:nvSpPr>
            <p:spPr>
              <a:xfrm>
                <a:off x="0" y="-19050"/>
                <a:ext cx="237482" cy="632583"/>
              </a:xfrm>
              <a:prstGeom prst="rect">
                <a:avLst/>
              </a:prstGeom>
            </p:spPr>
            <p:txBody>
              <a:bodyPr anchor="ctr" rtlCol="false" tIns="15538" lIns="15538" bIns="15538" rIns="15538"/>
              <a:lstStyle/>
              <a:p>
                <a:pPr algn="ctr">
                  <a:lnSpc>
                    <a:spcPts val="717"/>
                  </a:lnSpc>
                </a:pPr>
              </a:p>
            </p:txBody>
          </p:sp>
        </p:gr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932192" y="3400666"/>
            <a:ext cx="8423617" cy="403063"/>
            <a:chOff x="0" y="0"/>
            <a:chExt cx="11231489" cy="537418"/>
          </a:xfrm>
        </p:grpSpPr>
        <p:sp>
          <p:nvSpPr>
            <p:cNvPr name="TextBox 3" id="3"/>
            <p:cNvSpPr txBox="true"/>
            <p:nvPr/>
          </p:nvSpPr>
          <p:spPr>
            <a:xfrm rot="0">
              <a:off x="4947279" y="121493"/>
              <a:ext cx="2761438" cy="415925"/>
            </a:xfrm>
            <a:prstGeom prst="rect">
              <a:avLst/>
            </a:prstGeom>
          </p:spPr>
          <p:txBody>
            <a:bodyPr anchor="t" rtlCol="false" tIns="0" lIns="0" bIns="0" rIns="0">
              <a:spAutoFit/>
            </a:bodyPr>
            <a:lstStyle/>
            <a:p>
              <a:pPr algn="l" marL="0" indent="0" lvl="0">
                <a:lnSpc>
                  <a:spcPts val="2415"/>
                </a:lnSpc>
                <a:spcBef>
                  <a:spcPct val="0"/>
                </a:spcBef>
              </a:pPr>
              <a:r>
                <a:rPr lang="en-US" sz="2013" spc="402">
                  <a:solidFill>
                    <a:srgbClr val="FFFFFF"/>
                  </a:solidFill>
                  <a:latin typeface="Lato"/>
                  <a:ea typeface="Lato"/>
                  <a:cs typeface="Lato"/>
                  <a:sym typeface="Lato"/>
                </a:rPr>
                <a:t>theblacqlist</a:t>
              </a:r>
            </a:p>
          </p:txBody>
        </p:sp>
        <p:sp>
          <p:nvSpPr>
            <p:cNvPr name="Freeform 4" id="4"/>
            <p:cNvSpPr/>
            <p:nvPr/>
          </p:nvSpPr>
          <p:spPr>
            <a:xfrm flipH="false" flipV="false" rot="0">
              <a:off x="4266017" y="2205"/>
              <a:ext cx="535213" cy="535213"/>
            </a:xfrm>
            <a:custGeom>
              <a:avLst/>
              <a:gdLst/>
              <a:ahLst/>
              <a:cxnLst/>
              <a:rect r="r" b="b" t="t" l="l"/>
              <a:pathLst>
                <a:path h="535213" w="535213">
                  <a:moveTo>
                    <a:pt x="0" y="0"/>
                  </a:moveTo>
                  <a:lnTo>
                    <a:pt x="535212" y="0"/>
                  </a:lnTo>
                  <a:lnTo>
                    <a:pt x="535212" y="535213"/>
                  </a:lnTo>
                  <a:lnTo>
                    <a:pt x="0" y="5352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0" y="0"/>
              <a:ext cx="539379" cy="537418"/>
            </a:xfrm>
            <a:custGeom>
              <a:avLst/>
              <a:gdLst/>
              <a:ahLst/>
              <a:cxnLst/>
              <a:rect r="r" b="b" t="t" l="l"/>
              <a:pathLst>
                <a:path h="537418" w="539379">
                  <a:moveTo>
                    <a:pt x="0" y="0"/>
                  </a:moveTo>
                  <a:lnTo>
                    <a:pt x="539379" y="0"/>
                  </a:lnTo>
                  <a:lnTo>
                    <a:pt x="539379" y="537418"/>
                  </a:lnTo>
                  <a:lnTo>
                    <a:pt x="0" y="5374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639166" y="121493"/>
              <a:ext cx="3626850" cy="415925"/>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FFFFFF"/>
                  </a:solidFill>
                  <a:latin typeface="Lato"/>
                  <a:ea typeface="Lato"/>
                  <a:cs typeface="Lato"/>
                  <a:sym typeface="Lato"/>
                </a:rPr>
                <a:t>The BLACQList</a:t>
              </a:r>
            </a:p>
          </p:txBody>
        </p:sp>
        <p:sp>
          <p:nvSpPr>
            <p:cNvPr name="Freeform 7" id="7"/>
            <p:cNvSpPr/>
            <p:nvPr/>
          </p:nvSpPr>
          <p:spPr>
            <a:xfrm flipH="false" flipV="false" rot="0">
              <a:off x="7810317" y="18627"/>
              <a:ext cx="502369" cy="502369"/>
            </a:xfrm>
            <a:custGeom>
              <a:avLst/>
              <a:gdLst/>
              <a:ahLst/>
              <a:cxnLst/>
              <a:rect r="r" b="b" t="t" l="l"/>
              <a:pathLst>
                <a:path h="502369" w="502369">
                  <a:moveTo>
                    <a:pt x="0" y="0"/>
                  </a:moveTo>
                  <a:lnTo>
                    <a:pt x="502369" y="0"/>
                  </a:lnTo>
                  <a:lnTo>
                    <a:pt x="502369" y="502369"/>
                  </a:lnTo>
                  <a:lnTo>
                    <a:pt x="0" y="5023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8470052" y="121493"/>
              <a:ext cx="2761438" cy="415925"/>
            </a:xfrm>
            <a:prstGeom prst="rect">
              <a:avLst/>
            </a:prstGeom>
          </p:spPr>
          <p:txBody>
            <a:bodyPr anchor="t" rtlCol="false" tIns="0" lIns="0" bIns="0" rIns="0">
              <a:spAutoFit/>
            </a:bodyPr>
            <a:lstStyle/>
            <a:p>
              <a:pPr algn="l" marL="0" indent="0" lvl="0">
                <a:lnSpc>
                  <a:spcPts val="2415"/>
                </a:lnSpc>
                <a:spcBef>
                  <a:spcPct val="0"/>
                </a:spcBef>
              </a:pPr>
              <a:r>
                <a:rPr lang="en-US" sz="2013" spc="402">
                  <a:solidFill>
                    <a:srgbClr val="FFFFFF"/>
                  </a:solidFill>
                  <a:latin typeface="Lato"/>
                  <a:ea typeface="Lato"/>
                  <a:cs typeface="Lato"/>
                  <a:sym typeface="Lato"/>
                </a:rPr>
                <a:t>theblacqlist</a:t>
              </a:r>
            </a:p>
          </p:txBody>
        </p:sp>
      </p:grpSp>
      <p:sp>
        <p:nvSpPr>
          <p:cNvPr name="TextBox 9" id="9"/>
          <p:cNvSpPr txBox="true"/>
          <p:nvPr/>
        </p:nvSpPr>
        <p:spPr>
          <a:xfrm rot="0">
            <a:off x="1028700" y="1009650"/>
            <a:ext cx="4430938" cy="628650"/>
          </a:xfrm>
          <a:prstGeom prst="rect">
            <a:avLst/>
          </a:prstGeom>
        </p:spPr>
        <p:txBody>
          <a:bodyPr anchor="t" rtlCol="false" tIns="0" lIns="0" bIns="0" rIns="0">
            <a:spAutoFit/>
          </a:bodyPr>
          <a:lstStyle/>
          <a:p>
            <a:pPr algn="l" marL="0" indent="0" lvl="0">
              <a:lnSpc>
                <a:spcPts val="4800"/>
              </a:lnSpc>
              <a:spcBef>
                <a:spcPct val="0"/>
              </a:spcBef>
            </a:pPr>
            <a:r>
              <a:rPr lang="en-US" b="true" sz="4000" spc="800" strike="noStrike" u="none">
                <a:solidFill>
                  <a:srgbClr val="FFFFFF"/>
                </a:solidFill>
                <a:latin typeface="Glacial Indifference Bold"/>
                <a:ea typeface="Glacial Indifference Bold"/>
                <a:cs typeface="Glacial Indifference Bold"/>
                <a:sym typeface="Glacial Indifference Bold"/>
              </a:rPr>
              <a:t>HASHTAGS</a:t>
            </a:r>
          </a:p>
        </p:txBody>
      </p:sp>
      <p:sp>
        <p:nvSpPr>
          <p:cNvPr name="TextBox 10" id="10"/>
          <p:cNvSpPr txBox="true"/>
          <p:nvPr/>
        </p:nvSpPr>
        <p:spPr>
          <a:xfrm rot="0">
            <a:off x="1028700" y="1880774"/>
            <a:ext cx="6555846" cy="1102120"/>
          </a:xfrm>
          <a:prstGeom prst="rect">
            <a:avLst/>
          </a:prstGeom>
        </p:spPr>
        <p:txBody>
          <a:bodyPr anchor="t" rtlCol="false" tIns="0" lIns="0" bIns="0" rIns="0">
            <a:spAutoFit/>
          </a:bodyPr>
          <a:lstStyle/>
          <a:p>
            <a:pPr algn="just" marL="0" indent="0" lvl="0">
              <a:lnSpc>
                <a:spcPts val="3005"/>
              </a:lnSpc>
              <a:spcBef>
                <a:spcPct val="0"/>
              </a:spcBef>
            </a:pPr>
            <a:r>
              <a:rPr lang="en-US" sz="2003" strike="noStrike" u="none">
                <a:solidFill>
                  <a:srgbClr val="FFFFFF"/>
                </a:solidFill>
                <a:latin typeface="Quicksand"/>
                <a:ea typeface="Quicksand"/>
                <a:cs typeface="Quicksand"/>
                <a:sym typeface="Quicksand"/>
              </a:rPr>
              <a:t>We recommend utilizing at least 1 brand-approved hashtag from each row for the appropriate social media platform.</a:t>
            </a:r>
          </a:p>
        </p:txBody>
      </p:sp>
      <p:grpSp>
        <p:nvGrpSpPr>
          <p:cNvPr name="Group 11" id="11"/>
          <p:cNvGrpSpPr/>
          <p:nvPr/>
        </p:nvGrpSpPr>
        <p:grpSpPr>
          <a:xfrm rot="0">
            <a:off x="11083172" y="1028700"/>
            <a:ext cx="6718321" cy="660278"/>
            <a:chOff x="0" y="0"/>
            <a:chExt cx="8957761" cy="880371"/>
          </a:xfrm>
        </p:grpSpPr>
        <p:sp>
          <p:nvSpPr>
            <p:cNvPr name="TextBox 12" id="12"/>
            <p:cNvSpPr txBox="true"/>
            <p:nvPr/>
          </p:nvSpPr>
          <p:spPr>
            <a:xfrm rot="0">
              <a:off x="0" y="-9525"/>
              <a:ext cx="8957761" cy="889896"/>
            </a:xfrm>
            <a:prstGeom prst="rect">
              <a:avLst/>
            </a:prstGeom>
          </p:spPr>
          <p:txBody>
            <a:bodyPr anchor="t" rtlCol="false" tIns="0" lIns="0" bIns="0" rIns="0">
              <a:spAutoFit/>
            </a:bodyPr>
            <a:lstStyle/>
            <a:p>
              <a:pPr algn="ctr">
                <a:lnSpc>
                  <a:spcPts val="5206"/>
                </a:lnSpc>
              </a:pPr>
              <a:r>
                <a:rPr lang="en-US" b="true" sz="4339" spc="867">
                  <a:solidFill>
                    <a:srgbClr val="FFFFFF"/>
                  </a:solidFill>
                  <a:latin typeface="Glacial Indifference Bold"/>
                  <a:ea typeface="Glacial Indifference Bold"/>
                  <a:cs typeface="Glacial Indifference Bold"/>
                  <a:sym typeface="Glacial Indifference Bold"/>
                </a:rPr>
                <a:t>THE BLAC  LIST</a:t>
              </a:r>
            </a:p>
          </p:txBody>
        </p:sp>
        <p:sp>
          <p:nvSpPr>
            <p:cNvPr name="Freeform 13" id="13"/>
            <p:cNvSpPr/>
            <p:nvPr/>
          </p:nvSpPr>
          <p:spPr>
            <a:xfrm flipH="false" flipV="false" rot="0">
              <a:off x="5459846" y="222581"/>
              <a:ext cx="431747" cy="431747"/>
            </a:xfrm>
            <a:custGeom>
              <a:avLst/>
              <a:gdLst/>
              <a:ahLst/>
              <a:cxnLst/>
              <a:rect r="r" b="b" t="t" l="l"/>
              <a:pathLst>
                <a:path h="431747" w="431747">
                  <a:moveTo>
                    <a:pt x="0" y="0"/>
                  </a:moveTo>
                  <a:lnTo>
                    <a:pt x="431747" y="0"/>
                  </a:lnTo>
                  <a:lnTo>
                    <a:pt x="431747" y="431747"/>
                  </a:lnTo>
                  <a:lnTo>
                    <a:pt x="0" y="4317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5421118" y="183852"/>
              <a:ext cx="509204" cy="509204"/>
            </a:xfrm>
            <a:custGeom>
              <a:avLst/>
              <a:gdLst/>
              <a:ahLst/>
              <a:cxnLst/>
              <a:rect r="r" b="b" t="t" l="l"/>
              <a:pathLst>
                <a:path h="509204" w="509204">
                  <a:moveTo>
                    <a:pt x="0" y="0"/>
                  </a:moveTo>
                  <a:lnTo>
                    <a:pt x="509204" y="0"/>
                  </a:lnTo>
                  <a:lnTo>
                    <a:pt x="509204" y="509205"/>
                  </a:lnTo>
                  <a:lnTo>
                    <a:pt x="0" y="5092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5484158" y="246892"/>
              <a:ext cx="383124" cy="383124"/>
            </a:xfrm>
            <a:custGeom>
              <a:avLst/>
              <a:gdLst/>
              <a:ahLst/>
              <a:cxnLst/>
              <a:rect r="r" b="b" t="t" l="l"/>
              <a:pathLst>
                <a:path h="383124" w="383124">
                  <a:moveTo>
                    <a:pt x="0" y="0"/>
                  </a:moveTo>
                  <a:lnTo>
                    <a:pt x="383124" y="0"/>
                  </a:lnTo>
                  <a:lnTo>
                    <a:pt x="383124" y="383125"/>
                  </a:lnTo>
                  <a:lnTo>
                    <a:pt x="0" y="3831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5416080" y="178815"/>
              <a:ext cx="519280" cy="519280"/>
            </a:xfrm>
            <a:custGeom>
              <a:avLst/>
              <a:gdLst/>
              <a:ahLst/>
              <a:cxnLst/>
              <a:rect r="r" b="b" t="t" l="l"/>
              <a:pathLst>
                <a:path h="519280" w="519280">
                  <a:moveTo>
                    <a:pt x="0" y="0"/>
                  </a:moveTo>
                  <a:lnTo>
                    <a:pt x="519280" y="0"/>
                  </a:lnTo>
                  <a:lnTo>
                    <a:pt x="519280" y="519279"/>
                  </a:lnTo>
                  <a:lnTo>
                    <a:pt x="0" y="5192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5593043" y="355778"/>
              <a:ext cx="165354" cy="165354"/>
            </a:xfrm>
            <a:custGeom>
              <a:avLst/>
              <a:gdLst/>
              <a:ahLst/>
              <a:cxnLst/>
              <a:rect r="r" b="b" t="t" l="l"/>
              <a:pathLst>
                <a:path h="165354" w="165354">
                  <a:moveTo>
                    <a:pt x="0" y="0"/>
                  </a:moveTo>
                  <a:lnTo>
                    <a:pt x="165354" y="0"/>
                  </a:lnTo>
                  <a:lnTo>
                    <a:pt x="165354" y="165353"/>
                  </a:lnTo>
                  <a:lnTo>
                    <a:pt x="0" y="165353"/>
                  </a:lnTo>
                  <a:lnTo>
                    <a:pt x="0" y="0"/>
                  </a:lnTo>
                  <a:close/>
                </a:path>
              </a:pathLst>
            </a:custGeom>
            <a:blipFill>
              <a:blip r:embed="rId10"/>
              <a:stretch>
                <a:fillRect l="0" t="0" r="0" b="0"/>
              </a:stretch>
            </a:blipFill>
            <a:ln cap="sq">
              <a:noFill/>
              <a:prstDash val="solid"/>
              <a:miter/>
            </a:ln>
          </p:spPr>
        </p:sp>
        <p:grpSp>
          <p:nvGrpSpPr>
            <p:cNvPr name="Group 18" id="18"/>
            <p:cNvGrpSpPr/>
            <p:nvPr/>
          </p:nvGrpSpPr>
          <p:grpSpPr>
            <a:xfrm rot="-3023822">
              <a:off x="5858884" y="496034"/>
              <a:ext cx="99229" cy="256357"/>
              <a:chOff x="0" y="0"/>
              <a:chExt cx="237482" cy="613533"/>
            </a:xfrm>
          </p:grpSpPr>
          <p:sp>
            <p:nvSpPr>
              <p:cNvPr name="Freeform 19" id="19"/>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20" id="20"/>
              <p:cNvSpPr txBox="true"/>
              <p:nvPr/>
            </p:nvSpPr>
            <p:spPr>
              <a:xfrm>
                <a:off x="0" y="-19050"/>
                <a:ext cx="237482" cy="632583"/>
              </a:xfrm>
              <a:prstGeom prst="rect">
                <a:avLst/>
              </a:prstGeom>
            </p:spPr>
            <p:txBody>
              <a:bodyPr anchor="ctr" rtlCol="false" tIns="15538" lIns="15538" bIns="15538" rIns="15538"/>
              <a:lstStyle/>
              <a:p>
                <a:pPr algn="ctr">
                  <a:lnSpc>
                    <a:spcPts val="717"/>
                  </a:lnSpc>
                </a:pPr>
              </a:p>
            </p:txBody>
          </p:sp>
        </p:grpSp>
      </p:grpSp>
      <p:graphicFrame>
        <p:nvGraphicFramePr>
          <p:cNvPr name="Table 21" id="21"/>
          <p:cNvGraphicFramePr>
            <a:graphicFrameLocks noGrp="true"/>
          </p:cNvGraphicFramePr>
          <p:nvPr/>
        </p:nvGraphicFramePr>
        <p:xfrm>
          <a:off x="1254146" y="4242477"/>
          <a:ext cx="15779709" cy="4987248"/>
        </p:xfrm>
        <a:graphic>
          <a:graphicData uri="http://schemas.openxmlformats.org/drawingml/2006/table">
            <a:tbl>
              <a:tblPr/>
              <a:tblGrid>
                <a:gridCol w="3955002"/>
                <a:gridCol w="11824707"/>
              </a:tblGrid>
              <a:tr h="721383">
                <a:tc>
                  <a:txBody>
                    <a:bodyPr anchor="t" rtlCol="false"/>
                    <a:lstStyle/>
                    <a:p>
                      <a:pPr algn="ctr">
                        <a:lnSpc>
                          <a:spcPts val="2090"/>
                        </a:lnSpc>
                        <a:defRPr/>
                      </a:pPr>
                      <a:r>
                        <a:rPr lang="en-US" sz="1493" spc="128">
                          <a:solidFill>
                            <a:srgbClr val="19191E"/>
                          </a:solidFill>
                          <a:latin typeface="Lato"/>
                          <a:ea typeface="Lato"/>
                          <a:cs typeface="Lato"/>
                          <a:sym typeface="Lato"/>
                        </a:rPr>
                        <a:t>PLATFORM</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E2A428"/>
                    </a:solidFill>
                  </a:tcPr>
                </a:tc>
                <a:tc>
                  <a:txBody>
                    <a:bodyPr anchor="t" rtlCol="false"/>
                    <a:lstStyle/>
                    <a:p>
                      <a:pPr algn="ctr">
                        <a:lnSpc>
                          <a:spcPts val="1882"/>
                        </a:lnSpc>
                        <a:defRPr/>
                      </a:pPr>
                      <a:r>
                        <a:rPr lang="en-US" sz="1793">
                          <a:solidFill>
                            <a:srgbClr val="19191E"/>
                          </a:solidFill>
                          <a:latin typeface="Lato"/>
                          <a:ea typeface="Lato"/>
                          <a:cs typeface="Lato"/>
                          <a:sym typeface="Lato"/>
                        </a:rPr>
                        <a:t>Instagram</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E2A428"/>
                    </a:solidFill>
                  </a:tcPr>
                </a:tc>
              </a:tr>
              <a:tr h="963122">
                <a:tc>
                  <a:txBody>
                    <a:bodyPr anchor="t" rtlCol="false"/>
                    <a:lstStyle/>
                    <a:p>
                      <a:pPr algn="ctr">
                        <a:lnSpc>
                          <a:spcPts val="2090"/>
                        </a:lnSpc>
                        <a:defRPr/>
                      </a:pPr>
                      <a:r>
                        <a:rPr lang="en-US" b="true" sz="1493" spc="189">
                          <a:solidFill>
                            <a:srgbClr val="19191E"/>
                          </a:solidFill>
                          <a:latin typeface="Glacial Indifference Bold"/>
                          <a:ea typeface="Glacial Indifference Bold"/>
                          <a:cs typeface="Glacial Indifference Bold"/>
                          <a:sym typeface="Glacial Indifference Bold"/>
                        </a:rPr>
                        <a:t>TARGET AUDIENCE SEARCHES</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D9D9D9"/>
                    </a:solidFill>
                  </a:tcPr>
                </a:tc>
                <a:tc>
                  <a:txBody>
                    <a:bodyPr anchor="t" rtlCol="false"/>
                    <a:lstStyle/>
                    <a:p>
                      <a:pPr algn="l">
                        <a:lnSpc>
                          <a:spcPts val="1679"/>
                        </a:lnSpc>
                        <a:defRPr/>
                      </a:pPr>
                      <a:r>
                        <a:rPr lang="en-US" sz="1599">
                          <a:solidFill>
                            <a:srgbClr val="19191E"/>
                          </a:solidFill>
                          <a:latin typeface="Quicksand"/>
                          <a:ea typeface="Quicksand"/>
                          <a:cs typeface="Quicksand"/>
                          <a:sym typeface="Quicksand"/>
                        </a:rPr>
                        <a:t>#BlackOwnedBusinesses, #BlackBusinessNearMe, #ExploreBlackBusinesses #BlackBusinessDirectory, #BlackEvents, #BlackOwnedNailSalon, #BlackArtist</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FCFAF4"/>
                    </a:solidFill>
                  </a:tcPr>
                </a:tc>
              </a:tr>
              <a:tr h="963122">
                <a:tc>
                  <a:txBody>
                    <a:bodyPr anchor="t" rtlCol="false"/>
                    <a:lstStyle/>
                    <a:p>
                      <a:pPr algn="ctr">
                        <a:lnSpc>
                          <a:spcPts val="2090"/>
                        </a:lnSpc>
                        <a:defRPr/>
                      </a:pPr>
                      <a:r>
                        <a:rPr lang="en-US" b="true" sz="1493" spc="189">
                          <a:solidFill>
                            <a:srgbClr val="19191E"/>
                          </a:solidFill>
                          <a:latin typeface="Glacial Indifference Bold"/>
                          <a:ea typeface="Glacial Indifference Bold"/>
                          <a:cs typeface="Glacial Indifference Bold"/>
                          <a:sym typeface="Glacial Indifference Bold"/>
                        </a:rPr>
                        <a:t>INDUSTRY</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D9D9D9"/>
                    </a:solidFill>
                  </a:tcPr>
                </a:tc>
                <a:tc>
                  <a:txBody>
                    <a:bodyPr anchor="t" rtlCol="false"/>
                    <a:lstStyle/>
                    <a:p>
                      <a:pPr algn="l">
                        <a:lnSpc>
                          <a:spcPts val="1679"/>
                        </a:lnSpc>
                        <a:defRPr/>
                      </a:pPr>
                      <a:r>
                        <a:rPr lang="en-US" sz="1599">
                          <a:solidFill>
                            <a:srgbClr val="19191E"/>
                          </a:solidFill>
                          <a:latin typeface="Quicksand"/>
                          <a:ea typeface="Quicksand"/>
                          <a:cs typeface="Quicksand"/>
                          <a:sym typeface="Quicksand"/>
                        </a:rPr>
                        <a:t>#BuyBlack, #BlackEconomy, #BlackFashion, #BlackEntertainment, #BlackHealth, #BlackWellness, #BlackEducation, #BlackWeddings, #BlackRetail, #BlackServices</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FCFAF4"/>
                    </a:solidFill>
                  </a:tcPr>
                </a:tc>
              </a:tr>
              <a:tr h="955345">
                <a:tc>
                  <a:txBody>
                    <a:bodyPr anchor="t" rtlCol="false"/>
                    <a:lstStyle/>
                    <a:p>
                      <a:pPr algn="ctr">
                        <a:lnSpc>
                          <a:spcPts val="2090"/>
                        </a:lnSpc>
                        <a:defRPr/>
                      </a:pPr>
                      <a:r>
                        <a:rPr lang="en-US" b="true" sz="1493" spc="189">
                          <a:solidFill>
                            <a:srgbClr val="19191E"/>
                          </a:solidFill>
                          <a:latin typeface="Glacial Indifference Bold"/>
                          <a:ea typeface="Glacial Indifference Bold"/>
                          <a:cs typeface="Glacial Indifference Bold"/>
                          <a:sym typeface="Glacial Indifference Bold"/>
                        </a:rPr>
                        <a:t>LOCATION</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D9D9D9"/>
                    </a:solidFill>
                  </a:tcPr>
                </a:tc>
                <a:tc>
                  <a:txBody>
                    <a:bodyPr anchor="t" rtlCol="false"/>
                    <a:lstStyle/>
                    <a:p>
                      <a:pPr algn="l">
                        <a:lnSpc>
                          <a:spcPts val="1679"/>
                        </a:lnSpc>
                        <a:defRPr/>
                      </a:pPr>
                      <a:r>
                        <a:rPr lang="en-US" sz="1599">
                          <a:solidFill>
                            <a:srgbClr val="19191E"/>
                          </a:solidFill>
                          <a:latin typeface="Quicksand"/>
                          <a:ea typeface="Quicksand"/>
                          <a:cs typeface="Quicksand"/>
                          <a:sym typeface="Quicksand"/>
                        </a:rPr>
                        <a:t>#BlackOwnedNYC, #BlackOwnedLA, #BlackOwnedATL, #BlackOwnedChicago, #BlackOwnedHouston, #BlackOwnedMiami, #BlackOwnedDallas, #BlackOwnedPhilly, #BlackOwnedDetroit, #BlackOwnedSeattle</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FCFAF4"/>
                    </a:solidFill>
                  </a:tcPr>
                </a:tc>
              </a:tr>
              <a:tr h="1384275">
                <a:tc>
                  <a:txBody>
                    <a:bodyPr anchor="t" rtlCol="false"/>
                    <a:lstStyle/>
                    <a:p>
                      <a:pPr algn="ctr">
                        <a:lnSpc>
                          <a:spcPts val="2090"/>
                        </a:lnSpc>
                        <a:defRPr/>
                      </a:pPr>
                      <a:r>
                        <a:rPr lang="en-US" b="true" sz="1493" spc="189">
                          <a:solidFill>
                            <a:srgbClr val="19191E"/>
                          </a:solidFill>
                          <a:latin typeface="Glacial Indifference Bold"/>
                          <a:ea typeface="Glacial Indifference Bold"/>
                          <a:cs typeface="Glacial Indifference Bold"/>
                          <a:sym typeface="Glacial Indifference Bold"/>
                        </a:rPr>
                        <a:t>NICHE</a:t>
                      </a:r>
                      <a:endParaRPr lang="en-US" sz="1100"/>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D9D9D9"/>
                    </a:solidFill>
                  </a:tcPr>
                </a:tc>
                <a:tc>
                  <a:txBody>
                    <a:bodyPr anchor="t" rtlCol="false"/>
                    <a:lstStyle/>
                    <a:p>
                      <a:pPr algn="l">
                        <a:lnSpc>
                          <a:spcPts val="1679"/>
                        </a:lnSpc>
                        <a:defRPr/>
                      </a:pPr>
                      <a:r>
                        <a:rPr lang="en-US" sz="1599">
                          <a:solidFill>
                            <a:srgbClr val="19191E"/>
                          </a:solidFill>
                          <a:latin typeface="Quicksand"/>
                          <a:ea typeface="Quicksand"/>
                          <a:cs typeface="Quicksand"/>
                          <a:sym typeface="Quicksand"/>
                        </a:rPr>
                        <a:t>#BlackOwnedBoutiques, </a:t>
                      </a:r>
                      <a:r>
                        <a:rPr lang="en-US" sz="1599">
                          <a:solidFill>
                            <a:srgbClr val="19191E"/>
                          </a:solidFill>
                          <a:latin typeface="Quicksand"/>
                          <a:ea typeface="Quicksand"/>
                          <a:cs typeface="Quicksand"/>
                          <a:sym typeface="Quicksand"/>
                        </a:rPr>
                        <a:t>#BlackVeganEateries, #BlackTechStartups, #BlackOwnedBookstores, #BlackHairCareBrands, #BlackOwnedJewelryDesigners, #BlackCraftsmenWorkshops, #BlackHolisticWellness, #BlackOwnedSkincareBrands, #BlackCulturalGalleries</a:t>
                      </a:r>
                      <a:endParaRPr lang="en-US" sz="1100"/>
                    </a:p>
                    <a:p>
                      <a:pPr algn="l">
                        <a:lnSpc>
                          <a:spcPts val="1679"/>
                        </a:lnSpc>
                      </a:pPr>
                    </a:p>
                  </a:txBody>
                  <a:tcPr marL="190500" marR="190500" marT="190500" marB="190500" anchor="ctr">
                    <a:lnL cmpd="sng" algn="ctr" cap="flat" w="0">
                      <a:solidFill>
                        <a:srgbClr val="DF672C"/>
                      </a:solidFill>
                      <a:prstDash val="solid"/>
                      <a:round/>
                      <a:headEnd type="none" w="med" len="med"/>
                      <a:tailEnd type="none" w="med" len="med"/>
                    </a:lnL>
                    <a:lnR cmpd="sng" algn="ctr" cap="flat" w="0">
                      <a:solidFill>
                        <a:srgbClr val="DF672C"/>
                      </a:solidFill>
                      <a:prstDash val="solid"/>
                      <a:round/>
                      <a:headEnd type="none" w="med" len="med"/>
                      <a:tailEnd type="none" w="med" len="med"/>
                    </a:lnR>
                    <a:lnT cmpd="sng" algn="ctr" cap="flat" w="0">
                      <a:solidFill>
                        <a:srgbClr val="DF672C"/>
                      </a:solidFill>
                      <a:prstDash val="solid"/>
                      <a:round/>
                      <a:headEnd type="none" w="med" len="med"/>
                      <a:tailEnd type="none" w="med" len="med"/>
                    </a:lnT>
                    <a:lnB cmpd="sng" algn="ctr" cap="flat" w="0">
                      <a:solidFill>
                        <a:srgbClr val="DF672C"/>
                      </a:solidFill>
                      <a:prstDash val="solid"/>
                      <a:round/>
                      <a:headEnd type="none" w="med" len="med"/>
                      <a:tailEnd type="none" w="med" len="med"/>
                    </a:lnB>
                    <a:solidFill>
                      <a:srgbClr val="FCFAF4"/>
                    </a:solidFill>
                  </a:tcPr>
                </a:tc>
              </a:tr>
            </a:tbl>
          </a:graphicData>
        </a:graphic>
      </p:graphicFrame>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37134" y="5143500"/>
            <a:ext cx="3411864" cy="3441404"/>
          </a:xfrm>
          <a:custGeom>
            <a:avLst/>
            <a:gdLst/>
            <a:ahLst/>
            <a:cxnLst/>
            <a:rect r="r" b="b" t="t" l="l"/>
            <a:pathLst>
              <a:path h="3441404" w="3411864">
                <a:moveTo>
                  <a:pt x="0" y="0"/>
                </a:moveTo>
                <a:lnTo>
                  <a:pt x="3411864" y="0"/>
                </a:lnTo>
                <a:lnTo>
                  <a:pt x="3411864" y="3441404"/>
                </a:lnTo>
                <a:lnTo>
                  <a:pt x="0" y="3441404"/>
                </a:lnTo>
                <a:lnTo>
                  <a:pt x="0" y="0"/>
                </a:lnTo>
                <a:close/>
              </a:path>
            </a:pathLst>
          </a:custGeom>
          <a:blipFill>
            <a:blip r:embed="rId2"/>
            <a:stretch>
              <a:fillRect l="0" t="0" r="0" b="0"/>
            </a:stretch>
          </a:blipFill>
        </p:spPr>
      </p:sp>
      <p:sp>
        <p:nvSpPr>
          <p:cNvPr name="Freeform 3" id="3"/>
          <p:cNvSpPr/>
          <p:nvPr/>
        </p:nvSpPr>
        <p:spPr>
          <a:xfrm flipH="false" flipV="false" rot="0">
            <a:off x="12762781" y="5641913"/>
            <a:ext cx="4496519" cy="3616387"/>
          </a:xfrm>
          <a:custGeom>
            <a:avLst/>
            <a:gdLst/>
            <a:ahLst/>
            <a:cxnLst/>
            <a:rect r="r" b="b" t="t" l="l"/>
            <a:pathLst>
              <a:path h="3616387" w="4496519">
                <a:moveTo>
                  <a:pt x="0" y="0"/>
                </a:moveTo>
                <a:lnTo>
                  <a:pt x="4496519" y="0"/>
                </a:lnTo>
                <a:lnTo>
                  <a:pt x="4496519" y="3616387"/>
                </a:lnTo>
                <a:lnTo>
                  <a:pt x="0" y="3616387"/>
                </a:lnTo>
                <a:lnTo>
                  <a:pt x="0" y="0"/>
                </a:lnTo>
                <a:close/>
              </a:path>
            </a:pathLst>
          </a:custGeom>
          <a:blipFill>
            <a:blip r:embed="rId3"/>
            <a:stretch>
              <a:fillRect l="0" t="0" r="0" b="0"/>
            </a:stretch>
          </a:blipFill>
        </p:spPr>
      </p:sp>
      <p:sp>
        <p:nvSpPr>
          <p:cNvPr name="TextBox 4" id="4"/>
          <p:cNvSpPr txBox="true"/>
          <p:nvPr/>
        </p:nvSpPr>
        <p:spPr>
          <a:xfrm rot="0">
            <a:off x="5023531" y="704850"/>
            <a:ext cx="8240938" cy="628650"/>
          </a:xfrm>
          <a:prstGeom prst="rect">
            <a:avLst/>
          </a:prstGeom>
        </p:spPr>
        <p:txBody>
          <a:bodyPr anchor="t" rtlCol="false" tIns="0" lIns="0" bIns="0" rIns="0">
            <a:spAutoFit/>
          </a:bodyPr>
          <a:lstStyle/>
          <a:p>
            <a:pPr algn="ctr" marL="0" indent="0" lvl="0">
              <a:lnSpc>
                <a:spcPts val="4800"/>
              </a:lnSpc>
              <a:spcBef>
                <a:spcPct val="0"/>
              </a:spcBef>
            </a:pPr>
            <a:r>
              <a:rPr lang="en-US" b="true" sz="4000" spc="800" strike="noStrike" u="none">
                <a:solidFill>
                  <a:srgbClr val="000000"/>
                </a:solidFill>
                <a:latin typeface="Glacial Indifference Bold"/>
                <a:ea typeface="Glacial Indifference Bold"/>
                <a:cs typeface="Glacial Indifference Bold"/>
                <a:sym typeface="Glacial Indifference Bold"/>
              </a:rPr>
              <a:t>MUSIC &amp; PLAYLISTS</a:t>
            </a:r>
          </a:p>
        </p:txBody>
      </p:sp>
      <p:sp>
        <p:nvSpPr>
          <p:cNvPr name="TextBox 5" id="5"/>
          <p:cNvSpPr txBox="true"/>
          <p:nvPr/>
        </p:nvSpPr>
        <p:spPr>
          <a:xfrm rot="0">
            <a:off x="1337134" y="4250589"/>
            <a:ext cx="3960930" cy="314325"/>
          </a:xfrm>
          <a:prstGeom prst="rect">
            <a:avLst/>
          </a:prstGeom>
        </p:spPr>
        <p:txBody>
          <a:bodyPr anchor="t" rtlCol="false" tIns="0" lIns="0" bIns="0" rIns="0">
            <a:spAutoFit/>
          </a:bodyPr>
          <a:lstStyle/>
          <a:p>
            <a:pPr algn="l" marL="0" indent="0" lvl="0">
              <a:lnSpc>
                <a:spcPts val="2415"/>
              </a:lnSpc>
              <a:spcBef>
                <a:spcPct val="0"/>
              </a:spcBef>
            </a:pPr>
            <a:r>
              <a:rPr lang="en-US" sz="2013" spc="402" strike="noStrike" u="none">
                <a:solidFill>
                  <a:srgbClr val="000000"/>
                </a:solidFill>
                <a:latin typeface="Lato"/>
                <a:ea typeface="Lato"/>
                <a:cs typeface="Lato"/>
                <a:sym typeface="Lato"/>
              </a:rPr>
              <a:t>Black Pride &amp; Power</a:t>
            </a:r>
          </a:p>
        </p:txBody>
      </p:sp>
      <p:sp>
        <p:nvSpPr>
          <p:cNvPr name="TextBox 6" id="6"/>
          <p:cNvSpPr txBox="true"/>
          <p:nvPr/>
        </p:nvSpPr>
        <p:spPr>
          <a:xfrm rot="0">
            <a:off x="6165608" y="1323975"/>
            <a:ext cx="5956784" cy="314325"/>
          </a:xfrm>
          <a:prstGeom prst="rect">
            <a:avLst/>
          </a:prstGeom>
        </p:spPr>
        <p:txBody>
          <a:bodyPr anchor="t" rtlCol="false" tIns="0" lIns="0" bIns="0" rIns="0">
            <a:spAutoFit/>
          </a:bodyPr>
          <a:lstStyle/>
          <a:p>
            <a:pPr algn="ctr" marL="0" indent="0" lvl="0">
              <a:lnSpc>
                <a:spcPts val="2415"/>
              </a:lnSpc>
              <a:spcBef>
                <a:spcPct val="0"/>
              </a:spcBef>
            </a:pPr>
            <a:r>
              <a:rPr lang="en-US" sz="2013" spc="402" strike="noStrike" u="none">
                <a:solidFill>
                  <a:srgbClr val="000000"/>
                </a:solidFill>
                <a:latin typeface="Lato"/>
                <a:ea typeface="Lato"/>
                <a:cs typeface="Lato"/>
                <a:sym typeface="Lato"/>
              </a:rPr>
              <a:t>Musical Representation</a:t>
            </a:r>
          </a:p>
        </p:txBody>
      </p:sp>
      <p:sp>
        <p:nvSpPr>
          <p:cNvPr name="TextBox 7" id="7"/>
          <p:cNvSpPr txBox="true"/>
          <p:nvPr/>
        </p:nvSpPr>
        <p:spPr>
          <a:xfrm rot="0">
            <a:off x="2927322" y="2019400"/>
            <a:ext cx="12433356" cy="1177152"/>
          </a:xfrm>
          <a:prstGeom prst="rect">
            <a:avLst/>
          </a:prstGeom>
        </p:spPr>
        <p:txBody>
          <a:bodyPr anchor="t" rtlCol="false" tIns="0" lIns="0" bIns="0" rIns="0">
            <a:spAutoFit/>
          </a:bodyPr>
          <a:lstStyle/>
          <a:p>
            <a:pPr algn="just" marL="0" indent="0" lvl="0">
              <a:lnSpc>
                <a:spcPts val="3155"/>
              </a:lnSpc>
              <a:spcBef>
                <a:spcPct val="0"/>
              </a:spcBef>
            </a:pPr>
            <a:r>
              <a:rPr lang="en-US" sz="2103" strike="noStrike" u="none">
                <a:solidFill>
                  <a:srgbClr val="000000"/>
                </a:solidFill>
                <a:latin typeface="Quicksand"/>
                <a:ea typeface="Quicksand"/>
                <a:cs typeface="Quicksand"/>
                <a:sym typeface="Quicksand"/>
              </a:rPr>
              <a:t>The BLACQList thrives off modern Black Excellence rooted in unity and collective purpose. This brand’s musical representation should reflect current and culturally relevant messages of Black excellence, and empowerment, with an R&amp;B sensibility.</a:t>
            </a:r>
          </a:p>
        </p:txBody>
      </p:sp>
      <p:sp>
        <p:nvSpPr>
          <p:cNvPr name="TextBox 8" id="8"/>
          <p:cNvSpPr txBox="true"/>
          <p:nvPr/>
        </p:nvSpPr>
        <p:spPr>
          <a:xfrm rot="0">
            <a:off x="1337134" y="4547065"/>
            <a:ext cx="10377142" cy="321806"/>
          </a:xfrm>
          <a:prstGeom prst="rect">
            <a:avLst/>
          </a:prstGeom>
        </p:spPr>
        <p:txBody>
          <a:bodyPr anchor="t" rtlCol="false" tIns="0" lIns="0" bIns="0" rIns="0">
            <a:spAutoFit/>
          </a:bodyPr>
          <a:lstStyle/>
          <a:p>
            <a:pPr algn="l" marL="0" indent="0" lvl="0">
              <a:lnSpc>
                <a:spcPts val="2705"/>
              </a:lnSpc>
              <a:spcBef>
                <a:spcPct val="0"/>
              </a:spcBef>
            </a:pPr>
            <a:r>
              <a:rPr lang="en-US" sz="1803" strike="noStrike" u="none">
                <a:solidFill>
                  <a:srgbClr val="000000"/>
                </a:solidFill>
                <a:latin typeface="Quicksand"/>
                <a:ea typeface="Quicksand"/>
                <a:cs typeface="Quicksand"/>
                <a:sym typeface="Quicksand"/>
              </a:rPr>
              <a:t>https://open.spotify.com/playlist/4RajV8Som6AAY6nozcOPaK?si=c28e1ca026564c3b</a:t>
            </a:r>
          </a:p>
        </p:txBody>
      </p:sp>
      <p:sp>
        <p:nvSpPr>
          <p:cNvPr name="TextBox 9" id="9"/>
          <p:cNvSpPr txBox="true"/>
          <p:nvPr/>
        </p:nvSpPr>
        <p:spPr>
          <a:xfrm rot="0">
            <a:off x="13298370" y="4722256"/>
            <a:ext cx="3960930" cy="314325"/>
          </a:xfrm>
          <a:prstGeom prst="rect">
            <a:avLst/>
          </a:prstGeom>
        </p:spPr>
        <p:txBody>
          <a:bodyPr anchor="t" rtlCol="false" tIns="0" lIns="0" bIns="0" rIns="0">
            <a:spAutoFit/>
          </a:bodyPr>
          <a:lstStyle/>
          <a:p>
            <a:pPr algn="r" marL="0" indent="0" lvl="0">
              <a:lnSpc>
                <a:spcPts val="2415"/>
              </a:lnSpc>
              <a:spcBef>
                <a:spcPct val="0"/>
              </a:spcBef>
            </a:pPr>
            <a:r>
              <a:rPr lang="en-US" sz="2013" spc="402">
                <a:solidFill>
                  <a:srgbClr val="000000"/>
                </a:solidFill>
                <a:latin typeface="Lato"/>
                <a:ea typeface="Lato"/>
                <a:cs typeface="Lato"/>
                <a:sym typeface="Lato"/>
              </a:rPr>
              <a:t>RNB X</a:t>
            </a:r>
          </a:p>
        </p:txBody>
      </p:sp>
      <p:sp>
        <p:nvSpPr>
          <p:cNvPr name="TextBox 10" id="10"/>
          <p:cNvSpPr txBox="true"/>
          <p:nvPr/>
        </p:nvSpPr>
        <p:spPr>
          <a:xfrm rot="0">
            <a:off x="6882158" y="5008006"/>
            <a:ext cx="10377142" cy="321806"/>
          </a:xfrm>
          <a:prstGeom prst="rect">
            <a:avLst/>
          </a:prstGeom>
        </p:spPr>
        <p:txBody>
          <a:bodyPr anchor="t" rtlCol="false" tIns="0" lIns="0" bIns="0" rIns="0">
            <a:spAutoFit/>
          </a:bodyPr>
          <a:lstStyle/>
          <a:p>
            <a:pPr algn="r" marL="0" indent="0" lvl="0">
              <a:lnSpc>
                <a:spcPts val="2705"/>
              </a:lnSpc>
              <a:spcBef>
                <a:spcPct val="0"/>
              </a:spcBef>
            </a:pPr>
            <a:r>
              <a:rPr lang="en-US" sz="1803" u="sng">
                <a:solidFill>
                  <a:srgbClr val="000000"/>
                </a:solidFill>
                <a:latin typeface="Quicksand"/>
                <a:ea typeface="Quicksand"/>
                <a:cs typeface="Quicksand"/>
                <a:sym typeface="Quicksand"/>
                <a:hlinkClick r:id="rId4" tooltip="https://open.spotify.com/playlist/37i9dQZF1DX4SBhb3fqCJd?si=ce1a822ae8d145e4"/>
              </a:rPr>
              <a:t>https://open.spotify.com/playlist/4RajV8Som6AAY6nozcOPaK?si=c28e1ca026564c3b</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6750528" y="8749528"/>
            <a:ext cx="1189071" cy="1189071"/>
            <a:chOff x="0" y="0"/>
            <a:chExt cx="1585428" cy="1585428"/>
          </a:xfrm>
        </p:grpSpPr>
        <p:grpSp>
          <p:nvGrpSpPr>
            <p:cNvPr name="Group 3" id="3"/>
            <p:cNvGrpSpPr/>
            <p:nvPr/>
          </p:nvGrpSpPr>
          <p:grpSpPr>
            <a:xfrm rot="0">
              <a:off x="0" y="0"/>
              <a:ext cx="1585428" cy="158542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5" id="5"/>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6" id="6"/>
            <p:cNvSpPr/>
            <p:nvPr/>
          </p:nvSpPr>
          <p:spPr>
            <a:xfrm flipH="false" flipV="false" rot="0">
              <a:off x="396405" y="396405"/>
              <a:ext cx="792619" cy="792619"/>
            </a:xfrm>
            <a:custGeom>
              <a:avLst/>
              <a:gdLst/>
              <a:ahLst/>
              <a:cxnLst/>
              <a:rect r="r" b="b" t="t" l="l"/>
              <a:pathLst>
                <a:path h="792619" w="792619">
                  <a:moveTo>
                    <a:pt x="0" y="0"/>
                  </a:moveTo>
                  <a:lnTo>
                    <a:pt x="792618" y="0"/>
                  </a:lnTo>
                  <a:lnTo>
                    <a:pt x="792618" y="792618"/>
                  </a:lnTo>
                  <a:lnTo>
                    <a:pt x="0" y="7926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441036" y="441036"/>
              <a:ext cx="703356" cy="703356"/>
            </a:xfrm>
            <a:custGeom>
              <a:avLst/>
              <a:gdLst/>
              <a:ahLst/>
              <a:cxnLst/>
              <a:rect r="r" b="b" t="t" l="l"/>
              <a:pathLst>
                <a:path h="703356" w="703356">
                  <a:moveTo>
                    <a:pt x="0" y="0"/>
                  </a:moveTo>
                  <a:lnTo>
                    <a:pt x="703356" y="0"/>
                  </a:lnTo>
                  <a:lnTo>
                    <a:pt x="703356" y="703356"/>
                  </a:lnTo>
                  <a:lnTo>
                    <a:pt x="0" y="703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316057" y="316057"/>
              <a:ext cx="953315" cy="953315"/>
            </a:xfrm>
            <a:custGeom>
              <a:avLst/>
              <a:gdLst/>
              <a:ahLst/>
              <a:cxnLst/>
              <a:rect r="r" b="b" t="t" l="l"/>
              <a:pathLst>
                <a:path h="953315" w="953315">
                  <a:moveTo>
                    <a:pt x="0" y="0"/>
                  </a:moveTo>
                  <a:lnTo>
                    <a:pt x="953315" y="0"/>
                  </a:lnTo>
                  <a:lnTo>
                    <a:pt x="953315" y="953315"/>
                  </a:lnTo>
                  <a:lnTo>
                    <a:pt x="0" y="9533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25305" y="325305"/>
              <a:ext cx="934819" cy="934819"/>
            </a:xfrm>
            <a:custGeom>
              <a:avLst/>
              <a:gdLst/>
              <a:ahLst/>
              <a:cxnLst/>
              <a:rect r="r" b="b" t="t" l="l"/>
              <a:pathLst>
                <a:path h="934819" w="934819">
                  <a:moveTo>
                    <a:pt x="0" y="0"/>
                  </a:moveTo>
                  <a:lnTo>
                    <a:pt x="934818" y="0"/>
                  </a:lnTo>
                  <a:lnTo>
                    <a:pt x="934818" y="934818"/>
                  </a:lnTo>
                  <a:lnTo>
                    <a:pt x="0" y="9348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3023822">
              <a:off x="1128975" y="898421"/>
              <a:ext cx="182169" cy="470630"/>
              <a:chOff x="0" y="0"/>
              <a:chExt cx="237482" cy="613533"/>
            </a:xfrm>
          </p:grpSpPr>
          <p:sp>
            <p:nvSpPr>
              <p:cNvPr name="Freeform 11" id="11"/>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12" id="12"/>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13" id="13"/>
            <p:cNvSpPr/>
            <p:nvPr/>
          </p:nvSpPr>
          <p:spPr>
            <a:xfrm flipH="false" flipV="false" rot="0">
              <a:off x="640751" y="640751"/>
              <a:ext cx="303926" cy="303926"/>
            </a:xfrm>
            <a:custGeom>
              <a:avLst/>
              <a:gdLst/>
              <a:ahLst/>
              <a:cxnLst/>
              <a:rect r="r" b="b" t="t" l="l"/>
              <a:pathLst>
                <a:path h="303926" w="303926">
                  <a:moveTo>
                    <a:pt x="0" y="0"/>
                  </a:moveTo>
                  <a:lnTo>
                    <a:pt x="303926" y="0"/>
                  </a:lnTo>
                  <a:lnTo>
                    <a:pt x="303926" y="303926"/>
                  </a:lnTo>
                  <a:lnTo>
                    <a:pt x="0" y="303926"/>
                  </a:lnTo>
                  <a:lnTo>
                    <a:pt x="0" y="0"/>
                  </a:lnTo>
                  <a:close/>
                </a:path>
              </a:pathLst>
            </a:custGeom>
            <a:blipFill>
              <a:blip r:embed="rId4"/>
              <a:stretch>
                <a:fillRect l="0" t="0" r="0" b="0"/>
              </a:stretch>
            </a:blipFill>
          </p:spPr>
        </p:sp>
      </p:grpSp>
      <p:sp>
        <p:nvSpPr>
          <p:cNvPr name="Freeform 14" id="14"/>
          <p:cNvSpPr/>
          <p:nvPr/>
        </p:nvSpPr>
        <p:spPr>
          <a:xfrm flipH="false" flipV="false" rot="0">
            <a:off x="0" y="0"/>
            <a:ext cx="8439753" cy="10287000"/>
          </a:xfrm>
          <a:custGeom>
            <a:avLst/>
            <a:gdLst/>
            <a:ahLst/>
            <a:cxnLst/>
            <a:rect r="r" b="b" t="t" l="l"/>
            <a:pathLst>
              <a:path h="10287000" w="8439753">
                <a:moveTo>
                  <a:pt x="0" y="0"/>
                </a:moveTo>
                <a:lnTo>
                  <a:pt x="8439753" y="0"/>
                </a:lnTo>
                <a:lnTo>
                  <a:pt x="8439753" y="10287000"/>
                </a:lnTo>
                <a:lnTo>
                  <a:pt x="0" y="10287000"/>
                </a:lnTo>
                <a:lnTo>
                  <a:pt x="0" y="0"/>
                </a:lnTo>
                <a:close/>
              </a:path>
            </a:pathLst>
          </a:custGeom>
          <a:blipFill>
            <a:blip r:embed="rId5">
              <a:alphaModFix amt="73000"/>
            </a:blip>
            <a:stretch>
              <a:fillRect l="-30273" t="0" r="-52671" b="0"/>
            </a:stretch>
          </a:blipFill>
        </p:spPr>
      </p:sp>
      <p:grpSp>
        <p:nvGrpSpPr>
          <p:cNvPr name="Group 15" id="15"/>
          <p:cNvGrpSpPr/>
          <p:nvPr/>
        </p:nvGrpSpPr>
        <p:grpSpPr>
          <a:xfrm rot="0">
            <a:off x="11967970" y="2623357"/>
            <a:ext cx="2710472" cy="2710472"/>
            <a:chOff x="0" y="0"/>
            <a:chExt cx="3613962" cy="3613962"/>
          </a:xfrm>
        </p:grpSpPr>
        <p:grpSp>
          <p:nvGrpSpPr>
            <p:cNvPr name="Group 16" id="16"/>
            <p:cNvGrpSpPr/>
            <p:nvPr/>
          </p:nvGrpSpPr>
          <p:grpSpPr>
            <a:xfrm rot="0">
              <a:off x="0" y="0"/>
              <a:ext cx="3613962" cy="361396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8" id="18"/>
              <p:cNvSpPr txBox="true"/>
              <p:nvPr/>
            </p:nvSpPr>
            <p:spPr>
              <a:xfrm>
                <a:off x="76200" y="57150"/>
                <a:ext cx="660400" cy="679450"/>
              </a:xfrm>
              <a:prstGeom prst="rect">
                <a:avLst/>
              </a:prstGeom>
            </p:spPr>
            <p:txBody>
              <a:bodyPr anchor="ctr" rtlCol="false" tIns="37544" lIns="37544" bIns="37544" rIns="37544"/>
              <a:lstStyle/>
              <a:p>
                <a:pPr algn="ctr">
                  <a:lnSpc>
                    <a:spcPts val="717"/>
                  </a:lnSpc>
                </a:pPr>
              </a:p>
            </p:txBody>
          </p:sp>
        </p:grpSp>
        <p:sp>
          <p:nvSpPr>
            <p:cNvPr name="Freeform 19" id="19"/>
            <p:cNvSpPr/>
            <p:nvPr/>
          </p:nvSpPr>
          <p:spPr>
            <a:xfrm flipH="false" flipV="false" rot="0">
              <a:off x="903599" y="903599"/>
              <a:ext cx="1806763" cy="1806763"/>
            </a:xfrm>
            <a:custGeom>
              <a:avLst/>
              <a:gdLst/>
              <a:ahLst/>
              <a:cxnLst/>
              <a:rect r="r" b="b" t="t" l="l"/>
              <a:pathLst>
                <a:path h="1806763" w="1806763">
                  <a:moveTo>
                    <a:pt x="0" y="0"/>
                  </a:moveTo>
                  <a:lnTo>
                    <a:pt x="1806764" y="0"/>
                  </a:lnTo>
                  <a:lnTo>
                    <a:pt x="1806764" y="1806764"/>
                  </a:lnTo>
                  <a:lnTo>
                    <a:pt x="0" y="18067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005336" y="1005336"/>
              <a:ext cx="1603290" cy="1603290"/>
            </a:xfrm>
            <a:custGeom>
              <a:avLst/>
              <a:gdLst/>
              <a:ahLst/>
              <a:cxnLst/>
              <a:rect r="r" b="b" t="t" l="l"/>
              <a:pathLst>
                <a:path h="1603290" w="1603290">
                  <a:moveTo>
                    <a:pt x="0" y="0"/>
                  </a:moveTo>
                  <a:lnTo>
                    <a:pt x="1603290" y="0"/>
                  </a:lnTo>
                  <a:lnTo>
                    <a:pt x="1603290" y="1603290"/>
                  </a:lnTo>
                  <a:lnTo>
                    <a:pt x="0" y="16032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720447" y="720447"/>
              <a:ext cx="2173069" cy="2173069"/>
            </a:xfrm>
            <a:custGeom>
              <a:avLst/>
              <a:gdLst/>
              <a:ahLst/>
              <a:cxnLst/>
              <a:rect r="r" b="b" t="t" l="l"/>
              <a:pathLst>
                <a:path h="2173069" w="2173069">
                  <a:moveTo>
                    <a:pt x="0" y="0"/>
                  </a:moveTo>
                  <a:lnTo>
                    <a:pt x="2173069" y="0"/>
                  </a:lnTo>
                  <a:lnTo>
                    <a:pt x="2173069" y="2173069"/>
                  </a:lnTo>
                  <a:lnTo>
                    <a:pt x="0" y="21730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0">
              <a:off x="741528" y="741528"/>
              <a:ext cx="2130906" cy="2130906"/>
            </a:xfrm>
            <a:custGeom>
              <a:avLst/>
              <a:gdLst/>
              <a:ahLst/>
              <a:cxnLst/>
              <a:rect r="r" b="b" t="t" l="l"/>
              <a:pathLst>
                <a:path h="2130906" w="2130906">
                  <a:moveTo>
                    <a:pt x="0" y="0"/>
                  </a:moveTo>
                  <a:lnTo>
                    <a:pt x="2130906" y="0"/>
                  </a:lnTo>
                  <a:lnTo>
                    <a:pt x="2130906" y="2130906"/>
                  </a:lnTo>
                  <a:lnTo>
                    <a:pt x="0" y="2130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3023822">
              <a:off x="2573483" y="2047938"/>
              <a:ext cx="415251" cy="1072795"/>
              <a:chOff x="0" y="0"/>
              <a:chExt cx="237482" cy="613533"/>
            </a:xfrm>
          </p:grpSpPr>
          <p:sp>
            <p:nvSpPr>
              <p:cNvPr name="Freeform 24" id="24"/>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25" id="25"/>
              <p:cNvSpPr txBox="true"/>
              <p:nvPr/>
            </p:nvSpPr>
            <p:spPr>
              <a:xfrm>
                <a:off x="0" y="-19050"/>
                <a:ext cx="237482" cy="632583"/>
              </a:xfrm>
              <a:prstGeom prst="rect">
                <a:avLst/>
              </a:prstGeom>
            </p:spPr>
            <p:txBody>
              <a:bodyPr anchor="ctr" rtlCol="false" tIns="26310" lIns="26310" bIns="26310" rIns="26310"/>
              <a:lstStyle/>
              <a:p>
                <a:pPr algn="ctr">
                  <a:lnSpc>
                    <a:spcPts val="717"/>
                  </a:lnSpc>
                </a:pPr>
              </a:p>
            </p:txBody>
          </p:sp>
        </p:grpSp>
        <p:sp>
          <p:nvSpPr>
            <p:cNvPr name="Freeform 26" id="26"/>
            <p:cNvSpPr/>
            <p:nvPr/>
          </p:nvSpPr>
          <p:spPr>
            <a:xfrm flipH="false" flipV="false" rot="0">
              <a:off x="1460583" y="1460583"/>
              <a:ext cx="692795" cy="692795"/>
            </a:xfrm>
            <a:custGeom>
              <a:avLst/>
              <a:gdLst/>
              <a:ahLst/>
              <a:cxnLst/>
              <a:rect r="r" b="b" t="t" l="l"/>
              <a:pathLst>
                <a:path h="692795" w="692795">
                  <a:moveTo>
                    <a:pt x="0" y="0"/>
                  </a:moveTo>
                  <a:lnTo>
                    <a:pt x="692796" y="0"/>
                  </a:lnTo>
                  <a:lnTo>
                    <a:pt x="692796" y="692796"/>
                  </a:lnTo>
                  <a:lnTo>
                    <a:pt x="0" y="692796"/>
                  </a:lnTo>
                  <a:lnTo>
                    <a:pt x="0" y="0"/>
                  </a:lnTo>
                  <a:close/>
                </a:path>
              </a:pathLst>
            </a:custGeom>
            <a:blipFill>
              <a:blip r:embed="rId4"/>
              <a:stretch>
                <a:fillRect l="0" t="0" r="0" b="0"/>
              </a:stretch>
            </a:blipFill>
            <a:ln cap="sq">
              <a:noFill/>
              <a:prstDash val="solid"/>
              <a:miter/>
            </a:ln>
          </p:spPr>
        </p:sp>
      </p:grpSp>
      <p:grpSp>
        <p:nvGrpSpPr>
          <p:cNvPr name="Group 27" id="27"/>
          <p:cNvGrpSpPr/>
          <p:nvPr/>
        </p:nvGrpSpPr>
        <p:grpSpPr>
          <a:xfrm rot="0">
            <a:off x="9052642" y="5361955"/>
            <a:ext cx="8541127" cy="839424"/>
            <a:chOff x="0" y="0"/>
            <a:chExt cx="11388169" cy="1119232"/>
          </a:xfrm>
        </p:grpSpPr>
        <p:sp>
          <p:nvSpPr>
            <p:cNvPr name="TextBox 28" id="28"/>
            <p:cNvSpPr txBox="true"/>
            <p:nvPr/>
          </p:nvSpPr>
          <p:spPr>
            <a:xfrm rot="0">
              <a:off x="0" y="-9525"/>
              <a:ext cx="11388169" cy="1128757"/>
            </a:xfrm>
            <a:prstGeom prst="rect">
              <a:avLst/>
            </a:prstGeom>
          </p:spPr>
          <p:txBody>
            <a:bodyPr anchor="t" rtlCol="false" tIns="0" lIns="0" bIns="0" rIns="0">
              <a:spAutoFit/>
            </a:bodyPr>
            <a:lstStyle/>
            <a:p>
              <a:pPr algn="ctr">
                <a:lnSpc>
                  <a:spcPts val="6619"/>
                </a:lnSpc>
              </a:pPr>
              <a:r>
                <a:rPr lang="en-US" b="true" sz="5516" spc="1103">
                  <a:solidFill>
                    <a:srgbClr val="FFFFFF"/>
                  </a:solidFill>
                  <a:latin typeface="Glacial Indifference Bold"/>
                  <a:ea typeface="Glacial Indifference Bold"/>
                  <a:cs typeface="Glacial Indifference Bold"/>
                  <a:sym typeface="Glacial Indifference Bold"/>
                </a:rPr>
                <a:t>THE BLAC  LIST</a:t>
              </a:r>
            </a:p>
          </p:txBody>
        </p:sp>
        <p:sp>
          <p:nvSpPr>
            <p:cNvPr name="Freeform 29" id="29"/>
            <p:cNvSpPr/>
            <p:nvPr/>
          </p:nvSpPr>
          <p:spPr>
            <a:xfrm flipH="false" flipV="false" rot="0">
              <a:off x="6941205" y="282971"/>
              <a:ext cx="548888" cy="548888"/>
            </a:xfrm>
            <a:custGeom>
              <a:avLst/>
              <a:gdLst/>
              <a:ahLst/>
              <a:cxnLst/>
              <a:rect r="r" b="b" t="t" l="l"/>
              <a:pathLst>
                <a:path h="548888" w="548888">
                  <a:moveTo>
                    <a:pt x="0" y="0"/>
                  </a:moveTo>
                  <a:lnTo>
                    <a:pt x="548888" y="0"/>
                  </a:lnTo>
                  <a:lnTo>
                    <a:pt x="548888" y="548888"/>
                  </a:lnTo>
                  <a:lnTo>
                    <a:pt x="0" y="5488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0" id="30"/>
            <p:cNvSpPr/>
            <p:nvPr/>
          </p:nvSpPr>
          <p:spPr>
            <a:xfrm flipH="false" flipV="false" rot="0">
              <a:off x="6891968" y="233735"/>
              <a:ext cx="647361" cy="647361"/>
            </a:xfrm>
            <a:custGeom>
              <a:avLst/>
              <a:gdLst/>
              <a:ahLst/>
              <a:cxnLst/>
              <a:rect r="r" b="b" t="t" l="l"/>
              <a:pathLst>
                <a:path h="647361" w="647361">
                  <a:moveTo>
                    <a:pt x="0" y="0"/>
                  </a:moveTo>
                  <a:lnTo>
                    <a:pt x="647361" y="0"/>
                  </a:lnTo>
                  <a:lnTo>
                    <a:pt x="647361" y="647361"/>
                  </a:lnTo>
                  <a:lnTo>
                    <a:pt x="0" y="6473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1" id="31"/>
            <p:cNvSpPr/>
            <p:nvPr/>
          </p:nvSpPr>
          <p:spPr>
            <a:xfrm flipH="false" flipV="false" rot="0">
              <a:off x="6972112" y="313879"/>
              <a:ext cx="487073" cy="487073"/>
            </a:xfrm>
            <a:custGeom>
              <a:avLst/>
              <a:gdLst/>
              <a:ahLst/>
              <a:cxnLst/>
              <a:rect r="r" b="b" t="t" l="l"/>
              <a:pathLst>
                <a:path h="487073" w="487073">
                  <a:moveTo>
                    <a:pt x="0" y="0"/>
                  </a:moveTo>
                  <a:lnTo>
                    <a:pt x="487074" y="0"/>
                  </a:lnTo>
                  <a:lnTo>
                    <a:pt x="487074" y="487073"/>
                  </a:lnTo>
                  <a:lnTo>
                    <a:pt x="0" y="4870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2" id="32"/>
            <p:cNvSpPr/>
            <p:nvPr/>
          </p:nvSpPr>
          <p:spPr>
            <a:xfrm flipH="false" flipV="false" rot="0">
              <a:off x="6885564" y="227330"/>
              <a:ext cx="660170" cy="660170"/>
            </a:xfrm>
            <a:custGeom>
              <a:avLst/>
              <a:gdLst/>
              <a:ahLst/>
              <a:cxnLst/>
              <a:rect r="r" b="b" t="t" l="l"/>
              <a:pathLst>
                <a:path h="660170" w="660170">
                  <a:moveTo>
                    <a:pt x="0" y="0"/>
                  </a:moveTo>
                  <a:lnTo>
                    <a:pt x="660170" y="0"/>
                  </a:lnTo>
                  <a:lnTo>
                    <a:pt x="660170" y="660170"/>
                  </a:lnTo>
                  <a:lnTo>
                    <a:pt x="0" y="6601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7110540" y="452307"/>
              <a:ext cx="210217" cy="210217"/>
            </a:xfrm>
            <a:custGeom>
              <a:avLst/>
              <a:gdLst/>
              <a:ahLst/>
              <a:cxnLst/>
              <a:rect r="r" b="b" t="t" l="l"/>
              <a:pathLst>
                <a:path h="210217" w="210217">
                  <a:moveTo>
                    <a:pt x="0" y="0"/>
                  </a:moveTo>
                  <a:lnTo>
                    <a:pt x="210217" y="0"/>
                  </a:lnTo>
                  <a:lnTo>
                    <a:pt x="210217" y="210217"/>
                  </a:lnTo>
                  <a:lnTo>
                    <a:pt x="0" y="210217"/>
                  </a:lnTo>
                  <a:lnTo>
                    <a:pt x="0" y="0"/>
                  </a:lnTo>
                  <a:close/>
                </a:path>
              </a:pathLst>
            </a:custGeom>
            <a:blipFill>
              <a:blip r:embed="rId4"/>
              <a:stretch>
                <a:fillRect l="0" t="0" r="0" b="0"/>
              </a:stretch>
            </a:blipFill>
            <a:ln cap="sq">
              <a:noFill/>
              <a:prstDash val="solid"/>
              <a:miter/>
            </a:ln>
          </p:spPr>
        </p:sp>
        <p:grpSp>
          <p:nvGrpSpPr>
            <p:cNvPr name="Group 34" id="34"/>
            <p:cNvGrpSpPr/>
            <p:nvPr/>
          </p:nvGrpSpPr>
          <p:grpSpPr>
            <a:xfrm rot="-3023822">
              <a:off x="7448509" y="630617"/>
              <a:ext cx="126152" cy="325911"/>
              <a:chOff x="0" y="0"/>
              <a:chExt cx="237482" cy="613533"/>
            </a:xfrm>
          </p:grpSpPr>
          <p:sp>
            <p:nvSpPr>
              <p:cNvPr name="Freeform 35" id="35"/>
              <p:cNvSpPr/>
              <p:nvPr/>
            </p:nvSpPr>
            <p:spPr>
              <a:xfrm flipH="false" flipV="false" rot="0">
                <a:off x="0" y="0"/>
                <a:ext cx="237482" cy="613533"/>
              </a:xfrm>
              <a:custGeom>
                <a:avLst/>
                <a:gdLst/>
                <a:ahLst/>
                <a:cxnLst/>
                <a:rect r="r" b="b" t="t" l="l"/>
                <a:pathLst>
                  <a:path h="613533" w="237482">
                    <a:moveTo>
                      <a:pt x="118741" y="0"/>
                    </a:moveTo>
                    <a:lnTo>
                      <a:pt x="118741" y="0"/>
                    </a:lnTo>
                    <a:cubicBezTo>
                      <a:pt x="150233" y="0"/>
                      <a:pt x="180436" y="12510"/>
                      <a:pt x="202704" y="34779"/>
                    </a:cubicBezTo>
                    <a:cubicBezTo>
                      <a:pt x="224972" y="57047"/>
                      <a:pt x="237482" y="87249"/>
                      <a:pt x="237482" y="118741"/>
                    </a:cubicBezTo>
                    <a:lnTo>
                      <a:pt x="237482" y="494792"/>
                    </a:lnTo>
                    <a:cubicBezTo>
                      <a:pt x="237482" y="560371"/>
                      <a:pt x="184320" y="613533"/>
                      <a:pt x="118741" y="613533"/>
                    </a:cubicBezTo>
                    <a:lnTo>
                      <a:pt x="118741" y="613533"/>
                    </a:lnTo>
                    <a:cubicBezTo>
                      <a:pt x="87249" y="613533"/>
                      <a:pt x="57047" y="601023"/>
                      <a:pt x="34779" y="578755"/>
                    </a:cubicBezTo>
                    <a:cubicBezTo>
                      <a:pt x="12510" y="556486"/>
                      <a:pt x="0" y="526284"/>
                      <a:pt x="0" y="494792"/>
                    </a:cubicBezTo>
                    <a:lnTo>
                      <a:pt x="0" y="118741"/>
                    </a:lnTo>
                    <a:cubicBezTo>
                      <a:pt x="0" y="53162"/>
                      <a:pt x="53162" y="0"/>
                      <a:pt x="118741" y="0"/>
                    </a:cubicBezTo>
                    <a:close/>
                  </a:path>
                </a:pathLst>
              </a:custGeom>
              <a:solidFill>
                <a:srgbClr val="FCFAF4"/>
              </a:solidFill>
            </p:spPr>
          </p:sp>
          <p:sp>
            <p:nvSpPr>
              <p:cNvPr name="TextBox 36" id="36"/>
              <p:cNvSpPr txBox="true"/>
              <p:nvPr/>
            </p:nvSpPr>
            <p:spPr>
              <a:xfrm>
                <a:off x="0" y="-19050"/>
                <a:ext cx="237482" cy="632583"/>
              </a:xfrm>
              <a:prstGeom prst="rect">
                <a:avLst/>
              </a:prstGeom>
            </p:spPr>
            <p:txBody>
              <a:bodyPr anchor="ctr" rtlCol="false" tIns="15538" lIns="15538" bIns="15538" rIns="15538"/>
              <a:lstStyle/>
              <a:p>
                <a:pPr algn="ctr">
                  <a:lnSpc>
                    <a:spcPts val="717"/>
                  </a:lnSpc>
                </a:pPr>
              </a:p>
            </p:txBody>
          </p:sp>
        </p:grpSp>
      </p:grpSp>
      <p:sp>
        <p:nvSpPr>
          <p:cNvPr name="TextBox 37" id="37"/>
          <p:cNvSpPr txBox="true"/>
          <p:nvPr/>
        </p:nvSpPr>
        <p:spPr>
          <a:xfrm rot="0">
            <a:off x="11056259" y="6464033"/>
            <a:ext cx="4533892" cy="437610"/>
          </a:xfrm>
          <a:prstGeom prst="rect">
            <a:avLst/>
          </a:prstGeom>
        </p:spPr>
        <p:txBody>
          <a:bodyPr anchor="t" rtlCol="false" tIns="0" lIns="0" bIns="0" rIns="0">
            <a:spAutoFit/>
          </a:bodyPr>
          <a:lstStyle/>
          <a:p>
            <a:pPr algn="ctr">
              <a:lnSpc>
                <a:spcPts val="3464"/>
              </a:lnSpc>
            </a:pPr>
            <a:r>
              <a:rPr lang="en-US" sz="2886" spc="577">
                <a:solidFill>
                  <a:srgbClr val="FFFFFF"/>
                </a:solidFill>
                <a:latin typeface="Lato"/>
                <a:ea typeface="Lato"/>
                <a:cs typeface="Lato"/>
                <a:sym typeface="Lato"/>
              </a:rPr>
              <a:t>Find and Be Found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DAFxQHwhyA0</dc:identifier>
  <dcterms:modified xsi:type="dcterms:W3CDTF">2011-08-01T06:04:30Z</dcterms:modified>
  <cp:revision>1</cp:revision>
  <dc:title>The BLACQList Brand Guide</dc:title>
</cp:coreProperties>
</file>